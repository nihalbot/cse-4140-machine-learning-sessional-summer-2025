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321" r:id="rId3"/>
    <p:sldId id="258" r:id="rId4"/>
    <p:sldId id="313" r:id="rId6"/>
    <p:sldId id="304" r:id="rId7"/>
    <p:sldId id="300" r:id="rId8"/>
    <p:sldId id="303" r:id="rId9"/>
    <p:sldId id="316" r:id="rId10"/>
    <p:sldId id="315" r:id="rId11"/>
    <p:sldId id="319" r:id="rId12"/>
    <p:sldId id="320" r:id="rId13"/>
    <p:sldId id="323" r:id="rId14"/>
    <p:sldId id="307" r:id="rId15"/>
    <p:sldId id="310" r:id="rId16"/>
    <p:sldId id="325" r:id="rId17"/>
    <p:sldId id="311" r:id="rId18"/>
    <p:sldId id="322" r:id="rId19"/>
  </p:sldIdLst>
  <p:sldSz cx="9144000" cy="5143500" type="screen16x9"/>
  <p:notesSz cx="6858000" cy="9144000"/>
  <p:embeddedFontLst>
    <p:embeddedFont>
      <p:font typeface="Raleway ExtraBold"/>
      <p:bold r:id="rId23"/>
    </p:embeddedFont>
    <p:embeddedFont>
      <p:font typeface="Raleway Medium"/>
      <p:regular r:id="rId24"/>
    </p:embeddedFont>
    <p:embeddedFont>
      <p:font typeface="Raleway"/>
      <p:regular r:id="rId25"/>
    </p:embeddedFont>
    <p:embeddedFont>
      <p:font typeface="Open Sans" panose="020B0606030504020204"/>
      <p:regular r:id="rId26"/>
    </p:embeddedFont>
    <p:embeddedFont>
      <p:font typeface="Raleway Light"/>
      <p:regular r:id="rId27"/>
    </p:embeddedFont>
    <p:embeddedFont>
      <p:font typeface="PT Sans" panose="020B0503020203020204"/>
      <p:regular r:id="rId28"/>
    </p:embeddedFont>
    <p:embeddedFont>
      <p:font typeface="Calibri" panose="020F0502020204030204"/>
      <p:regular r:id="rId29"/>
      <p:bold r:id="rId30"/>
      <p:italic r:id="rId31"/>
      <p:boldItalic r:id="rId32"/>
    </p:embeddedFont>
    <p:embeddedFont>
      <p:font typeface="Bebas Neue" panose="020B0606020202050201"/>
      <p:regular r:id="rId33"/>
    </p:embeddedFont>
    <p:embeddedFont>
      <p:font typeface="Arial Narrow" panose="020B0606020202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33324" y="3906950"/>
            <a:ext cx="6065400" cy="41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32" name="Google Shape;32;p5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33" name="Google Shape;33;p5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36" name="Google Shape;36;p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39" name="Google Shape;39;p6"/>
          <p:cNvGrpSpPr/>
          <p:nvPr/>
        </p:nvGrpSpPr>
        <p:grpSpPr>
          <a:xfrm>
            <a:off x="0" y="3429300"/>
            <a:ext cx="9141475" cy="1714200"/>
            <a:chOff x="0" y="3429300"/>
            <a:chExt cx="9141475" cy="1714200"/>
          </a:xfrm>
        </p:grpSpPr>
        <p:sp>
          <p:nvSpPr>
            <p:cNvPr id="40" name="Google Shape;40;p6"/>
            <p:cNvSpPr/>
            <p:nvPr/>
          </p:nvSpPr>
          <p:spPr>
            <a:xfrm rot="10800000" flipH="1">
              <a:off x="0" y="4286400"/>
              <a:ext cx="710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rot="10800000" flipH="1">
              <a:off x="0" y="34293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10800000" flipH="1">
              <a:off x="8430775" y="42864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8430775" y="4125900"/>
              <a:ext cx="710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44" name="Google Shape;44;p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56" name="Google Shape;56;p8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66" name="Google Shape;66;p9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 hasCustomPrompt="1"/>
          </p:nvPr>
        </p:nvSpPr>
        <p:spPr>
          <a:xfrm>
            <a:off x="2617600" y="2118550"/>
            <a:ext cx="3908700" cy="10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2817525" y="3212000"/>
            <a:ext cx="3509100" cy="417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5" hasCustomPrompt="1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607100" y="1762373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9"/>
          </p:nvPr>
        </p:nvSpPr>
        <p:spPr>
          <a:xfrm>
            <a:off x="1607100" y="3943098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3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4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5"/>
          </p:nvPr>
        </p:nvSpPr>
        <p:spPr>
          <a:xfrm>
            <a:off x="5459100" y="3943098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92" name="Google Shape;92;p13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sp>
          <p:nvSpPr>
            <p:cNvPr id="97" name="Google Shape;97;p13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3997325" y="1045900"/>
            <a:ext cx="4433700" cy="14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3997325" y="2430553"/>
            <a:ext cx="4433700" cy="1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2" name="Google Shape;112;p15"/>
          <p:cNvSpPr>
            <a:spLocks noGrp="1"/>
          </p:cNvSpPr>
          <p:nvPr>
            <p:ph type="pic" idx="2"/>
          </p:nvPr>
        </p:nvSpPr>
        <p:spPr>
          <a:xfrm>
            <a:off x="713225" y="554676"/>
            <a:ext cx="2801100" cy="404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3" name="Google Shape;113;p15"/>
          <p:cNvGrpSpPr/>
          <p:nvPr/>
        </p:nvGrpSpPr>
        <p:grpSpPr>
          <a:xfrm>
            <a:off x="0" y="0"/>
            <a:ext cx="713100" cy="5143500"/>
            <a:chOff x="0" y="0"/>
            <a:chExt cx="713100" cy="5143500"/>
          </a:xfrm>
        </p:grpSpPr>
        <p:sp>
          <p:nvSpPr>
            <p:cNvPr id="114" name="Google Shape;114;p15"/>
            <p:cNvSpPr/>
            <p:nvPr/>
          </p:nvSpPr>
          <p:spPr>
            <a:xfrm rot="10800000" flipH="1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 rot="10800000" flipH="1">
              <a:off x="0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 rot="10800000" flipH="1">
            <a:off x="8430775" y="0"/>
            <a:ext cx="7131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6177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713225" y="539504"/>
            <a:ext cx="419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713225" y="1237654"/>
            <a:ext cx="4195500" cy="30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122" name="Google Shape;122;p16"/>
          <p:cNvGrpSpPr/>
          <p:nvPr/>
        </p:nvGrpSpPr>
        <p:grpSpPr>
          <a:xfrm>
            <a:off x="0" y="4662000"/>
            <a:ext cx="9144000" cy="481500"/>
            <a:chOff x="0" y="4662000"/>
            <a:chExt cx="9144000" cy="481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0" y="0"/>
            <a:ext cx="9144000" cy="481500"/>
            <a:chOff x="0" y="4662000"/>
            <a:chExt cx="9144000" cy="4815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133" name="Google Shape;133;p17"/>
          <p:cNvSpPr/>
          <p:nvPr/>
        </p:nvSpPr>
        <p:spPr>
          <a:xfrm>
            <a:off x="713225" y="476431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1"/>
          </p:nvPr>
        </p:nvSpPr>
        <p:spPr>
          <a:xfrm>
            <a:off x="713225" y="1558450"/>
            <a:ext cx="69519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 hasCustomPrompt="1"/>
          </p:nvPr>
        </p:nvSpPr>
        <p:spPr>
          <a:xfrm>
            <a:off x="3287850" y="2064188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3287850" y="2746902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9" name="Google Shape;189;p21"/>
          <p:cNvSpPr txBox="1">
            <a:spLocks noGrp="1"/>
          </p:cNvSpPr>
          <p:nvPr>
            <p:ph type="title" idx="2" hasCustomPrompt="1"/>
          </p:nvPr>
        </p:nvSpPr>
        <p:spPr>
          <a:xfrm>
            <a:off x="3287850" y="915175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3"/>
          </p:nvPr>
        </p:nvSpPr>
        <p:spPr>
          <a:xfrm>
            <a:off x="3287850" y="1597879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1" name="Google Shape;191;p21"/>
          <p:cNvSpPr txBox="1">
            <a:spLocks noGrp="1"/>
          </p:cNvSpPr>
          <p:nvPr>
            <p:ph type="title" idx="4" hasCustomPrompt="1"/>
          </p:nvPr>
        </p:nvSpPr>
        <p:spPr>
          <a:xfrm>
            <a:off x="3287850" y="3213200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1"/>
          <p:cNvSpPr txBox="1">
            <a:spLocks noGrp="1"/>
          </p:cNvSpPr>
          <p:nvPr>
            <p:ph type="subTitle" idx="5"/>
          </p:nvPr>
        </p:nvSpPr>
        <p:spPr>
          <a:xfrm>
            <a:off x="3287850" y="3895925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grpSp>
        <p:nvGrpSpPr>
          <p:cNvPr id="193" name="Google Shape;193;p21"/>
          <p:cNvGrpSpPr/>
          <p:nvPr/>
        </p:nvGrpSpPr>
        <p:grpSpPr>
          <a:xfrm>
            <a:off x="3847050" y="378431"/>
            <a:ext cx="1449900" cy="4386056"/>
            <a:chOff x="3847050" y="378431"/>
            <a:chExt cx="1449900" cy="4386056"/>
          </a:xfrm>
        </p:grpSpPr>
        <p:sp>
          <p:nvSpPr>
            <p:cNvPr id="194" name="Google Shape;194;p21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08" name="Google Shape;208;p23"/>
          <p:cNvGrpSpPr/>
          <p:nvPr/>
        </p:nvGrpSpPr>
        <p:grpSpPr>
          <a:xfrm>
            <a:off x="-100" y="3429300"/>
            <a:ext cx="1433325" cy="1714200"/>
            <a:chOff x="-100" y="3429300"/>
            <a:chExt cx="1433325" cy="1714200"/>
          </a:xfrm>
        </p:grpSpPr>
        <p:sp>
          <p:nvSpPr>
            <p:cNvPr id="209" name="Google Shape;209;p23"/>
            <p:cNvSpPr/>
            <p:nvPr/>
          </p:nvSpPr>
          <p:spPr>
            <a:xfrm>
              <a:off x="72012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-10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-100" y="34293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212" name="Google Shape;212;p23"/>
          <p:cNvSpPr/>
          <p:nvPr/>
        </p:nvSpPr>
        <p:spPr>
          <a:xfrm>
            <a:off x="713000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15" name="Google Shape;215;p24"/>
          <p:cNvGrpSpPr/>
          <p:nvPr/>
        </p:nvGrpSpPr>
        <p:grpSpPr>
          <a:xfrm>
            <a:off x="0" y="0"/>
            <a:ext cx="9144000" cy="5160150"/>
            <a:chOff x="0" y="0"/>
            <a:chExt cx="9144000" cy="5160150"/>
          </a:xfrm>
        </p:grpSpPr>
        <p:grpSp>
          <p:nvGrpSpPr>
            <p:cNvPr id="216" name="Google Shape;216;p24"/>
            <p:cNvGrpSpPr/>
            <p:nvPr/>
          </p:nvGrpSpPr>
          <p:grpSpPr>
            <a:xfrm>
              <a:off x="0" y="3445950"/>
              <a:ext cx="568500" cy="1714200"/>
              <a:chOff x="0" y="3445950"/>
              <a:chExt cx="568500" cy="1714200"/>
            </a:xfrm>
          </p:grpSpPr>
          <p:sp>
            <p:nvSpPr>
              <p:cNvPr id="217" name="Google Shape;217;p24"/>
              <p:cNvSpPr/>
              <p:nvPr/>
            </p:nvSpPr>
            <p:spPr>
              <a:xfrm rot="10800000" flipH="1">
                <a:off x="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 rot="10800000" flipH="1">
                <a:off x="0" y="344595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grpSp>
          <p:nvGrpSpPr>
            <p:cNvPr id="219" name="Google Shape;219;p24"/>
            <p:cNvGrpSpPr/>
            <p:nvPr/>
          </p:nvGrpSpPr>
          <p:grpSpPr>
            <a:xfrm>
              <a:off x="8575500" y="0"/>
              <a:ext cx="568500" cy="5160150"/>
              <a:chOff x="8575500" y="0"/>
              <a:chExt cx="568500" cy="5160150"/>
            </a:xfrm>
          </p:grpSpPr>
          <p:sp>
            <p:nvSpPr>
              <p:cNvPr id="220" name="Google Shape;220;p24"/>
              <p:cNvSpPr/>
              <p:nvPr/>
            </p:nvSpPr>
            <p:spPr>
              <a:xfrm rot="10800000" flipH="1">
                <a:off x="857550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 rot="10800000" flipH="1">
                <a:off x="8575500" y="3445950"/>
                <a:ext cx="568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 rot="10800000" flipH="1">
                <a:off x="8575500" y="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</p:grpSp>
      <p:sp>
        <p:nvSpPr>
          <p:cNvPr id="223" name="Google Shape;223;p24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26" name="Google Shape;226;p25"/>
          <p:cNvGrpSpPr/>
          <p:nvPr/>
        </p:nvGrpSpPr>
        <p:grpSpPr>
          <a:xfrm>
            <a:off x="0" y="0"/>
            <a:ext cx="9145075" cy="5143500"/>
            <a:chOff x="0" y="0"/>
            <a:chExt cx="9145075" cy="5143500"/>
          </a:xfrm>
        </p:grpSpPr>
        <p:sp>
          <p:nvSpPr>
            <p:cNvPr id="227" name="Google Shape;227;p25"/>
            <p:cNvSpPr/>
            <p:nvPr/>
          </p:nvSpPr>
          <p:spPr>
            <a:xfrm rot="10800000" flipH="1">
              <a:off x="0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 rot="10800000" flipH="1">
              <a:off x="0" y="3429300"/>
              <a:ext cx="7143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 rot="10800000" flipH="1">
              <a:off x="0" y="257220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 rot="10800000" flipH="1">
              <a:off x="8430775" y="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31" name="Google Shape;231;p25"/>
            <p:cNvSpPr/>
            <p:nvPr/>
          </p:nvSpPr>
          <p:spPr>
            <a:xfrm rot="10800000" flipH="1">
              <a:off x="8430775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232" name="Google Shape;232;p2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35" name="Google Shape;235;p26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36" name="Google Shape;236;p26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241" name="Google Shape;241;p2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244" name="Google Shape;244;p27"/>
          <p:cNvGrpSpPr/>
          <p:nvPr/>
        </p:nvGrpSpPr>
        <p:grpSpPr>
          <a:xfrm>
            <a:off x="0" y="3275875"/>
            <a:ext cx="9144000" cy="1863925"/>
            <a:chOff x="0" y="3275875"/>
            <a:chExt cx="9144000" cy="1863925"/>
          </a:xfrm>
        </p:grpSpPr>
        <p:sp>
          <p:nvSpPr>
            <p:cNvPr id="245" name="Google Shape;245;p27"/>
            <p:cNvSpPr/>
            <p:nvPr/>
          </p:nvSpPr>
          <p:spPr>
            <a:xfrm rot="10800000" flipH="1">
              <a:off x="0" y="4282700"/>
              <a:ext cx="708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grpSp>
          <p:nvGrpSpPr>
            <p:cNvPr id="246" name="Google Shape;246;p27"/>
            <p:cNvGrpSpPr/>
            <p:nvPr/>
          </p:nvGrpSpPr>
          <p:grpSpPr>
            <a:xfrm>
              <a:off x="8435700" y="3275875"/>
              <a:ext cx="708300" cy="1863925"/>
              <a:chOff x="8435700" y="3275875"/>
              <a:chExt cx="708300" cy="1863925"/>
            </a:xfrm>
          </p:grpSpPr>
          <p:sp>
            <p:nvSpPr>
              <p:cNvPr id="247" name="Google Shape;247;p27"/>
              <p:cNvSpPr/>
              <p:nvPr/>
            </p:nvSpPr>
            <p:spPr>
              <a:xfrm>
                <a:off x="8435700" y="3275875"/>
                <a:ext cx="7083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 rot="10800000" flipH="1">
                <a:off x="8435700" y="4282700"/>
                <a:ext cx="7083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 rot="10800000" flipH="1">
                <a:off x="8435700" y="3436375"/>
                <a:ext cx="7083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</p:grpSp>
        <p:sp>
          <p:nvSpPr>
            <p:cNvPr id="250" name="Google Shape;250;p27"/>
            <p:cNvSpPr/>
            <p:nvPr/>
          </p:nvSpPr>
          <p:spPr>
            <a:xfrm>
              <a:off x="0" y="4132975"/>
              <a:ext cx="7083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251" name="Google Shape;251;p2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1_Title and text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 panose="020B0606030504020204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55" name="Google Shape;255;p28"/>
          <p:cNvSpPr>
            <a:spLocks noGrp="1"/>
          </p:cNvSpPr>
          <p:nvPr>
            <p:ph type="pic" idx="2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grpSp>
        <p:nvGrpSpPr>
          <p:cNvPr id="256" name="Google Shape;256;p28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1_Table of contents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>
            <a:spLocks noGrp="1"/>
          </p:cNvSpPr>
          <p:nvPr>
            <p:ph type="pic" idx="2"/>
          </p:nvPr>
        </p:nvSpPr>
        <p:spPr>
          <a:xfrm>
            <a:off x="5406500" y="-236975"/>
            <a:ext cx="5648100" cy="56481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13365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245050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13365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35644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245052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>
            <a:spLocks noGrp="1"/>
          </p:cNvSpPr>
          <p:nvPr>
            <p:ph type="title" idx="8" hasCustomPrompt="1"/>
          </p:nvPr>
        </p:nvSpPr>
        <p:spPr>
          <a:xfrm>
            <a:off x="3306000" y="35644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720000" y="17841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1800" b="1">
                <a:solidFill>
                  <a:schemeClr val="lt2"/>
                </a:solidFill>
                <a:latin typeface="Quantico" panose="02000000000000000000"/>
                <a:ea typeface="Quantico" panose="02000000000000000000"/>
                <a:cs typeface="Quantico" panose="02000000000000000000"/>
                <a:sym typeface="Quantico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97" name="Google Shape;197;p13"/>
          <p:cNvSpPr txBox="1">
            <a:spLocks noGrp="1"/>
          </p:cNvSpPr>
          <p:nvPr>
            <p:ph type="subTitle" idx="9"/>
          </p:nvPr>
        </p:nvSpPr>
        <p:spPr>
          <a:xfrm>
            <a:off x="3306000" y="17841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1800" b="1">
                <a:solidFill>
                  <a:schemeClr val="lt2"/>
                </a:solidFill>
                <a:latin typeface="Quantico" panose="02000000000000000000"/>
                <a:ea typeface="Quantico" panose="02000000000000000000"/>
                <a:cs typeface="Quantico" panose="02000000000000000000"/>
                <a:sym typeface="Quantico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98" name="Google Shape;198;p13"/>
          <p:cNvSpPr txBox="1">
            <a:spLocks noGrp="1"/>
          </p:cNvSpPr>
          <p:nvPr>
            <p:ph type="subTitle" idx="13"/>
          </p:nvPr>
        </p:nvSpPr>
        <p:spPr>
          <a:xfrm>
            <a:off x="720000" y="2898113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1800" b="1">
                <a:solidFill>
                  <a:schemeClr val="lt2"/>
                </a:solidFill>
                <a:latin typeface="Quantico" panose="02000000000000000000"/>
                <a:ea typeface="Quantico" panose="02000000000000000000"/>
                <a:cs typeface="Quantico" panose="02000000000000000000"/>
                <a:sym typeface="Quantico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99" name="Google Shape;199;p13"/>
          <p:cNvSpPr txBox="1">
            <a:spLocks noGrp="1"/>
          </p:cNvSpPr>
          <p:nvPr>
            <p:ph type="subTitle" idx="14"/>
          </p:nvPr>
        </p:nvSpPr>
        <p:spPr>
          <a:xfrm>
            <a:off x="3252000" y="2898113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1800" b="1">
                <a:solidFill>
                  <a:schemeClr val="lt2"/>
                </a:solidFill>
                <a:latin typeface="Quantico" panose="02000000000000000000"/>
                <a:ea typeface="Quantico" panose="02000000000000000000"/>
                <a:cs typeface="Quantico" panose="02000000000000000000"/>
                <a:sym typeface="Quantico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00" name="Google Shape;200;p13"/>
          <p:cNvSpPr txBox="1">
            <a:spLocks noGrp="1"/>
          </p:cNvSpPr>
          <p:nvPr>
            <p:ph type="subTitle" idx="15"/>
          </p:nvPr>
        </p:nvSpPr>
        <p:spPr>
          <a:xfrm>
            <a:off x="713225" y="401207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1800" b="1">
                <a:solidFill>
                  <a:schemeClr val="lt2"/>
                </a:solidFill>
                <a:latin typeface="Quantico" panose="02000000000000000000"/>
                <a:ea typeface="Quantico" panose="02000000000000000000"/>
                <a:cs typeface="Quantico" panose="02000000000000000000"/>
                <a:sym typeface="Quantico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01" name="Google Shape;201;p13"/>
          <p:cNvSpPr txBox="1">
            <a:spLocks noGrp="1"/>
          </p:cNvSpPr>
          <p:nvPr>
            <p:ph type="subTitle" idx="16"/>
          </p:nvPr>
        </p:nvSpPr>
        <p:spPr>
          <a:xfrm>
            <a:off x="3299225" y="401207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1800" b="1">
                <a:solidFill>
                  <a:schemeClr val="lt2"/>
                </a:solidFill>
                <a:latin typeface="Quantico" panose="02000000000000000000"/>
                <a:ea typeface="Quantico" panose="02000000000000000000"/>
                <a:cs typeface="Quantico" panose="02000000000000000000"/>
                <a:sym typeface="Quantico" panose="020000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70875"/>
            <a:ext cx="6036300" cy="24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309" y="3503575"/>
            <a:ext cx="4764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269475" y="844775"/>
            <a:ext cx="3453900" cy="34539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4.xml"/><Relationship Id="rId4" Type="http://schemas.openxmlformats.org/officeDocument/2006/relationships/hyperlink" Target="https://ieeexplore.ieee.org/author/37087413269" TargetMode="External"/><Relationship Id="rId3" Type="http://schemas.openxmlformats.org/officeDocument/2006/relationships/hyperlink" Target="https://ieeexplore.ieee.org/author/37086301165" TargetMode="External"/><Relationship Id="rId2" Type="http://schemas.openxmlformats.org/officeDocument/2006/relationships/hyperlink" Target="https://ieeexplore.ieee.org/author/37089689286" TargetMode="Externa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3" name="Title 2"/>
          <p:cNvSpPr txBox="1"/>
          <p:nvPr/>
        </p:nvSpPr>
        <p:spPr>
          <a:xfrm>
            <a:off x="833120" y="174625"/>
            <a:ext cx="8068310" cy="8699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sz="2300" b="1" dirty="0">
                <a:latin typeface="Arial Narrow" panose="020B0606020202030204" pitchFamily="34" charset="0"/>
                <a:cs typeface="Arial Narrow" panose="020B0606020202030204" pitchFamily="34" charset="0"/>
              </a:rPr>
              <a:t>Bangladesh Army University of Science and Technology (BAUST) Saidpur Cantonment, </a:t>
            </a:r>
            <a:r>
              <a:rPr lang="en-US" altLang="en-US" sz="2300" b="1" dirty="0" err="1">
                <a:latin typeface="Arial Narrow" panose="020B0606020202030204" pitchFamily="34" charset="0"/>
                <a:cs typeface="Arial Narrow" panose="020B0606020202030204" pitchFamily="34" charset="0"/>
              </a:rPr>
              <a:t>Nilphamari</a:t>
            </a:r>
            <a:br>
              <a:rPr lang="en-US" altLang="en-US" sz="2000" dirty="0">
                <a:latin typeface="Arial Narrow" panose="020B0606020202030204" pitchFamily="34" charset="0"/>
                <a:cs typeface="Arial Narrow" panose="020B0606020202030204" pitchFamily="34" charset="0"/>
              </a:rPr>
            </a:br>
            <a:br>
              <a:rPr lang="en-US" altLang="en-US" sz="2000" dirty="0"/>
            </a:br>
            <a:endParaRPr lang="en-US" altLang="en-US" sz="2000" dirty="0"/>
          </a:p>
        </p:txBody>
      </p:sp>
      <p:sp>
        <p:nvSpPr>
          <p:cNvPr id="4" name="Subtitle 1"/>
          <p:cNvSpPr txBox="1"/>
          <p:nvPr/>
        </p:nvSpPr>
        <p:spPr>
          <a:xfrm>
            <a:off x="833120" y="1156652"/>
            <a:ext cx="7724775" cy="23272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sz="2000" b="1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Department of Computer Science and Engineering (CSE)</a:t>
            </a:r>
            <a:endParaRPr lang="en-US" altLang="en-US" sz="2000" b="1" dirty="0">
              <a:latin typeface="Arial Narrow" panose="020B0606020202030204" pitchFamily="34" charset="0"/>
              <a:cs typeface="Arial Narrow" panose="020B0606020202030204" pitchFamily="34" charset="0"/>
              <a:sym typeface="+mn-ea"/>
            </a:endParaRPr>
          </a:p>
          <a:p>
            <a:pPr algn="ctr"/>
            <a:endParaRPr lang="en-US" altLang="en-US" sz="2000" b="1" dirty="0">
              <a:latin typeface="Arial Narrow" panose="020B0606020202030204" pitchFamily="34" charset="0"/>
              <a:cs typeface="Arial Narrow" panose="020B060602020203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US" sz="1800" b="1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Course Code: </a:t>
            </a:r>
            <a:r>
              <a:rPr lang="en-US" sz="180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CSE 4140</a:t>
            </a:r>
            <a:endParaRPr lang="en-US" sz="1800">
              <a:latin typeface="Arial Narrow" panose="020B0606020202030204" pitchFamily="34" charset="0"/>
              <a:cs typeface="Arial Narrow" panose="020B0606020202030204" pitchFamily="34" charset="0"/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en-US" sz="1800" b="1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Course Title:</a:t>
            </a:r>
            <a:r>
              <a:rPr lang="en-US" altLang="en-US" sz="1800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 </a:t>
            </a:r>
            <a:r>
              <a:rPr lang="en-US" altLang="en-US" sz="180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Machine Learning Sessional</a:t>
            </a:r>
            <a:endParaRPr lang="en-US" altLang="en-US" sz="1800" dirty="0">
              <a:latin typeface="Arial Narrow" panose="020B0606020202030204" pitchFamily="34" charset="0"/>
              <a:cs typeface="Arial Narrow" panose="020B060602020203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en-US" sz="1800" b="1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Title: </a:t>
            </a:r>
            <a:endParaRPr lang="en-US" altLang="en-US" sz="1800" b="1" dirty="0">
              <a:latin typeface="Arial Narrow" panose="020B0606020202030204" pitchFamily="34" charset="0"/>
              <a:cs typeface="Arial Narrow" panose="020B0606020202030204" pitchFamily="34" charset="0"/>
              <a:sym typeface="+mn-ea"/>
            </a:endParaRPr>
          </a:p>
          <a:p>
            <a:pPr algn="ctr"/>
            <a:r>
              <a:rPr lang="en-US" altLang="en-US" sz="1800" dirty="0">
                <a:latin typeface="Arial Narrow" panose="020B0606020202030204" pitchFamily="34" charset="0"/>
                <a:cs typeface="Arial Narrow" panose="020B0606020202030204" pitchFamily="34" charset="0"/>
              </a:rPr>
              <a:t>Automated ECG Classification Using Hearbeat Image Based on RESNET50</a:t>
            </a:r>
            <a:endParaRPr lang="en-US" altLang="en-US" sz="1800" dirty="0"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" y="177483"/>
            <a:ext cx="74295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1242" y="3551554"/>
            <a:ext cx="295800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2000" b="1" u="sng" dirty="0">
                <a:latin typeface="Arial Narrow" panose="020B0606020202030204" pitchFamily="34" charset="0"/>
              </a:rPr>
              <a:t>Presented By</a:t>
            </a:r>
            <a:endParaRPr lang="en-US" altLang="en-US" sz="2000" dirty="0">
              <a:latin typeface="Arial Narrow" panose="020B0606020202030204" pitchFamily="34" charset="0"/>
            </a:endParaRPr>
          </a:p>
          <a:p>
            <a:pPr algn="l"/>
            <a:r>
              <a:rPr lang="en-US" altLang="en-US" sz="2000" dirty="0">
                <a:latin typeface="Arial Narrow" panose="020B0606020202030204" pitchFamily="34" charset="0"/>
              </a:rPr>
              <a:t>Md Nafsun Kabir, 220201049</a:t>
            </a:r>
            <a:endParaRPr lang="en-US" altLang="en-US" sz="2000" dirty="0">
              <a:latin typeface="Arial Narrow" panose="020B0606020202030204" pitchFamily="34" charset="0"/>
            </a:endParaRPr>
          </a:p>
          <a:p>
            <a:pPr algn="l"/>
            <a:endParaRPr lang="en-US" altLang="en-US" sz="2000" dirty="0">
              <a:latin typeface="Arial Narrow" panose="020B0606020202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94680" y="3483610"/>
            <a:ext cx="2957830" cy="16598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800" b="1" u="sng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Prepared for:</a:t>
            </a:r>
            <a:endParaRPr lang="en-US" sz="1800" b="1" u="sng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  <a:sym typeface="+mn-ea"/>
            </a:endParaRPr>
          </a:p>
          <a:p>
            <a:pPr algn="l"/>
            <a:r>
              <a:rPr lang="en-US" altLang="en-US" sz="1800" dirty="0">
                <a:solidFill>
                  <a:srgbClr val="000000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Engr. Rohul Amin</a:t>
            </a:r>
            <a:br>
              <a:rPr lang="en-US" sz="1800" dirty="0">
                <a:solidFill>
                  <a:srgbClr val="000000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</a:br>
            <a:r>
              <a:rPr lang="en-US" sz="1800" dirty="0">
                <a:solidFill>
                  <a:srgbClr val="000000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Lecturer, CSE, BAUST</a:t>
            </a:r>
            <a:br>
              <a:rPr lang="en-US" sz="1800" dirty="0">
                <a:solidFill>
                  <a:srgbClr val="000000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</a:br>
            <a:r>
              <a:rPr lang="en-US" altLang="en-US" sz="1800" dirty="0">
                <a:solidFill>
                  <a:srgbClr val="000000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Nadim Reza</a:t>
            </a:r>
            <a:br>
              <a:rPr lang="en-US" sz="1800" dirty="0">
                <a:solidFill>
                  <a:srgbClr val="000000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</a:br>
            <a:r>
              <a:rPr lang="en-US" sz="1800" dirty="0">
                <a:solidFill>
                  <a:srgbClr val="000000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Lecturer, CSE, BAUST</a:t>
            </a:r>
            <a:endParaRPr lang="en-US" sz="1800" dirty="0">
              <a:solidFill>
                <a:srgbClr val="000000"/>
              </a:solidFill>
              <a:latin typeface="Arial Narrow" panose="020B0606020202030204" pitchFamily="34" charset="0"/>
              <a:cs typeface="Arial Narrow" panose="020B0606020202030204" pitchFamily="34" charset="0"/>
              <a:sym typeface="+mn-ea"/>
            </a:endParaRPr>
          </a:p>
          <a:p>
            <a:pPr algn="l"/>
            <a:endParaRPr lang="en-US" altLang="en-US" sz="1800" dirty="0">
              <a:solidFill>
                <a:srgbClr val="000000"/>
              </a:solidFill>
              <a:latin typeface="Arial Narrow" panose="020B0606020202030204" pitchFamily="34" charset="0"/>
              <a:cs typeface="Arial Narrow" panose="020B0606020202030204" pitchFamily="34" charset="0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3170" y="4804946"/>
            <a:ext cx="356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Narrow" panose="020B0606020202030204" pitchFamily="34" charset="0"/>
              </a:rPr>
              <a:t>1</a:t>
            </a:r>
            <a:endParaRPr lang="en-US" sz="1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0"/>
          <p:cNvSpPr txBox="1">
            <a:spLocks noGrp="1"/>
          </p:cNvSpPr>
          <p:nvPr>
            <p:ph type="title"/>
          </p:nvPr>
        </p:nvSpPr>
        <p:spPr>
          <a:xfrm>
            <a:off x="0" y="240705"/>
            <a:ext cx="8272212" cy="82167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solidFill>
                  <a:schemeClr val="accent2"/>
                </a:solidFill>
                <a:latin typeface="+mj-lt"/>
                <a:cs typeface="+mj-lt"/>
              </a:rPr>
              <a:t>Presentation Outline</a:t>
            </a:r>
            <a:endParaRPr lang="en-US" sz="3200" dirty="0">
              <a:solidFill>
                <a:schemeClr val="accent2"/>
              </a:solidFill>
              <a:latin typeface="+mj-lt"/>
              <a:cs typeface="+mj-lt"/>
            </a:endParaRPr>
          </a:p>
        </p:txBody>
      </p:sp>
      <p:grpSp>
        <p:nvGrpSpPr>
          <p:cNvPr id="62" name="Google Shape;4945;p60"/>
          <p:cNvGrpSpPr/>
          <p:nvPr/>
        </p:nvGrpSpPr>
        <p:grpSpPr>
          <a:xfrm>
            <a:off x="0" y="890752"/>
            <a:ext cx="3681248" cy="88954"/>
            <a:chOff x="3558802" y="4011244"/>
            <a:chExt cx="1866000" cy="111600"/>
          </a:xfrm>
        </p:grpSpPr>
        <p:sp>
          <p:nvSpPr>
            <p:cNvPr id="63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059724" y="1129385"/>
            <a:ext cx="3076382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</a:rPr>
              <a:t>Introduction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</a:rPr>
              <a:t>Objectives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</a:rPr>
              <a:t>Proposed Methodology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  <a:sym typeface="+mn-ea"/>
              </a:rPr>
              <a:t>Dataset</a:t>
            </a:r>
            <a:endParaRPr lang="en-US" sz="2000" dirty="0">
              <a:latin typeface="Arial Narrow" panose="020B0606020202030204" pitchFamily="34" charset="0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  <a:sym typeface="+mn-ea"/>
              </a:rPr>
              <a:t>Result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000" dirty="0">
              <a:latin typeface="Arial Narrow" panose="020B0606020202030204" pitchFamily="34" charset="0"/>
            </a:endParaRPr>
          </a:p>
          <a:p>
            <a:pPr>
              <a:lnSpc>
                <a:spcPct val="200000"/>
              </a:lnSpc>
            </a:pPr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44141" y="1295120"/>
            <a:ext cx="3231929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</a:rPr>
              <a:t>Comparison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</a:rPr>
              <a:t>Future Scope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</a:rPr>
              <a:t>Conclusion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 Narrow" panose="020B0606020202030204" pitchFamily="34" charset="0"/>
              </a:rPr>
              <a:t>References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94684" y="4721598"/>
            <a:ext cx="384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</a:t>
            </a:r>
            <a:endParaRPr lang="en-US" sz="14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239387"/>
            <a:ext cx="4572000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Arial Narrow" panose="020B0606020202030204" pitchFamily="34" charset="0"/>
              </a:rPr>
              <a:t>Introduction</a:t>
            </a:r>
            <a:endParaRPr lang="en-US" sz="3600" b="1" kern="1200" dirty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0439" y="1232825"/>
            <a:ext cx="4851840" cy="495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 Narrow" panose="020B0606020202030204" pitchFamily="34" charset="0"/>
              </a:rPr>
              <a:t>Finds heart problems from ECG images.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1026" name="Picture 2" descr="Different segments of an ECG signal. | Download Scientific Diagr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594" y="2327220"/>
            <a:ext cx="4374932" cy="249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4945;p60"/>
          <p:cNvGrpSpPr/>
          <p:nvPr/>
        </p:nvGrpSpPr>
        <p:grpSpPr>
          <a:xfrm>
            <a:off x="0" y="890752"/>
            <a:ext cx="3681248" cy="88954"/>
            <a:chOff x="3558802" y="4011244"/>
            <a:chExt cx="1866000" cy="111600"/>
          </a:xfrm>
        </p:grpSpPr>
        <p:sp>
          <p:nvSpPr>
            <p:cNvPr id="3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789277" y="4824248"/>
            <a:ext cx="354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</a:t>
            </a:r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1697" y="1901146"/>
            <a:ext cx="4666592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 Narrow" panose="020B0606020202030204" pitchFamily="34" charset="0"/>
              </a:rPr>
              <a:t>Normal 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 Narrow" panose="020B0606020202030204" pitchFamily="34" charset="0"/>
              </a:rPr>
              <a:t>History of MI, 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 Narrow" panose="020B0606020202030204" pitchFamily="34" charset="0"/>
              </a:rPr>
              <a:t>Heart Attack (MI), 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 Narrow" panose="020B0606020202030204" pitchFamily="34" charset="0"/>
              </a:rPr>
              <a:t>and Abnormal Heatbeat</a:t>
            </a:r>
            <a:endParaRPr lang="en-US" sz="20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176345"/>
            <a:ext cx="6369269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Dataset</a:t>
            </a:r>
            <a:endParaRPr lang="en-US" sz="360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pic>
        <p:nvPicPr>
          <p:cNvPr id="2" name="Content Placeholder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207" y="2185543"/>
            <a:ext cx="5157787" cy="2312156"/>
          </a:xfrm>
          <a:prstGeom prst="ellipse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34975" y="1075055"/>
            <a:ext cx="820229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rial Narrow" panose="020B0606020202030204" pitchFamily="34" charset="0"/>
              </a:rPr>
              <a:t>Use public ECG image sets from Kaggle 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 Narrow" panose="020B0606020202030204" pitchFamily="34" charset="0"/>
              </a:rPr>
              <a:t>Divide into 4 classes: </a:t>
            </a:r>
            <a:r>
              <a:rPr lang="en-US" sz="2000" dirty="0">
                <a:latin typeface="Arial Narrow" panose="020B0606020202030204" pitchFamily="34" charset="0"/>
                <a:sym typeface="+mn-ea"/>
              </a:rPr>
              <a:t>Normal ,History of MI, Heart Attack (MI),and Abnormal Heatbeat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grpSp>
        <p:nvGrpSpPr>
          <p:cNvPr id="7" name="Google Shape;4945;p60"/>
          <p:cNvGrpSpPr/>
          <p:nvPr/>
        </p:nvGrpSpPr>
        <p:grpSpPr>
          <a:xfrm>
            <a:off x="-1" y="767276"/>
            <a:ext cx="1568669" cy="84062"/>
            <a:chOff x="3558802" y="4011244"/>
            <a:chExt cx="1866000" cy="111600"/>
          </a:xfrm>
        </p:grpSpPr>
        <p:sp>
          <p:nvSpPr>
            <p:cNvPr id="8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5309235" y="457771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Fig1:Normal ECG DATA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101095"/>
            <a:ext cx="4572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Objectives</a:t>
            </a:r>
            <a:endParaRPr lang="en-US" sz="360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0385" y="1366987"/>
            <a:ext cx="8095593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To automatically classify ECG images into 4 heart conditions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To use deep learning (ResNet50) Model for accurate diagnosis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To test the model on real ECG images, not just signals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grpSp>
        <p:nvGrpSpPr>
          <p:cNvPr id="4" name="Google Shape;4945;p60"/>
          <p:cNvGrpSpPr/>
          <p:nvPr/>
        </p:nvGrpSpPr>
        <p:grpSpPr>
          <a:xfrm>
            <a:off x="0" y="799030"/>
            <a:ext cx="1655379" cy="103483"/>
            <a:chOff x="3558802" y="4011244"/>
            <a:chExt cx="1866000" cy="111600"/>
          </a:xfrm>
        </p:grpSpPr>
        <p:sp>
          <p:nvSpPr>
            <p:cNvPr id="5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232392"/>
            <a:ext cx="6369269" cy="116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Methodology </a:t>
            </a:r>
            <a:endParaRPr lang="en-US" sz="3200" kern="120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  <a:p>
            <a:endParaRPr lang="en-US" sz="3600" dirty="0">
              <a:solidFill>
                <a:schemeClr val="tx2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48781" y="2307734"/>
            <a:ext cx="2716853" cy="113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1. Data </a:t>
            </a:r>
            <a:endParaRPr lang="en-US" sz="2400" b="1" dirty="0">
              <a:latin typeface="Arial Narrow" panose="020B0606020202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 Narrow" panose="020B0606020202030204" pitchFamily="34" charset="0"/>
              </a:rPr>
              <a:t>Kaggle datasets</a:t>
            </a:r>
            <a:endParaRPr lang="en-US" sz="2400" b="1" dirty="0">
              <a:latin typeface="Arial Narrow" panose="020B0606020202030204" pitchFamily="34" charset="0"/>
            </a:endParaRPr>
          </a:p>
          <a:p>
            <a:endParaRPr lang="en-US" sz="2400" b="1" dirty="0">
              <a:latin typeface="Arial Narrow" panose="020B0606020202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020" y="1201420"/>
            <a:ext cx="804862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 Narrow" panose="020B0606020202030204" pitchFamily="34" charset="0"/>
              </a:rPr>
              <a:t>Build a deep learning model(RESNET50) to classify ECG images into </a:t>
            </a:r>
            <a:r>
              <a:rPr lang="en-US" sz="2000" dirty="0">
                <a:latin typeface="Arial Narrow" panose="020B0606020202030204" pitchFamily="34" charset="0"/>
                <a:sym typeface="+mn-ea"/>
              </a:rPr>
              <a:t>Normal, History of MI, Heart Attack (MI),and Abnormal Heatbeat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48781" y="3285446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 Narrow" panose="020B0606020202030204" pitchFamily="34" charset="0"/>
              </a:rPr>
              <a:t>2. Data Preprocessing</a:t>
            </a:r>
            <a:endParaRPr lang="en-US" sz="2400" b="1" dirty="0">
              <a:latin typeface="Arial Narrow" panose="020B0606020202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dirty="0" err="1">
                <a:latin typeface="Arial Narrow" panose="020B0606020202030204" pitchFamily="34" charset="0"/>
              </a:rPr>
              <a:t>Resize</a:t>
            </a:r>
            <a:r>
              <a:rPr lang="fr-FR" sz="2000" dirty="0">
                <a:latin typeface="Arial Narrow" panose="020B0606020202030204" pitchFamily="34" charset="0"/>
              </a:rPr>
              <a:t> image (224×224)</a:t>
            </a:r>
            <a:endParaRPr lang="fr-FR" sz="2000" dirty="0">
              <a:latin typeface="Arial Narrow" panose="020B0606020202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dirty="0">
                <a:latin typeface="Arial Narrow" panose="020B0606020202030204" pitchFamily="34" charset="0"/>
              </a:rPr>
              <a:t>Data Augmentation.</a:t>
            </a:r>
            <a:endParaRPr lang="fr-FR" sz="2000" dirty="0">
              <a:latin typeface="Arial Narrow" panose="020B0606020202030204" pitchFamily="34" charset="0"/>
            </a:endParaRPr>
          </a:p>
        </p:txBody>
      </p:sp>
      <p:grpSp>
        <p:nvGrpSpPr>
          <p:cNvPr id="15" name="Google Shape;4945;p60"/>
          <p:cNvGrpSpPr/>
          <p:nvPr/>
        </p:nvGrpSpPr>
        <p:grpSpPr>
          <a:xfrm>
            <a:off x="0" y="842176"/>
            <a:ext cx="3807372" cy="103755"/>
            <a:chOff x="3558802" y="4011244"/>
            <a:chExt cx="1866000" cy="111600"/>
          </a:xfrm>
        </p:grpSpPr>
        <p:sp>
          <p:nvSpPr>
            <p:cNvPr id="16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152010"/>
            <a:ext cx="6369269" cy="116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Proposed Methodology (Cont.)</a:t>
            </a:r>
            <a:endParaRPr lang="en-US" sz="3200" kern="12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7970" y="984885"/>
            <a:ext cx="66573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 Narrow" panose="020B0606020202030204" pitchFamily="34" charset="0"/>
              </a:rPr>
              <a:t>3. Model </a:t>
            </a:r>
            <a:endParaRPr lang="en-US" sz="2400" b="1" dirty="0">
              <a:latin typeface="Arial Narrow" panose="020B0606020202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rial Narrow" panose="020B0606020202030204" pitchFamily="34" charset="0"/>
              </a:rPr>
              <a:t>RESNET50</a:t>
            </a:r>
            <a:endParaRPr lang="en-US" sz="2000" dirty="0">
              <a:latin typeface="Arial Narrow" panose="020B0606020202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 Narrow" panose="020B0606020202030204" pitchFamily="34" charset="0"/>
              </a:rPr>
              <a:t>4. Training &amp; Evaluation</a:t>
            </a:r>
            <a:endParaRPr lang="en-US" sz="2400" b="1" dirty="0">
              <a:latin typeface="Arial Narrow" panose="020B0606020202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Arial Narrow" panose="020B0606020202030204" pitchFamily="34" charset="0"/>
              </a:rPr>
              <a:t>Split :  </a:t>
            </a:r>
            <a:r>
              <a:rPr lang="en-US" sz="2000" dirty="0">
                <a:latin typeface="Arial Narrow" panose="020B0606020202030204" pitchFamily="34" charset="0"/>
              </a:rPr>
              <a:t>Train data  80%(train 80% and validation 20%)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457200" lvl="1"/>
            <a:r>
              <a:rPr lang="en-US" sz="2000" dirty="0">
                <a:latin typeface="Arial Narrow" panose="020B0606020202030204" pitchFamily="34" charset="0"/>
              </a:rPr>
              <a:t>	            Test data  20%.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Narrow" panose="020B0606020202030204" pitchFamily="34" charset="0"/>
              </a:rPr>
              <a:t>Metrics: </a:t>
            </a:r>
            <a:r>
              <a:rPr lang="en-US" sz="2000" dirty="0">
                <a:latin typeface="Arial Narrow" panose="020B0606020202030204" pitchFamily="34" charset="0"/>
              </a:rPr>
              <a:t>Accuracy ,Precision </a:t>
            </a:r>
            <a:endParaRPr lang="en-US" sz="2000" dirty="0">
              <a:latin typeface="Arial Narrow" panose="020B0606020202030204" pitchFamily="34" charset="0"/>
            </a:endParaRPr>
          </a:p>
          <a:p>
            <a:pPr marL="457200" lvl="1"/>
            <a:r>
              <a:rPr lang="en-US" sz="2000" dirty="0">
                <a:latin typeface="Arial Narrow" panose="020B0606020202030204" pitchFamily="34" charset="0"/>
              </a:rPr>
              <a:t>	             Recall ,F1-score</a:t>
            </a:r>
            <a:endParaRPr lang="en-US" sz="2000" b="1" dirty="0">
              <a:latin typeface="Arial Narrow" panose="020B0606020202030204" pitchFamily="34" charset="0"/>
            </a:endParaRPr>
          </a:p>
          <a:p>
            <a:endParaRPr lang="en-US" sz="2000" dirty="0">
              <a:latin typeface="Arial Narrow" panose="020B0606020202030204" pitchFamily="34" charset="0"/>
            </a:endParaRPr>
          </a:p>
        </p:txBody>
      </p:sp>
      <p:grpSp>
        <p:nvGrpSpPr>
          <p:cNvPr id="3" name="Google Shape;4945;p60"/>
          <p:cNvGrpSpPr/>
          <p:nvPr/>
        </p:nvGrpSpPr>
        <p:grpSpPr>
          <a:xfrm>
            <a:off x="0" y="735249"/>
            <a:ext cx="4422228" cy="92442"/>
            <a:chOff x="3558802" y="4011244"/>
            <a:chExt cx="1866000" cy="111600"/>
          </a:xfrm>
        </p:grpSpPr>
        <p:sp>
          <p:nvSpPr>
            <p:cNvPr id="4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174252"/>
            <a:ext cx="639176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Arial Narrow" panose="020B0606020202030204" pitchFamily="34" charset="0"/>
              </a:rPr>
              <a:t>Proposed Methodology</a:t>
            </a:r>
            <a:r>
              <a:rPr lang="en-US" sz="3600" kern="1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3600" b="1" kern="1200" dirty="0">
                <a:solidFill>
                  <a:schemeClr val="tx1"/>
                </a:solidFill>
                <a:latin typeface="Arial Narrow" panose="020B0606020202030204" pitchFamily="34" charset="0"/>
              </a:rPr>
              <a:t>(Diagram)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5" name="Google Shape;4945;p60"/>
          <p:cNvGrpSpPr/>
          <p:nvPr/>
        </p:nvGrpSpPr>
        <p:grpSpPr>
          <a:xfrm>
            <a:off x="0" y="797457"/>
            <a:ext cx="5502167" cy="117561"/>
            <a:chOff x="3558802" y="4011244"/>
            <a:chExt cx="1866000" cy="111600"/>
          </a:xfrm>
        </p:grpSpPr>
        <p:sp>
          <p:nvSpPr>
            <p:cNvPr id="6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" name="Rectangle: Rounded Corners 33"/>
          <p:cNvSpPr/>
          <p:nvPr/>
        </p:nvSpPr>
        <p:spPr>
          <a:xfrm>
            <a:off x="556858" y="1392292"/>
            <a:ext cx="1515529" cy="96957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 Narrow" panose="020B0606020202030204" pitchFamily="34" charset="0"/>
              </a:rPr>
              <a:t>Data 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Kaggle ECG datasets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2547896" y="1237593"/>
            <a:ext cx="1850971" cy="133415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 Narrow" panose="020B0606020202030204" pitchFamily="34" charset="0"/>
              </a:rPr>
              <a:t>Data Preprocessing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resize image (224×224)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normalize,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augmentation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4745135" y="1392292"/>
            <a:ext cx="1710558" cy="102475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 Narrow" panose="020B0606020202030204" pitchFamily="34" charset="0"/>
              </a:rPr>
              <a:t>Model 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RESNET50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Dropout</a:t>
            </a: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6762605" y="2248310"/>
            <a:ext cx="2078995" cy="14556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Arial Narrow" panose="020B0606020202030204" pitchFamily="34" charset="0"/>
              </a:rPr>
              <a:t>Training &amp; Evaluation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Split: 80% / 20%.</a:t>
            </a:r>
            <a:endParaRPr lang="en-US" dirty="0"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 Narrow" panose="020B0606020202030204" pitchFamily="34" charset="0"/>
              </a:rPr>
              <a:t>Metrics: Accuracy,    Precision, Recall, F1-score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4815342" y="3658046"/>
            <a:ext cx="1710558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Narrow" panose="020B0606020202030204" pitchFamily="34" charset="0"/>
                <a:sym typeface="+mn-ea"/>
              </a:rPr>
              <a:t>Output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45" name="Arrow: Right 44"/>
          <p:cNvSpPr/>
          <p:nvPr/>
        </p:nvSpPr>
        <p:spPr>
          <a:xfrm>
            <a:off x="2094038" y="1834210"/>
            <a:ext cx="453858" cy="85741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/>
          <p:cNvSpPr/>
          <p:nvPr/>
        </p:nvSpPr>
        <p:spPr>
          <a:xfrm>
            <a:off x="4398866" y="1834210"/>
            <a:ext cx="346269" cy="85741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455693" y="1834210"/>
            <a:ext cx="1297286" cy="457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Down 48"/>
          <p:cNvSpPr/>
          <p:nvPr/>
        </p:nvSpPr>
        <p:spPr>
          <a:xfrm>
            <a:off x="7752980" y="1834210"/>
            <a:ext cx="74600" cy="402775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Left 53"/>
          <p:cNvSpPr/>
          <p:nvPr/>
        </p:nvSpPr>
        <p:spPr>
          <a:xfrm>
            <a:off x="6537073" y="4093620"/>
            <a:ext cx="1215906" cy="85742"/>
          </a:xfrm>
          <a:prstGeom prst="lef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770388" y="3715318"/>
            <a:ext cx="57192" cy="4427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78685"/>
            <a:ext cx="5360276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Related Works</a:t>
            </a:r>
            <a:endParaRPr lang="en-US" sz="320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graphicFrame>
        <p:nvGraphicFramePr>
          <p:cNvPr id="3" name="Google Shape;496;p47"/>
          <p:cNvGraphicFramePr/>
          <p:nvPr>
            <p:custDataLst>
              <p:tags r:id="rId1"/>
            </p:custDataLst>
          </p:nvPr>
        </p:nvGraphicFramePr>
        <p:xfrm>
          <a:off x="81280" y="1021272"/>
          <a:ext cx="8981440" cy="410565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18360"/>
                <a:gridCol w="2350770"/>
                <a:gridCol w="2118360"/>
                <a:gridCol w="2393950"/>
              </a:tblGrid>
              <a:tr h="4952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4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Research Paper</a:t>
                      </a:r>
                      <a:endParaRPr lang="en-US" altLang="en-GB" sz="14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Authors &amp; Publisher</a:t>
                      </a:r>
                      <a:endParaRPr lang="en-US" sz="14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Methodology</a:t>
                      </a:r>
                      <a:endParaRPr lang="en-US" sz="14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Challenges &amp; Gap</a:t>
                      </a:r>
                      <a:endParaRPr lang="en-US" sz="14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</a:tr>
              <a:tr h="1720647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</a:rPr>
                        <a:t>A Lightweight DNN for ECG Image Classification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marL="285750" lvl="0" indent="-28575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Narrow" panose="020B0606020202030204" pitchFamily="34" charset="0"/>
                        </a:rPr>
                        <a:t>Authors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: A. E. Youssef, A. M. 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Hemeida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, A. I. </a:t>
                      </a:r>
                      <a:r>
                        <a:rPr lang="en-US" dirty="0" err="1">
                          <a:latin typeface="Arial Narrow" panose="020B0606020202030204" pitchFamily="34" charset="0"/>
                        </a:rPr>
                        <a:t>Taloba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, A. Atwan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  <a:p>
                      <a:pPr marL="285750" lvl="0" indent="-28575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b="1" dirty="0">
                          <a:latin typeface="Arial Narrow" panose="020B0606020202030204" pitchFamily="34" charset="0"/>
                        </a:rPr>
                        <a:t>Publisher</a:t>
                      </a:r>
                      <a:r>
                        <a:rPr lang="en-US" dirty="0">
                          <a:latin typeface="Arial Narrow" panose="020B0606020202030204" pitchFamily="34" charset="0"/>
                        </a:rPr>
                        <a:t>: IEEE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400" b="0" dirty="0">
                          <a:latin typeface="Arial Narrow" panose="020B0606020202030204" pitchFamily="34" charset="0"/>
                        </a:rPr>
                        <a:t>combining CNN with other classification layers with MIT-BIH Arrhythmia Database (ECG signals)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285750" lvl="0" indent="-28575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Performance may drop on real-world data outside MIT-BIH.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  <a:p>
                      <a:pPr marL="285750" lvl="0" indent="-28575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Only 80.3% accuracy </a:t>
                      </a:r>
                      <a:endParaRPr lang="en-US" sz="16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Raleway Medium"/>
                          <a:cs typeface="Raleway Medium"/>
                          <a:sym typeface="Raleway Medium"/>
                        </a:rPr>
                        <a:t> 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85000"/>
                      </a:schemeClr>
                    </a:solidFill>
                  </a:tcPr>
                </a:tc>
              </a:tr>
              <a:tr h="18611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400" b="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Arrhythmia Classification Using ECG Image Dataset Using Machine Learning Approach on DenseNet121 Model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400" b="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dirty="0">
                          <a:latin typeface="Arial Narrow" panose="020B0606020202030204" pitchFamily="34" charset="0"/>
                        </a:rPr>
                        <a:t>Authors: </a:t>
                      </a:r>
                      <a:r>
                        <a:rPr lang="en-US" sz="16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  <a:sym typeface="Arial" panose="020B0604020202020204"/>
                          <a:hlinkClick r:id="rId2"/>
                        </a:rPr>
                        <a:t>Kanwarpartap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  <a:sym typeface="Arial" panose="020B0604020202020204"/>
                          <a:hlinkClick r:id="rId2"/>
                        </a:rPr>
                        <a:t> Singh Gill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; 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  <a:sym typeface="Arial" panose="020B0604020202020204"/>
                          <a:hlinkClick r:id="rId3"/>
                        </a:rPr>
                        <a:t>Vatsala Anand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; 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  <a:sym typeface="Arial" panose="020B0604020202020204"/>
                          <a:hlinkClick r:id="rId4"/>
                        </a:rPr>
                        <a:t>Rupesh Gupta</a:t>
                      </a:r>
                      <a:endParaRPr lang="en-US" sz="1600" b="0" i="0" u="none" strike="noStrike" cap="non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Publisher: IEEE</a:t>
                      </a:r>
                      <a:endParaRPr lang="en-US" altLang="en-US" sz="16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b="0" dirty="0">
                          <a:latin typeface="Arial Narrow" panose="020B0606020202030204" pitchFamily="34" charset="0"/>
                        </a:rPr>
                        <a:t>transfer learning with the DenseNet121 model to classify arrhythmia from ECG images</a:t>
                      </a:r>
                      <a:endParaRPr lang="en-US" b="0" dirty="0">
                        <a:latin typeface="Arial Narrow" panose="020B0606020202030204" pitchFamily="34" charset="0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b="0" dirty="0">
                          <a:latin typeface="Arial Narrow" panose="020B0606020202030204" pitchFamily="34" charset="0"/>
                        </a:rPr>
                        <a:t>Feature selection to highlight informative ECG patterns.</a:t>
                      </a:r>
                      <a:endParaRPr lang="en-US" alt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</a:endParaRPr>
                    </a:p>
                  </a:txBody>
                  <a:tcPr marL="68580" marR="6858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Only 80% accuracy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en-US" sz="16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Raleway Medium"/>
                          <a:cs typeface="Raleway Medium"/>
                        </a:rPr>
                        <a:t>Performance on different datasets / real-world hospital data is not validated.</a:t>
                      </a:r>
                      <a:endParaRPr lang="en-US" altLang="en-US" sz="16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</a:endParaRPr>
                    </a:p>
                  </a:txBody>
                  <a:tcPr marL="68580" marR="6858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" name="Google Shape;4945;p60"/>
          <p:cNvGrpSpPr/>
          <p:nvPr/>
        </p:nvGrpSpPr>
        <p:grpSpPr>
          <a:xfrm>
            <a:off x="0" y="683889"/>
            <a:ext cx="2758966" cy="105651"/>
            <a:chOff x="3558802" y="4011244"/>
            <a:chExt cx="1866000" cy="111600"/>
          </a:xfrm>
        </p:grpSpPr>
        <p:sp>
          <p:nvSpPr>
            <p:cNvPr id="4" name="Google Shape;4946;p60"/>
            <p:cNvSpPr/>
            <p:nvPr/>
          </p:nvSpPr>
          <p:spPr>
            <a:xfrm rot="5400000" flipH="1">
              <a:off x="4436152" y="3134073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118983"/>
            <a:ext cx="5360276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Related Works </a:t>
            </a:r>
            <a:r>
              <a:rPr lang="en-US" sz="3200" kern="120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(Cont.)</a:t>
            </a:r>
            <a:endParaRPr lang="en-US" sz="320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graphicFrame>
        <p:nvGraphicFramePr>
          <p:cNvPr id="3" name="Google Shape;496;p47"/>
          <p:cNvGraphicFramePr/>
          <p:nvPr>
            <p:custDataLst>
              <p:tags r:id="rId1"/>
            </p:custDataLst>
          </p:nvPr>
        </p:nvGraphicFramePr>
        <p:xfrm>
          <a:off x="81280" y="1037764"/>
          <a:ext cx="8981440" cy="43433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18360"/>
                <a:gridCol w="2334260"/>
                <a:gridCol w="2134870"/>
                <a:gridCol w="2393950"/>
              </a:tblGrid>
              <a:tr h="4419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6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Research Paper</a:t>
                      </a:r>
                      <a:endParaRPr lang="en-US" altLang="en-GB" sz="16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Authors &amp; Publisher</a:t>
                      </a:r>
                      <a:endParaRPr lang="en-US" sz="16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Methodology</a:t>
                      </a:r>
                      <a:endParaRPr lang="en-US" sz="16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600" dirty="0">
                          <a:solidFill>
                            <a:schemeClr val="lt1"/>
                          </a:solidFill>
                          <a:latin typeface="Arial Narrow" panose="020B0606020202030204" pitchFamily="34" charset="0"/>
                          <a:ea typeface="Raleway ExtraBold"/>
                          <a:cs typeface="Raleway ExtraBold"/>
                          <a:sym typeface="Raleway ExtraBold"/>
                        </a:rPr>
                        <a:t>Challenges &amp; Gap</a:t>
                      </a:r>
                      <a:endParaRPr lang="en-US" sz="160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  <a:lumOff val="50000"/>
                      </a:schemeClr>
                    </a:solidFill>
                  </a:tcPr>
                </a:tc>
              </a:tr>
              <a:tr h="16897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Raleway Medium"/>
                          <a:cs typeface="Raleway Medium"/>
                          <a:sym typeface="Raleway Medium"/>
                        </a:rPr>
                        <a:t> 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Arial Narrow" panose="020B0606020202030204" pitchFamily="34" charset="0"/>
                        </a:rPr>
                        <a:t>ECG signals transformed into images</a:t>
                      </a:r>
                      <a:endParaRPr lang="en-US" sz="1400" dirty="0">
                        <a:latin typeface="Arial Narrow" panose="020B0606020202030204" pitchFamily="34" charset="0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>
                          <a:latin typeface="Arial Narrow" panose="020B0606020202030204" pitchFamily="34" charset="0"/>
                        </a:rPr>
                        <a:t>combine images, then classify with CNN</a:t>
                      </a:r>
                      <a:endParaRPr lang="en-US" sz="1400" dirty="0">
                        <a:latin typeface="Arial Narrow" panose="020B0606020202030204" pitchFamily="34" charset="0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Raleway Medium"/>
                          <a:cs typeface="Raleway Medium"/>
                          <a:sym typeface="Raleway Medium"/>
                        </a:rPr>
                        <a:t> </a:t>
                      </a:r>
                      <a:r>
                        <a:rPr lang="en-US" sz="1400" dirty="0">
                          <a:latin typeface="Arial Narrow" panose="020B0606020202030204" pitchFamily="34" charset="0"/>
                        </a:rPr>
                        <a:t>Dependency on Signal to Image Transformation</a:t>
                      </a:r>
                      <a:endParaRPr lang="en-US" sz="1400" dirty="0">
                        <a:latin typeface="Arial Narrow" panose="020B0606020202030204" pitchFamily="34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1400" dirty="0">
                        <a:latin typeface="Arial Narrow" panose="020B0606020202030204" pitchFamily="34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dirty="0"/>
                        <a:t>Loss of temporal details during signal to image conversion.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85000"/>
                      </a:schemeClr>
                    </a:solidFill>
                  </a:tcPr>
                </a:tc>
              </a:tr>
              <a:tr h="18959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400" b="0" dirty="0">
                        <a:solidFill>
                          <a:schemeClr val="lt1"/>
                        </a:solidFill>
                        <a:latin typeface="Arial Narrow" panose="020B0606020202030204" pitchFamily="34" charset="0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Authors: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Ganeshkumar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M.,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Vinayakumar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Ravi,Sowmya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V., E. A. Gopalakrishnan, Soman K. P.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Publisher: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IEEE Transactions on Engineering Management, 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Raleway Medium"/>
                          <a:cs typeface="Raleway Medium"/>
                          <a:sym typeface="Raleway Medium"/>
                        </a:rPr>
                        <a:t> </a:t>
                      </a:r>
                      <a:endParaRPr lang="en-US" alt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  <a:sym typeface="Raleway Medium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Used about 6,300 ECG records with 8 abnormal classes + normal.</a:t>
                      </a:r>
                      <a:endParaRPr lang="en-US" altLang="en-US" sz="16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removed noise and converted signals to 2-D ECG matrices.</a:t>
                      </a:r>
                      <a:endParaRPr lang="en-US" altLang="en-US" sz="16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</a:endParaRPr>
                    </a:p>
                  </a:txBody>
                  <a:tcPr marL="68580" marR="6858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No plan for a doctor-friendly app or dashboard.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sz="1600" dirty="0">
                          <a:latin typeface="Arial Narrow" panose="020B0606020202030204" pitchFamily="34" charset="0"/>
                        </a:rPr>
                        <a:t>No demo on live or streaming ECG data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</a:pPr>
                      <a:endParaRPr lang="en-US" altLang="en-US" sz="14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Raleway Medium"/>
                        <a:cs typeface="Raleway Medium"/>
                      </a:endParaRPr>
                    </a:p>
                  </a:txBody>
                  <a:tcPr marL="68580" marR="68580" marT="0" marB="0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4007" y="1432460"/>
            <a:ext cx="1980542" cy="11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50"/>
              </a:lnSpc>
              <a:buNone/>
            </a:pPr>
            <a:r>
              <a:rPr lang="en-US" sz="1600" b="1" i="0" dirty="0"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ECG Heartbeat Classification Using Multimodal Fusion</a:t>
            </a:r>
            <a:endParaRPr lang="en-US" sz="1600" b="1" i="0" dirty="0"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82910" y="1528842"/>
            <a:ext cx="22249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Arial Narrow" panose="020B0606020202030204" pitchFamily="34" charset="0"/>
              </a:rPr>
              <a:t>Authors: </a:t>
            </a:r>
            <a:r>
              <a:rPr lang="en-US" sz="1600" dirty="0">
                <a:solidFill>
                  <a:schemeClr val="tx1"/>
                </a:solidFill>
                <a:latin typeface="Arial Narrow" panose="020B0606020202030204" pitchFamily="34" charset="0"/>
              </a:rPr>
              <a:t>Zeeshan Ahmad; Anika Tabassum; Ling Guan; </a:t>
            </a:r>
            <a:r>
              <a:rPr lang="en-US" sz="1600" dirty="0" err="1">
                <a:solidFill>
                  <a:schemeClr val="tx1"/>
                </a:solidFill>
                <a:latin typeface="Arial Narrow" panose="020B0606020202030204" pitchFamily="34" charset="0"/>
              </a:rPr>
              <a:t>Naimul</a:t>
            </a:r>
            <a:r>
              <a:rPr lang="en-US" sz="16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 Narrow" panose="020B0606020202030204" pitchFamily="34" charset="0"/>
              </a:rPr>
              <a:t>Mefraz</a:t>
            </a:r>
            <a:r>
              <a:rPr lang="en-US" sz="1600" dirty="0">
                <a:solidFill>
                  <a:schemeClr val="tx1"/>
                </a:solidFill>
                <a:latin typeface="Arial Narrow" panose="020B0606020202030204" pitchFamily="34" charset="0"/>
              </a:rPr>
              <a:t> Khan</a:t>
            </a:r>
            <a:endParaRPr lang="en-US" sz="16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Arial Narrow" panose="020B0606020202030204" pitchFamily="34" charset="0"/>
              </a:rPr>
              <a:t>Publisher: </a:t>
            </a:r>
            <a:r>
              <a:rPr lang="en-US" sz="1600" dirty="0">
                <a:solidFill>
                  <a:schemeClr val="tx1"/>
                </a:solidFill>
                <a:latin typeface="Arial Narrow" panose="020B0606020202030204" pitchFamily="34" charset="0"/>
              </a:rPr>
              <a:t>IEEE</a:t>
            </a:r>
            <a:endParaRPr lang="en-US" sz="16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10" name="Google Shape;4945;p60"/>
          <p:cNvGrpSpPr/>
          <p:nvPr/>
        </p:nvGrpSpPr>
        <p:grpSpPr>
          <a:xfrm>
            <a:off x="0" y="710418"/>
            <a:ext cx="2569778" cy="113353"/>
            <a:chOff x="3558802" y="4011244"/>
            <a:chExt cx="1866000" cy="111600"/>
          </a:xfrm>
        </p:grpSpPr>
        <p:sp>
          <p:nvSpPr>
            <p:cNvPr id="11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81280" y="3205557"/>
            <a:ext cx="2101630" cy="190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50"/>
              </a:lnSpc>
              <a:buNone/>
            </a:pPr>
            <a:r>
              <a:rPr lang="en-US" b="1" i="0" dirty="0">
                <a:effectLst/>
                <a:latin typeface="Arial Narrow" panose="020B0606020202030204" pitchFamily="34" charset="0"/>
              </a:rPr>
              <a:t> </a:t>
            </a:r>
            <a:r>
              <a:rPr lang="en-US" sz="1600" b="1" i="0" dirty="0">
                <a:effectLst/>
                <a:latin typeface="Arial Narrow" panose="020B0606020202030204" pitchFamily="34" charset="0"/>
              </a:rPr>
              <a:t>Explainable Deep Learning-Based Approach for Multilabel Classification of Electrocardiogram</a:t>
            </a:r>
            <a:endParaRPr lang="en-US" sz="1600" b="1" i="0" dirty="0">
              <a:effectLst/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100965" y="200323"/>
            <a:ext cx="6369269" cy="561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Result</a:t>
            </a:r>
            <a:endParaRPr lang="en-US" sz="340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grpSp>
        <p:nvGrpSpPr>
          <p:cNvPr id="2" name="Google Shape;4945;p60"/>
          <p:cNvGrpSpPr/>
          <p:nvPr/>
        </p:nvGrpSpPr>
        <p:grpSpPr>
          <a:xfrm>
            <a:off x="0" y="836090"/>
            <a:ext cx="3697014" cy="117723"/>
            <a:chOff x="3558802" y="4011244"/>
            <a:chExt cx="1866000" cy="111600"/>
          </a:xfrm>
        </p:grpSpPr>
        <p:sp>
          <p:nvSpPr>
            <p:cNvPr id="4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3" name="Picture 2" descr="confusion_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9630" y="2037715"/>
            <a:ext cx="4077335" cy="3054985"/>
          </a:xfrm>
          <a:prstGeom prst="rect">
            <a:avLst/>
          </a:prstGeom>
        </p:spPr>
      </p:pic>
      <p:pic>
        <p:nvPicPr>
          <p:cNvPr id="6" name="Picture 5" descr="roc_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" y="2052955"/>
            <a:ext cx="3850005" cy="304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r="15429"/>
          <a:stretch>
            <a:fillRect/>
          </a:stretch>
        </p:blipFill>
        <p:spPr>
          <a:xfrm>
            <a:off x="4659630" y="69850"/>
            <a:ext cx="3818255" cy="189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100965" y="200323"/>
            <a:ext cx="6369269" cy="561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Result</a:t>
            </a:r>
            <a:endParaRPr lang="en-US" sz="340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grpSp>
        <p:nvGrpSpPr>
          <p:cNvPr id="2" name="Google Shape;4945;p60"/>
          <p:cNvGrpSpPr/>
          <p:nvPr/>
        </p:nvGrpSpPr>
        <p:grpSpPr>
          <a:xfrm>
            <a:off x="0" y="836090"/>
            <a:ext cx="3697014" cy="117723"/>
            <a:chOff x="3558802" y="4011244"/>
            <a:chExt cx="1866000" cy="111600"/>
          </a:xfrm>
        </p:grpSpPr>
        <p:sp>
          <p:nvSpPr>
            <p:cNvPr id="4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6" name="Picture 5" descr="accuracy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35" y="1692910"/>
            <a:ext cx="4039870" cy="2778125"/>
          </a:xfrm>
          <a:prstGeom prst="rect">
            <a:avLst/>
          </a:prstGeom>
        </p:spPr>
      </p:pic>
      <p:pic>
        <p:nvPicPr>
          <p:cNvPr id="8" name="Picture 7" descr="loss_cur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70" y="1620520"/>
            <a:ext cx="3469005" cy="29229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1" y="188505"/>
            <a:ext cx="6369269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  <a:cs typeface="Arial Narrow" panose="020B0606020202030204" pitchFamily="34" charset="0"/>
              </a:rPr>
              <a:t>Future Scope</a:t>
            </a:r>
            <a:endParaRPr lang="en-US" altLang="en-US" sz="36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4540" y="1216025"/>
            <a:ext cx="7983220" cy="3332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Add more types of heart conditions to classify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Add more data for better performance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Make the system usable on mobile phones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Add explainable AI to show which part of ECG the model focuses on</a:t>
            </a:r>
            <a:endParaRPr lang="en-US" altLang="en-US" sz="2400" dirty="0">
              <a:latin typeface="Arial Narrow" panose="020B0606020202030204" pitchFamily="34" charset="0"/>
            </a:endParaRPr>
          </a:p>
        </p:txBody>
      </p:sp>
      <p:grpSp>
        <p:nvGrpSpPr>
          <p:cNvPr id="2" name="Google Shape;4945;p60"/>
          <p:cNvGrpSpPr/>
          <p:nvPr/>
        </p:nvGrpSpPr>
        <p:grpSpPr>
          <a:xfrm>
            <a:off x="0" y="798349"/>
            <a:ext cx="2096814" cy="123417"/>
            <a:chOff x="3558802" y="4011244"/>
            <a:chExt cx="1866000" cy="111600"/>
          </a:xfrm>
        </p:grpSpPr>
        <p:sp>
          <p:nvSpPr>
            <p:cNvPr id="4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1" y="188505"/>
            <a:ext cx="6369269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Arial Narrow" panose="020B0606020202030204" pitchFamily="34" charset="0"/>
                <a:cs typeface="Arial Narrow" panose="020B0606020202030204" pitchFamily="34" charset="0"/>
              </a:rPr>
              <a:t>Conclusion</a:t>
            </a:r>
            <a:endParaRPr lang="en-US" sz="3600" dirty="0">
              <a:solidFill>
                <a:schemeClr val="tx2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4540" y="1236980"/>
            <a:ext cx="7983220" cy="3332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We used a ResNet50 model to classify ECG images into 4 types of heart conditions.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The model achieved 91.91% accuracy on test data.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Image preprocessing and transfer learning helped get good results.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Arial Narrow" panose="020B0606020202030204" pitchFamily="34" charset="0"/>
              </a:rPr>
              <a:t>This method works well for automated heart disease detection.</a:t>
            </a: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400" dirty="0">
              <a:latin typeface="Arial Narrow" panose="020B0606020202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400" dirty="0">
              <a:latin typeface="Arial Narrow" panose="020B0606020202030204" pitchFamily="34" charset="0"/>
            </a:endParaRPr>
          </a:p>
        </p:txBody>
      </p:sp>
      <p:grpSp>
        <p:nvGrpSpPr>
          <p:cNvPr id="2" name="Google Shape;4945;p60"/>
          <p:cNvGrpSpPr/>
          <p:nvPr/>
        </p:nvGrpSpPr>
        <p:grpSpPr>
          <a:xfrm>
            <a:off x="0" y="798349"/>
            <a:ext cx="2096814" cy="123417"/>
            <a:chOff x="3558802" y="4011244"/>
            <a:chExt cx="1866000" cy="111600"/>
          </a:xfrm>
        </p:grpSpPr>
        <p:sp>
          <p:nvSpPr>
            <p:cNvPr id="4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60130" y="156521"/>
            <a:ext cx="6369269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Arial Narrow" panose="020B0606020202030204" pitchFamily="34" charset="0"/>
              </a:rPr>
              <a:t>References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2" name="Google Shape;4945;p60"/>
          <p:cNvGrpSpPr/>
          <p:nvPr/>
        </p:nvGrpSpPr>
        <p:grpSpPr>
          <a:xfrm>
            <a:off x="338507" y="768208"/>
            <a:ext cx="2012807" cy="97826"/>
            <a:chOff x="3558802" y="4011244"/>
            <a:chExt cx="1866000" cy="111600"/>
          </a:xfrm>
        </p:grpSpPr>
        <p:sp>
          <p:nvSpPr>
            <p:cNvPr id="3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60130" y="965166"/>
            <a:ext cx="7983177" cy="3728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Rana, Amrita, and Kyung Ki Kim. "A lightweight </a:t>
            </a:r>
            <a:r>
              <a:rPr lang="en-US" sz="1200" dirty="0" err="1"/>
              <a:t>dnn</a:t>
            </a:r>
            <a:r>
              <a:rPr lang="en-US" sz="1200" dirty="0"/>
              <a:t> for </a:t>
            </a:r>
            <a:r>
              <a:rPr lang="en-US" sz="1200" dirty="0" err="1"/>
              <a:t>ecg</a:t>
            </a:r>
            <a:r>
              <a:rPr lang="en-US" sz="1200" dirty="0"/>
              <a:t> image classification." </a:t>
            </a:r>
            <a:r>
              <a:rPr lang="en-US" sz="1200" i="1" dirty="0"/>
              <a:t>2020 International SoC Design Conference (ISOCC)</a:t>
            </a:r>
            <a:r>
              <a:rPr lang="en-US" sz="1200" dirty="0"/>
              <a:t>. IEEE, 2020.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Gill, </a:t>
            </a:r>
            <a:r>
              <a:rPr lang="en-US" sz="1200" dirty="0" err="1"/>
              <a:t>Kanwarpartap</a:t>
            </a:r>
            <a:r>
              <a:rPr lang="en-US" sz="1200" dirty="0"/>
              <a:t> Singh, Vatsala Anand, and Rupesh Gupta. "Arrhythmia classification using </a:t>
            </a:r>
            <a:r>
              <a:rPr lang="en-US" sz="1200" dirty="0" err="1"/>
              <a:t>ecg</a:t>
            </a:r>
            <a:r>
              <a:rPr lang="en-US" sz="1200" dirty="0"/>
              <a:t> image dataset using machine learning approach on densenet121 model." </a:t>
            </a:r>
            <a:r>
              <a:rPr lang="en-US" sz="1200" i="1" dirty="0"/>
              <a:t>2023 14th International Conference on Computing Communication and Networking Technologies (ICCCNT)</a:t>
            </a:r>
            <a:r>
              <a:rPr lang="en-US" sz="1200" dirty="0"/>
              <a:t>. IEEE, 2023.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Ahmad, Zeeshan, et al. "ECG heartbeat classification using multimodal fusion." </a:t>
            </a:r>
            <a:r>
              <a:rPr lang="en-US" sz="1200" i="1" dirty="0"/>
              <a:t>IEEE Access</a:t>
            </a:r>
            <a:r>
              <a:rPr lang="en-US" sz="1200" dirty="0"/>
              <a:t> 9 (2021): 100615-100626.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/>
              <a:t>Gill, </a:t>
            </a:r>
            <a:r>
              <a:rPr lang="en-US" sz="1200" dirty="0" err="1"/>
              <a:t>Kanwarpartap</a:t>
            </a:r>
            <a:r>
              <a:rPr lang="en-US" sz="1200" dirty="0"/>
              <a:t> Singh, Vatsala Anand, and Rupesh Gupta. "Arrhythmia classification using </a:t>
            </a:r>
            <a:r>
              <a:rPr lang="en-US" sz="1200" dirty="0" err="1"/>
              <a:t>ecg</a:t>
            </a:r>
            <a:r>
              <a:rPr lang="en-US" sz="1200" dirty="0"/>
              <a:t> image dataset using machine learning approach on densenet121 model." </a:t>
            </a:r>
            <a:r>
              <a:rPr lang="en-US" sz="1200" i="1" dirty="0"/>
              <a:t>2023 14th International Conference on Computing Communication and Networking Technologies (ICCCNT)</a:t>
            </a:r>
            <a:r>
              <a:rPr lang="en-US" sz="1200" dirty="0"/>
              <a:t>. IEEE, 2023.</a:t>
            </a:r>
            <a:endParaRPr lang="en-US" sz="12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84515" y="1817697"/>
            <a:ext cx="349807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latin typeface="Arial Narrow" panose="020B0606020202030204" pitchFamily="34" charset="0"/>
              </a:rPr>
              <a:t>Thank You!</a:t>
            </a:r>
            <a:endParaRPr lang="en-US" sz="4400" dirty="0">
              <a:latin typeface="Arial Narrow" panose="020B0606020202030204" pitchFamily="34" charset="0"/>
            </a:endParaRPr>
          </a:p>
          <a:p>
            <a:pPr algn="ctr"/>
            <a:r>
              <a:rPr lang="en-US" sz="4800" dirty="0">
                <a:latin typeface="Arial Narrow" panose="020B0606020202030204" pitchFamily="34" charset="0"/>
              </a:rPr>
              <a:t>Any Question?</a:t>
            </a:r>
            <a:endParaRPr lang="en-US" sz="4800" dirty="0">
              <a:latin typeface="Arial Narrow" panose="020B0606020202030204" pitchFamily="34" charset="0"/>
            </a:endParaRPr>
          </a:p>
        </p:txBody>
      </p:sp>
      <p:grpSp>
        <p:nvGrpSpPr>
          <p:cNvPr id="4" name="Google Shape;4945;p60"/>
          <p:cNvGrpSpPr/>
          <p:nvPr/>
        </p:nvGrpSpPr>
        <p:grpSpPr>
          <a:xfrm>
            <a:off x="0" y="898634"/>
            <a:ext cx="3334859" cy="126124"/>
            <a:chOff x="3558802" y="4011244"/>
            <a:chExt cx="1866000" cy="111600"/>
          </a:xfrm>
        </p:grpSpPr>
        <p:sp>
          <p:nvSpPr>
            <p:cNvPr id="5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" name="Google Shape;4945;p60"/>
          <p:cNvGrpSpPr/>
          <p:nvPr/>
        </p:nvGrpSpPr>
        <p:grpSpPr>
          <a:xfrm>
            <a:off x="5919500" y="4451008"/>
            <a:ext cx="3224500" cy="136758"/>
            <a:chOff x="3558802" y="4011244"/>
            <a:chExt cx="1866000" cy="111600"/>
          </a:xfrm>
        </p:grpSpPr>
        <p:sp>
          <p:nvSpPr>
            <p:cNvPr id="8" name="Google Shape;4946;p60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4947;p60"/>
            <p:cNvSpPr/>
            <p:nvPr/>
          </p:nvSpPr>
          <p:spPr>
            <a:xfrm rot="5400000" flipH="1">
              <a:off x="4157232" y="3412894"/>
              <a:ext cx="111600" cy="13083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07*342"/>
  <p:tag name="TABLE_ENDDRAG_RECT" val="5*51*707*342"/>
</p:tagLst>
</file>

<file path=ppt/tags/tag2.xml><?xml version="1.0" encoding="utf-8"?>
<p:tagLst xmlns:p="http://schemas.openxmlformats.org/presentationml/2006/main">
  <p:tag name="TABLE_ENDDRAG_ORIGIN_RECT" val="707*342"/>
  <p:tag name="TABLE_ENDDRAG_RECT" val="5*51*707*342"/>
</p:tagLst>
</file>

<file path=ppt/theme/theme1.xml><?xml version="1.0" encoding="utf-8"?>
<a:theme xmlns:a="http://schemas.openxmlformats.org/drawingml/2006/main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4567</Words>
  <Application>WPS Presentation</Application>
  <PresentationFormat>On-screen Show (16:9)</PresentationFormat>
  <Paragraphs>214</Paragraphs>
  <Slides>16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Arial</vt:lpstr>
      <vt:lpstr>SimSun</vt:lpstr>
      <vt:lpstr>Wingdings</vt:lpstr>
      <vt:lpstr>Arial</vt:lpstr>
      <vt:lpstr>Raleway ExtraBold</vt:lpstr>
      <vt:lpstr>Raleway Medium</vt:lpstr>
      <vt:lpstr>Raleway</vt:lpstr>
      <vt:lpstr>Open Sans</vt:lpstr>
      <vt:lpstr>Raleway Light</vt:lpstr>
      <vt:lpstr>Nunito Light</vt:lpstr>
      <vt:lpstr>Siyam Rupali</vt:lpstr>
      <vt:lpstr>PT Sans</vt:lpstr>
      <vt:lpstr>Calibri</vt:lpstr>
      <vt:lpstr>Bebas Neue</vt:lpstr>
      <vt:lpstr>Quantico</vt:lpstr>
      <vt:lpstr>Wide Latin</vt:lpstr>
      <vt:lpstr>Arial Narrow</vt:lpstr>
      <vt:lpstr>Anaheim</vt:lpstr>
      <vt:lpstr>Times New Roman</vt:lpstr>
      <vt:lpstr>Microsoft YaHei</vt:lpstr>
      <vt:lpstr>Arial Unicode MS</vt:lpstr>
      <vt:lpstr>Succession Planning Project Proposal by Slidesgo</vt:lpstr>
      <vt:lpstr>PowerPoint 演示文稿</vt:lpstr>
      <vt:lpstr>Presentation Outline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Nafsun Kabir</cp:lastModifiedBy>
  <cp:revision>27</cp:revision>
  <dcterms:created xsi:type="dcterms:W3CDTF">2025-11-24T23:27:00Z</dcterms:created>
  <dcterms:modified xsi:type="dcterms:W3CDTF">2025-11-25T03:29:00Z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DB751BB7834C4B92B10483B0A5B63148_12</vt:lpwstr>
  </property>
  <property fmtid="{D5CDD505-2E9C-101B-9397-08002B2CF9AE}" pid="3" name="KSOProductBuildVer">
    <vt:lpwstr>1033-12.2.0.23155</vt:lpwstr>
  </property>
</Properties>
</file>