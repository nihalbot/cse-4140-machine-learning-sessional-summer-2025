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7" r:id="rId2"/>
    <p:sldId id="273" r:id="rId3"/>
    <p:sldId id="256" r:id="rId4"/>
    <p:sldId id="257" r:id="rId5"/>
    <p:sldId id="268" r:id="rId6"/>
    <p:sldId id="258" r:id="rId7"/>
    <p:sldId id="260" r:id="rId8"/>
    <p:sldId id="269" r:id="rId9"/>
    <p:sldId id="259" r:id="rId10"/>
    <p:sldId id="262" r:id="rId11"/>
    <p:sldId id="270" r:id="rId12"/>
    <p:sldId id="263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1" d="100"/>
          <a:sy n="81" d="100"/>
        </p:scale>
        <p:origin x="754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12/2/2025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12/2/2025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9348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7C8F02-B300-3067-1E90-0FEC1E49812F}"/>
              </a:ext>
            </a:extLst>
          </p:cNvPr>
          <p:cNvSpPr txBox="1"/>
          <p:nvPr/>
        </p:nvSpPr>
        <p:spPr>
          <a:xfrm>
            <a:off x="623392" y="404664"/>
            <a:ext cx="900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Bangladesh Army University of Science and Technology (BAUST)</a:t>
            </a:r>
            <a:br>
              <a:rPr lang="en-US" sz="2400" b="1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endParaRPr lang="en-SG"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1CC53-FF97-2A13-E3C6-ACD131002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08" y="449441"/>
            <a:ext cx="1623517" cy="1323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4002E7-F010-C9D9-A1C0-AF6F0E3B3E09}"/>
              </a:ext>
            </a:extLst>
          </p:cNvPr>
          <p:cNvSpPr txBox="1"/>
          <p:nvPr/>
        </p:nvSpPr>
        <p:spPr>
          <a:xfrm>
            <a:off x="800074" y="1050995"/>
            <a:ext cx="6592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Department of Computer Science and Engineering (CSE)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90771-D55C-3B29-ECC4-CD226F853FAA}"/>
              </a:ext>
            </a:extLst>
          </p:cNvPr>
          <p:cNvSpPr txBox="1"/>
          <p:nvPr/>
        </p:nvSpPr>
        <p:spPr>
          <a:xfrm>
            <a:off x="2855640" y="2060848"/>
            <a:ext cx="71287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Course Code: CSE 4140</a:t>
            </a:r>
          </a:p>
          <a:p>
            <a:r>
              <a:rPr lang="en-US" sz="2000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Course Title: Machine Learning Sessional</a:t>
            </a:r>
          </a:p>
          <a:p>
            <a:r>
              <a:rPr lang="en-US" sz="2000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Project Name:</a:t>
            </a:r>
            <a:r>
              <a:rPr lang="en-SG" sz="2000" dirty="0">
                <a:latin typeface="+mj-lt"/>
                <a:cs typeface="Times New Roman" panose="02020603050405020304" pitchFamily="18" charset="0"/>
              </a:rPr>
              <a:t>Heart Disease Prediction Using Machine Learning</a:t>
            </a:r>
            <a:endParaRPr lang="en-US" sz="2000" dirty="0">
              <a:latin typeface="+mj-lt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Date: 25-11-2025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991C-CE16-25C4-03E3-9E85EDDC3AFC}"/>
              </a:ext>
            </a:extLst>
          </p:cNvPr>
          <p:cNvSpPr txBox="1"/>
          <p:nvPr/>
        </p:nvSpPr>
        <p:spPr>
          <a:xfrm>
            <a:off x="335360" y="3960346"/>
            <a:ext cx="6094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Presented By:</a:t>
            </a:r>
            <a:endParaRPr lang="nb-NO" sz="1800" dirty="0">
              <a:latin typeface="+mj-lt"/>
              <a:ea typeface="Sans Serif Collection" panose="020B0502040504020204" pitchFamily="34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Mst</a:t>
            </a:r>
            <a:r>
              <a:rPr lang="en-US" sz="2000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. Eshrat Jahan Esha</a:t>
            </a:r>
          </a:p>
          <a:p>
            <a:r>
              <a:rPr lang="en-US" sz="2000" dirty="0">
                <a:latin typeface="+mj-lt"/>
                <a:ea typeface="Sans Serif Collection" panose="020B0502040504020204" pitchFamily="34" charset="0"/>
                <a:cs typeface="Times New Roman" panose="02020603050405020304" pitchFamily="18" charset="0"/>
              </a:rPr>
              <a:t>ID: 220201038                                           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DE4FEE-7490-A6EF-43BD-B8411674C21D}"/>
              </a:ext>
            </a:extLst>
          </p:cNvPr>
          <p:cNvSpPr txBox="1"/>
          <p:nvPr/>
        </p:nvSpPr>
        <p:spPr>
          <a:xfrm>
            <a:off x="5796457" y="3712358"/>
            <a:ext cx="609442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b="1" u="sng" dirty="0">
                <a:latin typeface="+mj-lt"/>
                <a:cs typeface="Times New Roman" panose="02020603050405020304" pitchFamily="18" charset="0"/>
              </a:rPr>
              <a:t>Presented To: </a:t>
            </a:r>
          </a:p>
          <a:p>
            <a:r>
              <a:rPr lang="en-US" sz="2000" dirty="0">
                <a:latin typeface="+mj-lt"/>
                <a:ea typeface="Roboto" panose="02000000000000000000" pitchFamily="2" charset="0"/>
                <a:cs typeface="Times New Roman" panose="02020603050405020304" pitchFamily="18" charset="0"/>
              </a:rPr>
              <a:t>COURSE TEACHER  : </a:t>
            </a:r>
            <a:r>
              <a:rPr lang="en-US" sz="2000" dirty="0" err="1">
                <a:latin typeface="+mj-lt"/>
                <a:ea typeface="Roboto" panose="02000000000000000000" pitchFamily="2" charset="0"/>
                <a:cs typeface="Times New Roman" panose="02020603050405020304" pitchFamily="18" charset="0"/>
              </a:rPr>
              <a:t>Rohul</a:t>
            </a:r>
            <a:r>
              <a:rPr lang="en-US" sz="2000" dirty="0">
                <a:latin typeface="+mj-lt"/>
                <a:ea typeface="Roboto" panose="02000000000000000000" pitchFamily="2" charset="0"/>
                <a:cs typeface="Times New Roman" panose="02020603050405020304" pitchFamily="18" charset="0"/>
              </a:rPr>
              <a:t> Amin , Nadim Reza</a:t>
            </a:r>
          </a:p>
          <a:p>
            <a:r>
              <a:rPr lang="en-US" sz="2000" dirty="0">
                <a:latin typeface="+mj-lt"/>
                <a:ea typeface="Roboto" panose="02000000000000000000" pitchFamily="2" charset="0"/>
                <a:cs typeface="Times New Roman" panose="02020603050405020304" pitchFamily="18" charset="0"/>
              </a:rPr>
              <a:t>DESIGNATION          :   Lecturer</a:t>
            </a:r>
          </a:p>
        </p:txBody>
      </p:sp>
    </p:spTree>
    <p:extLst>
      <p:ext uri="{BB962C8B-B14F-4D97-AF65-F5344CB8AC3E}">
        <p14:creationId xmlns:p14="http://schemas.microsoft.com/office/powerpoint/2010/main" val="1933386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1A83-6B3F-8929-3E7B-46A6C7D4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WHY HEART DISEASE PREDICTION?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89AE74-A996-6A8D-4AF3-2B26BA61A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613392"/>
            <a:ext cx="100584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Heart disease is one of the top causes of death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Early detection greatly improves chances of survival.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Many symptoms appear late, so early risk prediction is crucial.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Machine learning can analyze patient data more efficiently than manual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Helps doctors identify high-risk patients quickly.</a:t>
            </a:r>
          </a:p>
        </p:txBody>
      </p:sp>
    </p:spTree>
    <p:extLst>
      <p:ext uri="{BB962C8B-B14F-4D97-AF65-F5344CB8AC3E}">
        <p14:creationId xmlns:p14="http://schemas.microsoft.com/office/powerpoint/2010/main" val="113120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845" y="-1608745"/>
            <a:ext cx="4680520" cy="2589473"/>
          </a:xfrm>
        </p:spPr>
        <p:txBody>
          <a:bodyPr>
            <a:normAutofit/>
          </a:bodyPr>
          <a:lstStyle/>
          <a:p>
            <a:r>
              <a:rPr lang="en-SG" sz="3600" dirty="0">
                <a:cs typeface="Times New Roman" panose="02020603050405020304" pitchFamily="18" charset="0"/>
              </a:rPr>
              <a:t>INTRODUCTION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CB87AD-CFFF-011C-D552-51A39B1F2E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8845" y="1819563"/>
            <a:ext cx="424638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Heart disease is a leading global health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Early prediction helps reduce complications.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Machine Learning can identify patterns in medical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This project uses Logistic Regression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TabNet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cs typeface="Times New Roman" panose="02020603050405020304" pitchFamily="18" charset="0"/>
              </a:rPr>
              <a:t>OBJECTIVES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58E9E03-328D-39D9-4A03-A9D695F22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9456" y="1973629"/>
            <a:ext cx="526932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heart disease dataset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useful numerical &amp; categorical features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and Test ML models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between LR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model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D67E-388C-375F-C51A-3BC5662F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6181D-C797-273C-9CF3-EAD2C6E70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514880"/>
            <a:ext cx="8784976" cy="5258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47D5F9-B1FB-2290-E14D-750C9D24352F}"/>
              </a:ext>
            </a:extLst>
          </p:cNvPr>
          <p:cNvSpPr txBox="1"/>
          <p:nvPr/>
        </p:nvSpPr>
        <p:spPr>
          <a:xfrm>
            <a:off x="9120336" y="1916832"/>
            <a:ext cx="2520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dataset consists of 1026 samples 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402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 PREPROCESSING 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70CECF0-1E4A-BBB2-4A0F-2780D5DB9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2041882"/>
            <a:ext cx="82089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Removed missing and inconsistent values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Standardized all numerical medical features (BP, Cholesterol,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MaxHR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Applied One-Hot Encoding to all categorical features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Converted the entire dataset into numeric format</a:t>
            </a: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SG" dirty="0"/>
              <a:t>Logistic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dirty="0" err="1"/>
              <a:t>TabNet</a:t>
            </a:r>
            <a:r>
              <a:rPr lang="en-SG" dirty="0"/>
              <a:t> Classifier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65A5-0766-EDF9-02BD-1936F66D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 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7B740-4BE6-E583-8079-4E34F0FF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1834078"/>
            <a:ext cx="4032448" cy="492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1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Training Accuracy:</a:t>
            </a:r>
            <a:endParaRPr lang="en-US" dirty="0"/>
          </a:p>
          <a:p>
            <a:r>
              <a:rPr lang="en-US" dirty="0"/>
              <a:t>LR: 90%</a:t>
            </a:r>
          </a:p>
          <a:p>
            <a:r>
              <a:rPr lang="en-US" dirty="0" err="1"/>
              <a:t>TabNet</a:t>
            </a:r>
            <a:r>
              <a:rPr lang="en-US" dirty="0"/>
              <a:t>: 96%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Validation Accuracy:</a:t>
            </a:r>
            <a:endParaRPr lang="en-US" dirty="0"/>
          </a:p>
          <a:p>
            <a:r>
              <a:rPr lang="en-US" dirty="0"/>
              <a:t>LR: Lower</a:t>
            </a:r>
          </a:p>
          <a:p>
            <a:r>
              <a:rPr lang="en-US" dirty="0" err="1"/>
              <a:t>TabNet</a:t>
            </a:r>
            <a:r>
              <a:rPr lang="en-US" dirty="0"/>
              <a:t>: More stable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Test Accuracy:</a:t>
            </a:r>
            <a:endParaRPr lang="en-US" dirty="0"/>
          </a:p>
          <a:p>
            <a:r>
              <a:rPr lang="en-US" dirty="0"/>
              <a:t>LR: 80%</a:t>
            </a:r>
          </a:p>
          <a:p>
            <a:r>
              <a:rPr lang="en-US" dirty="0" err="1"/>
              <a:t>TabNet</a:t>
            </a:r>
            <a:r>
              <a:rPr lang="en-US" dirty="0"/>
              <a:t>: 94%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FUTURE WORK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52845-ECC5-E12E-CD0E-599039DFA284}"/>
              </a:ext>
            </a:extLst>
          </p:cNvPr>
          <p:cNvSpPr txBox="1"/>
          <p:nvPr/>
        </p:nvSpPr>
        <p:spPr>
          <a:xfrm>
            <a:off x="1066800" y="1772817"/>
            <a:ext cx="834156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2000" dirty="0"/>
              <a:t>Use larger and more diverse datasets to make the model more robust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000" dirty="0"/>
              <a:t>Integrate additional features such as lifestyle, genetics, diet, exercise, and stress levels.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000" dirty="0"/>
              <a:t>Use real-time data from wearable devices for early detection.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000" dirty="0"/>
              <a:t>Periodically retrain and monitor the model to adapt to new data.</a:t>
            </a:r>
          </a:p>
          <a:p>
            <a:pPr marL="400050" indent="-400050">
              <a:buFont typeface="+mj-lt"/>
              <a:buAutoNum type="roman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982F-2A19-DFB5-7B3C-B0AE677A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D46010-30BF-CC57-6F68-9649AD3B1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916832"/>
            <a:ext cx="521662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ML improves heart disease prediction accuracy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Statistical feature selection boosts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outperformed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84265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SUMMARY OF RELATED WORK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4365AA-1EC1-F032-1CBF-8152CCB88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55638"/>
              </p:ext>
            </p:extLst>
          </p:nvPr>
        </p:nvGraphicFramePr>
        <p:xfrm>
          <a:off x="2639616" y="2204864"/>
          <a:ext cx="5717540" cy="398564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29385">
                  <a:extLst>
                    <a:ext uri="{9D8B030D-6E8A-4147-A177-3AD203B41FA5}">
                      <a16:colId xmlns:a16="http://schemas.microsoft.com/office/drawing/2014/main" val="2095373078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405330735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636023817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2827618830"/>
                    </a:ext>
                  </a:extLst>
                </a:gridCol>
              </a:tblGrid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Paper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Dataset Used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Class Type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Methodology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8159471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Paper 1: Logistic Regression for Heart Disease Classification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Dataset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/ No Heart Disease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Basic preprocessing, Logistic Regression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9033337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Paper 2: Decision Tree-Based Heart Disease Detection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UCI Heart Disease Dataset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/ No Heart Disease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Decision Tree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6034549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Paper 3: Machine Learning Algorithms for Heart Disease Detection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Kaggle Heart Disease Dataset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/ No Heart Disease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KNN, Logistic Regression, SVM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8693491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Paper 4: Random Forest for Heart Disease Prediction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Dataset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/ No Heart Disease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Random Forest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8062555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Paper 5: XGBoost in Medical Data Classification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Engineered Cardiac Features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>
                          <a:effectLst/>
                        </a:rPr>
                        <a:t>Heart Disease / No Heart Disease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100" dirty="0" err="1">
                          <a:effectLst/>
                        </a:rPr>
                        <a:t>XGBoost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076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7102-8A60-4F13-E367-D17BC8B9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5A68A-B71E-E62C-0C9D-24D774C62CA4}"/>
              </a:ext>
            </a:extLst>
          </p:cNvPr>
          <p:cNvSpPr txBox="1"/>
          <p:nvPr/>
        </p:nvSpPr>
        <p:spPr>
          <a:xfrm>
            <a:off x="623392" y="1700808"/>
            <a:ext cx="11305256" cy="3850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M. A. Haq, S. S. Islam, and M. Rahman, “K-Nearest </a:t>
            </a:r>
            <a:r>
              <a:rPr lang="en-SG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Neighbors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based diagnosis of heart disease using clinical features,” </a:t>
            </a:r>
            <a:r>
              <a:rPr lang="en-SG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Biomedical Research Journal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28, no. 4, pp. 236–244, 2017.</a:t>
            </a:r>
            <a:endParaRPr lang="en-SG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D. Kumar and R. Goel, “Heart disease prediction using Random Forest classifier,” </a:t>
            </a:r>
            <a:r>
              <a:rPr lang="en-SG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Procedia Computer Science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132, pp. 1253–1262, 2019.</a:t>
            </a:r>
            <a:endParaRPr lang="en-SG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R. Gupta, P. Sinha, and A. Verma, “Efficient cardiovascular risk prediction using </a:t>
            </a:r>
            <a:r>
              <a:rPr lang="en-SG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,” </a:t>
            </a:r>
            <a:r>
              <a:rPr lang="en-SG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Access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8, pp. 153238–153247, 2020.</a:t>
            </a:r>
            <a:endParaRPr lang="en-SG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D. W. Aha and M. K. Tan, “</a:t>
            </a:r>
            <a:r>
              <a:rPr lang="en-SG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Analyzing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Cleveland Heart Disease Dataset using Logistic Regression,” </a:t>
            </a:r>
            <a:r>
              <a:rPr lang="en-SG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Medical Informatics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115, pp. 45–52, 2018.</a:t>
            </a:r>
            <a:endParaRPr lang="en-SG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P. Sharma, K. Gupta, and S. Singh, “Statistical feature selection for medical datasets using Chi-square, ANOVA, and Mutual Information,” </a:t>
            </a:r>
            <a:r>
              <a:rPr lang="en-SG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Health Informatics</a:t>
            </a: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12, no. 2, pp. 112–120, 2016.</a:t>
            </a:r>
            <a:endParaRPr lang="en-SG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pp. 321–357, 2002.</a:t>
            </a:r>
            <a:endParaRPr lang="en-SG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63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C0733-4D00-8F49-A44D-F0A48BD72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2" y="94320"/>
            <a:ext cx="12000656" cy="666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6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280</TotalTime>
  <Words>672</Words>
  <Application>Microsoft Office PowerPoint</Application>
  <PresentationFormat>Widescreen</PresentationFormat>
  <Paragraphs>96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Franklin Gothic Medium</vt:lpstr>
      <vt:lpstr>Times New Roman</vt:lpstr>
      <vt:lpstr>Wingdings</vt:lpstr>
      <vt:lpstr>Medical Design 16x9</vt:lpstr>
      <vt:lpstr>PowerPoint Presentation</vt:lpstr>
      <vt:lpstr>WHY HEART DISEASE PREDICTION?</vt:lpstr>
      <vt:lpstr>INTRODUCTION</vt:lpstr>
      <vt:lpstr>OBJECTIVES</vt:lpstr>
      <vt:lpstr>DATASET</vt:lpstr>
      <vt:lpstr>DATA PREPROCESSING </vt:lpstr>
      <vt:lpstr>MODEL</vt:lpstr>
      <vt:lpstr> METHODOLOGY</vt:lpstr>
      <vt:lpstr>RESULT ANALYSIS</vt:lpstr>
      <vt:lpstr>FUTURE WORK</vt:lpstr>
      <vt:lpstr>CONCLUSION</vt:lpstr>
      <vt:lpstr>SUMMARY OF RELATED WORK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Eshrat Jahan Esha</dc:creator>
  <cp:lastModifiedBy>Eshrat Jahan Esha</cp:lastModifiedBy>
  <cp:revision>7</cp:revision>
  <dcterms:created xsi:type="dcterms:W3CDTF">2025-11-24T11:26:46Z</dcterms:created>
  <dcterms:modified xsi:type="dcterms:W3CDTF">2025-12-02T14:03:48Z</dcterms:modified>
</cp:coreProperties>
</file>