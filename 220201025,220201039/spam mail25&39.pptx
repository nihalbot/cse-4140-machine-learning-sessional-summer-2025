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4"/>
  </p:notesMasterIdLst>
  <p:sldIdLst>
    <p:sldId id="259" r:id="rId2"/>
    <p:sldId id="258" r:id="rId3"/>
    <p:sldId id="261" r:id="rId4"/>
    <p:sldId id="264" r:id="rId5"/>
    <p:sldId id="267" r:id="rId6"/>
    <p:sldId id="311" r:id="rId7"/>
    <p:sldId id="302" r:id="rId8"/>
    <p:sldId id="312" r:id="rId9"/>
    <p:sldId id="315" r:id="rId10"/>
    <p:sldId id="314" r:id="rId11"/>
    <p:sldId id="308" r:id="rId12"/>
    <p:sldId id="31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53FB"/>
    <a:srgbClr val="6487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41" autoAdjust="0"/>
  </p:normalViewPr>
  <p:slideViewPr>
    <p:cSldViewPr snapToGrid="0" showGuides="1">
      <p:cViewPr varScale="1">
        <p:scale>
          <a:sx n="78" d="100"/>
          <a:sy n="78" d="100"/>
        </p:scale>
        <p:origin x="854" y="6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9ACD3-A52F-4813-AFE1-E1D48E07862D}" type="datetimeFigureOut">
              <a:rPr lang="en-SG" smtClean="0"/>
              <a:t>2/12/2025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E3E7D5-FAD3-4D11-8310-CE52AE9BB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668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3E7D5-FAD3-4D11-8310-CE52AE9BBD60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1371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E3E7D5-FAD3-4D11-8310-CE52AE9BBD60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34173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C949-A039-4F2B-B4FD-8CD798605373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1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919E-6C85-42A3-88B9-349222349EEA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00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D590-D23D-4FC9-885D-EAC0964C7487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6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527CE-E4E9-4922-868D-E7785E4BEB4C}" type="datetime3">
              <a:rPr lang="en-US" smtClean="0"/>
              <a:t>2 December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3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31B42-C855-40A4-A882-C88DF1822B87}" type="datetime3">
              <a:rPr lang="en-US" smtClean="0"/>
              <a:t>2 December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58876-1FAA-4102-87F9-FE30310D304C}" type="datetime3">
              <a:rPr lang="en-US" smtClean="0"/>
              <a:t>2 December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84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D076E-D94A-48C8-9510-A8AECDA884C7}" type="datetime3">
              <a:rPr lang="en-US" smtClean="0"/>
              <a:t>2 December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0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FB37D-FDF0-4462-B6DA-5745128AE0DF}" type="datetime3">
              <a:rPr lang="en-US" smtClean="0"/>
              <a:t>2 December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8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52454-330A-4233-8935-E6FC1E86C3E5}" type="datetime3">
              <a:rPr lang="en-US" smtClean="0"/>
              <a:t>2 December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53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47ACE-7E1B-4F25-8547-A171B4E7F416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BD4CC-D9F4-4CE9-B302-31E7D1FE257E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5498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2A716-B34C-4931-9633-D80DDF4B9037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92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9C0F4-0D79-4D22-8895-1826A4EAC0F9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0991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6651-0976-436A-9D18-00041BF636D6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71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F995-C27F-4911-B9A6-45F20E8FF5B1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05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0FADB-12FC-4B7A-B422-34894159EDA6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3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373EB-61C8-49EF-B8A1-34B9C53B96B6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Fabric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B46E7E-927B-4C4D-88C7-3582B4FC2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2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E99D-74C0-4221-A1D3-B814521A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285" y="286131"/>
            <a:ext cx="5025375" cy="1320800"/>
          </a:xfrm>
        </p:spPr>
        <p:txBody>
          <a:bodyPr>
            <a:noAutofit/>
          </a:bodyPr>
          <a:lstStyle/>
          <a:p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4400" dirty="0">
              <a:latin typeface="Sens serif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E6686-7A74-20DC-CB29-8109A7C20840}"/>
              </a:ext>
            </a:extLst>
          </p:cNvPr>
          <p:cNvSpPr txBox="1"/>
          <p:nvPr/>
        </p:nvSpPr>
        <p:spPr>
          <a:xfrm>
            <a:off x="1101670" y="212491"/>
            <a:ext cx="110903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Bangladesh Army University of Science and Technology (BAUST)</a:t>
            </a:r>
            <a:br>
              <a:rPr lang="en-US" sz="3200" b="1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sz="3200" b="1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Saidpur Cantonment, Nilphamari</a:t>
            </a:r>
            <a:endParaRPr lang="en-SG" sz="3200" b="1" dirty="0">
              <a:latin typeface="Sens serif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8F8237-39D0-455D-8A16-525DEEE201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09" y="164143"/>
            <a:ext cx="975561" cy="1000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77A53C-28A0-47DC-A2F8-FE544A001B56}"/>
              </a:ext>
            </a:extLst>
          </p:cNvPr>
          <p:cNvSpPr txBox="1"/>
          <p:nvPr/>
        </p:nvSpPr>
        <p:spPr>
          <a:xfrm>
            <a:off x="281355" y="1399823"/>
            <a:ext cx="1191064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</a:t>
            </a:r>
            <a:r>
              <a:rPr lang="en-US" sz="3000" b="1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Department of Computer Science and Engineering (CSE)</a:t>
            </a:r>
          </a:p>
          <a:p>
            <a:endParaRPr lang="en-US" sz="2000" b="1" dirty="0">
              <a:latin typeface="Sens serif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                </a:t>
            </a:r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Course Code: CSE 4140</a:t>
            </a:r>
          </a:p>
          <a:p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Course Title: Machine Learning Sessional</a:t>
            </a:r>
          </a:p>
          <a:p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Project Title: Spam Email Detection Using Machine Learning</a:t>
            </a:r>
          </a:p>
          <a:p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</a:t>
            </a:r>
          </a:p>
          <a:p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              Date: 25/11/2025</a:t>
            </a:r>
          </a:p>
          <a:p>
            <a:r>
              <a:rPr lang="en-US" sz="32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</a:t>
            </a:r>
            <a:r>
              <a:rPr lang="en-US" sz="3200" b="1" u="sng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Presented By:</a:t>
            </a:r>
            <a:r>
              <a:rPr lang="en-US" sz="3200" b="1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        </a:t>
            </a:r>
            <a:r>
              <a:rPr lang="en-US" sz="3200" b="1" u="sng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Supervised By:  </a:t>
            </a:r>
          </a:p>
          <a:p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Nusrat Jahan  (220201025)                                                                      Engr. </a:t>
            </a:r>
            <a:r>
              <a:rPr lang="nb-NO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Rohul Amin</a:t>
            </a:r>
          </a:p>
          <a:p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                                                                    lecturer</a:t>
            </a:r>
          </a:p>
          <a:p>
            <a:r>
              <a:rPr lang="en-US" sz="3200" b="1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</a:t>
            </a:r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Maisha Tasfia Hasan(220201039</a:t>
            </a:r>
            <a:r>
              <a:rPr lang="en-US" sz="32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                                          </a:t>
            </a:r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Nadim Reza </a:t>
            </a:r>
          </a:p>
          <a:p>
            <a:r>
              <a:rPr lang="en-US" sz="2400" dirty="0">
                <a:latin typeface="Sens 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                                                                                                                        Lecturer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8A63DA-3D1E-BE4F-D881-F5E46699A9E8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9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4A92662F-835B-189E-C76A-639BB7166575}"/>
              </a:ext>
            </a:extLst>
          </p:cNvPr>
          <p:cNvSpPr/>
          <p:nvPr/>
        </p:nvSpPr>
        <p:spPr>
          <a:xfrm>
            <a:off x="447696" y="333559"/>
            <a:ext cx="2147944" cy="716436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4000" b="1" dirty="0">
                <a:latin typeface="Sans Seriif"/>
                <a:cs typeface="Times New Roman" panose="02020603050405020304" pitchFamily="18" charset="0"/>
              </a:rPr>
              <a:t>Outline</a:t>
            </a:r>
            <a:endParaRPr lang="en-US" sz="2000" b="1" dirty="0">
              <a:latin typeface="Sans Seriif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CF6D27-B1E5-DD57-0BB4-24A520F3CCEB}"/>
              </a:ext>
            </a:extLst>
          </p:cNvPr>
          <p:cNvSpPr txBox="1"/>
          <p:nvPr/>
        </p:nvSpPr>
        <p:spPr>
          <a:xfrm>
            <a:off x="982144" y="1669120"/>
            <a:ext cx="36399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SG" sz="2400" dirty="0">
                <a:latin typeface="Sans Seriif"/>
              </a:rPr>
              <a:t>Introduction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SG" sz="2400" dirty="0">
                <a:latin typeface="Sans Seriif"/>
              </a:rPr>
              <a:t>Objectives of the project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ans Seriif"/>
              </a:rPr>
              <a:t>Related Works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ans Seriif"/>
              </a:rPr>
              <a:t>Methodology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ans Seriif"/>
              </a:rPr>
              <a:t>Flowchart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ans Seriif"/>
              </a:rPr>
              <a:t>Output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latin typeface="Sans Seriif"/>
              </a:rPr>
              <a:t>Conclusion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SG" dirty="0">
              <a:latin typeface="Sans Seriif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SG" dirty="0">
              <a:latin typeface="Sans Seriif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SG" dirty="0">
              <a:latin typeface="Sans Seriif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SG" dirty="0">
              <a:latin typeface="Sans Seriif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BD47D0-EA90-0044-7293-1232DA86C17F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AE0ADFF4-0E7E-CDB3-F173-5F5DE0A47BA0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9E12147C-2F10-8BAA-FEDF-8DBC87B79BD9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32D95E4F-CB3C-4C8A-F250-9FF820F5438A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2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13" name="Picture 12" descr="A no spam sign&#10;&#10;AI-generated content may be incorrect.">
            <a:extLst>
              <a:ext uri="{FF2B5EF4-FFF2-40B4-BE49-F238E27FC236}">
                <a16:creationId xmlns:a16="http://schemas.microsoft.com/office/drawing/2014/main" id="{AAF8B48A-C28C-D35E-283F-F94752D98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956" y="209058"/>
            <a:ext cx="4837573" cy="409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3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E99D-74C0-4221-A1D3-B814521A3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7149"/>
            <a:ext cx="2586976" cy="737419"/>
          </a:xfrm>
        </p:spPr>
        <p:txBody>
          <a:bodyPr>
            <a:noAutofit/>
          </a:bodyPr>
          <a:lstStyle/>
          <a:p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ns Seriif"/>
                <a:cs typeface="Times New Roman" panose="02020603050405020304" pitchFamily="18" charset="0"/>
              </a:rPr>
            </a:br>
            <a:endParaRPr lang="en-US" dirty="0">
              <a:latin typeface="Sans Seriif"/>
              <a:cs typeface="Times New Roman" panose="02020603050405020304" pitchFamily="18" charset="0"/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DB4D138A-435A-41BB-961A-A891142D3BAD}"/>
              </a:ext>
            </a:extLst>
          </p:cNvPr>
          <p:cNvSpPr/>
          <p:nvPr/>
        </p:nvSpPr>
        <p:spPr>
          <a:xfrm>
            <a:off x="475314" y="426013"/>
            <a:ext cx="3498992" cy="95711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ans Seriif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F4759-EA2C-8D62-51C4-EA718C021258}"/>
              </a:ext>
            </a:extLst>
          </p:cNvPr>
          <p:cNvSpPr txBox="1"/>
          <p:nvPr/>
        </p:nvSpPr>
        <p:spPr>
          <a:xfrm>
            <a:off x="475314" y="2054046"/>
            <a:ext cx="6096207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Sans Seriif"/>
                <a:ea typeface="Times New Roman" panose="02020603050405020304" pitchFamily="18" charset="0"/>
                <a:cs typeface="Times New Roman" panose="02020603050405020304" pitchFamily="18" charset="0"/>
              </a:rPr>
              <a:t> Spam emails are a growing problem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Sans Seriif"/>
                <a:ea typeface="Times New Roman" panose="02020603050405020304" pitchFamily="18" charset="0"/>
                <a:cs typeface="Times New Roman" panose="02020603050405020304" pitchFamily="18" charset="0"/>
              </a:rPr>
              <a:t>Manual filtering is not feasible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Sans Seriif"/>
                <a:ea typeface="Times New Roman" panose="02020603050405020304" pitchFamily="18" charset="0"/>
                <a:cs typeface="Times New Roman" panose="02020603050405020304" pitchFamily="18" charset="0"/>
              </a:rPr>
              <a:t> Machine learning offers an efficient solution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Sans Seriif"/>
                <a:ea typeface="Times New Roman" panose="02020603050405020304" pitchFamily="18" charset="0"/>
                <a:cs typeface="Times New Roman" panose="02020603050405020304" pitchFamily="18" charset="0"/>
              </a:rPr>
              <a:t> Features of emails can be used for classification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E965B7-D25E-DFA6-6AC9-2C6492C0CD9F}"/>
              </a:ext>
            </a:extLst>
          </p:cNvPr>
          <p:cNvSpPr txBox="1"/>
          <p:nvPr/>
        </p:nvSpPr>
        <p:spPr>
          <a:xfrm>
            <a:off x="6472128" y="5038944"/>
            <a:ext cx="5049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/>
              <a:t>Fig-1: </a:t>
            </a:r>
            <a:r>
              <a:rPr lang="en-SG" dirty="0"/>
              <a:t>Email filtering 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9F2740-5B47-4458-9B63-10C490845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413" y="1502265"/>
            <a:ext cx="5618480" cy="34272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04B6F47-CB08-E8FB-0598-8038F1A92D42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08428F67-3165-83F1-5E4E-4560C5A23D7A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7F179F71-16D8-BD50-550E-A24840A30301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4AD7AEB7-F647-49C1-5AE3-8DEC4ED6B289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3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51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E0F0D84D-232E-4AD4-90D0-FA7391C4920B}"/>
              </a:ext>
            </a:extLst>
          </p:cNvPr>
          <p:cNvSpPr/>
          <p:nvPr/>
        </p:nvSpPr>
        <p:spPr>
          <a:xfrm>
            <a:off x="538679" y="524641"/>
            <a:ext cx="3269496" cy="89326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4400" b="1" dirty="0">
                <a:latin typeface="Sans Seriif"/>
              </a:rPr>
              <a:t>Objectives</a:t>
            </a:r>
            <a:r>
              <a:rPr lang="en-US" sz="4400" dirty="0">
                <a:latin typeface="Sans Seriif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C34B8-D4FE-576C-2179-6CE2CB8252ED}"/>
              </a:ext>
            </a:extLst>
          </p:cNvPr>
          <p:cNvSpPr txBox="1"/>
          <p:nvPr/>
        </p:nvSpPr>
        <p:spPr>
          <a:xfrm>
            <a:off x="707923" y="2027590"/>
            <a:ext cx="11001468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preprocess the email dataset by cleaning text, removing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converting words into numerical features (TF-IDF).</a:t>
            </a:r>
          </a:p>
          <a:p>
            <a:pPr marL="39600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machine learning models (like Naive Bayes, Logistic Regression, SVM, etc.) on the processed email data.</a:t>
            </a:r>
          </a:p>
          <a:p>
            <a:pPr marL="39600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performance of the models using accuracy, precision, recall, and confusion matrix to check which model works best.</a:t>
            </a:r>
          </a:p>
          <a:p>
            <a:pPr marL="39600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prediction system that can automatically classify new emails as Spam or Ham based on the trained model.</a:t>
            </a:r>
            <a:endParaRPr lang="en-SG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923516-DB55-D554-B5E7-9A554AB866FF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DB48BBAD-5B87-7F62-C9DD-F53DBF70D539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B492DFFC-2B03-C957-7BC7-9FE817A484A0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040D132E-28C1-45C9-FDD2-4F52D02F939F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4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13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DC3BC279-245D-426E-A21E-FB55978E8146}"/>
              </a:ext>
            </a:extLst>
          </p:cNvPr>
          <p:cNvSpPr/>
          <p:nvPr/>
        </p:nvSpPr>
        <p:spPr>
          <a:xfrm>
            <a:off x="497840" y="420880"/>
            <a:ext cx="3968684" cy="74752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Sans Seriif"/>
                <a:cs typeface="Times New Roman" panose="02020603050405020304" pitchFamily="18" charset="0"/>
              </a:rPr>
              <a:t>Related Works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E64941A-3663-405A-B1F1-A8FA68B58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8249442"/>
              </p:ext>
            </p:extLst>
          </p:nvPr>
        </p:nvGraphicFramePr>
        <p:xfrm>
          <a:off x="566666" y="1696468"/>
          <a:ext cx="11512909" cy="412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522">
                  <a:extLst>
                    <a:ext uri="{9D8B030D-6E8A-4147-A177-3AD203B41FA5}">
                      <a16:colId xmlns:a16="http://schemas.microsoft.com/office/drawing/2014/main" val="3062529974"/>
                    </a:ext>
                  </a:extLst>
                </a:gridCol>
                <a:gridCol w="2867425">
                  <a:extLst>
                    <a:ext uri="{9D8B030D-6E8A-4147-A177-3AD203B41FA5}">
                      <a16:colId xmlns:a16="http://schemas.microsoft.com/office/drawing/2014/main" val="1614232090"/>
                    </a:ext>
                  </a:extLst>
                </a:gridCol>
                <a:gridCol w="1286133">
                  <a:extLst>
                    <a:ext uri="{9D8B030D-6E8A-4147-A177-3AD203B41FA5}">
                      <a16:colId xmlns:a16="http://schemas.microsoft.com/office/drawing/2014/main" val="53922677"/>
                    </a:ext>
                  </a:extLst>
                </a:gridCol>
                <a:gridCol w="2750345">
                  <a:extLst>
                    <a:ext uri="{9D8B030D-6E8A-4147-A177-3AD203B41FA5}">
                      <a16:colId xmlns:a16="http://schemas.microsoft.com/office/drawing/2014/main" val="967615720"/>
                    </a:ext>
                  </a:extLst>
                </a:gridCol>
                <a:gridCol w="1862295">
                  <a:extLst>
                    <a:ext uri="{9D8B030D-6E8A-4147-A177-3AD203B41FA5}">
                      <a16:colId xmlns:a16="http://schemas.microsoft.com/office/drawing/2014/main" val="1155739796"/>
                    </a:ext>
                  </a:extLst>
                </a:gridCol>
                <a:gridCol w="2196189">
                  <a:extLst>
                    <a:ext uri="{9D8B030D-6E8A-4147-A177-3AD203B41FA5}">
                      <a16:colId xmlns:a16="http://schemas.microsoft.com/office/drawing/2014/main" val="3320103893"/>
                    </a:ext>
                  </a:extLst>
                </a:gridCol>
              </a:tblGrid>
              <a:tr h="6169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Title of Research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Author &amp; year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Method Used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Evaluation Parameters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Remarks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368972"/>
                  </a:ext>
                </a:extLst>
              </a:tr>
              <a:tr h="1056685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Email Spam detection using Support Vector Machine and Latent Semantic Indexing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Renuka and Visalakshi (2014)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Support vector Machine (SVM) with Latent Semantic Indexing (LSI)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Precision, recall and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Reported better </a:t>
                      </a:r>
                    </a:p>
                    <a:p>
                      <a:r>
                        <a:rPr lang="en-US" sz="1600" dirty="0"/>
                        <a:t>results in terms of precision.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36027"/>
                  </a:ext>
                </a:extLst>
              </a:tr>
              <a:tr h="1114823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Spam Mail Detection using Naïve Bayes, KNN Algorithm and reverse DBSCAN algorithm.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Harisin ghane yet al. (2014)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Naïve Bayes, KNN algorithm And Reverse DBSCAN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Precision, specificity, </a:t>
                      </a:r>
                    </a:p>
                    <a:p>
                      <a:r>
                        <a:rPr lang="it-IT" sz="1600" dirty="0"/>
                        <a:t>sensitivi</a:t>
                      </a:r>
                      <a:r>
                        <a:rPr lang="en-US" sz="1600" dirty="0"/>
                        <a:t>ty and 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Reported high precision but of very slow performance, was able to detect image scan.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463486"/>
                  </a:ext>
                </a:extLst>
              </a:tr>
              <a:tr h="1139979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Spam Email Classification using Term Frequency Inverse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Moham ad and Selamat (2015)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Term Frequency Inverse and Rough Set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Accuracy,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Performed well in terms of feature extraction.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15468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EE8FD2-B851-4482-8D47-CA66BC7A3BBE}"/>
              </a:ext>
            </a:extLst>
          </p:cNvPr>
          <p:cNvSpPr txBox="1"/>
          <p:nvPr/>
        </p:nvSpPr>
        <p:spPr>
          <a:xfrm>
            <a:off x="4816597" y="1190922"/>
            <a:ext cx="5448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Table1:</a:t>
            </a:r>
            <a:r>
              <a:rPr lang="en-US" dirty="0"/>
              <a:t> Previous Works of Spam Email Detection.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84F21D-7B0B-B13D-4BD3-2048FB934650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F03CB208-5CB2-4D0B-A5B6-0BC569A80ACD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985E6FD0-7A50-1FBF-946B-50015ED32BD5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A1BE060C-B443-5FC9-EE8B-1A8CAF901468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5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043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2256F4-2784-E138-63A4-CE2CD8C4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474222F-7B94-BF30-9FBF-22FF6764ED5D}"/>
              </a:ext>
            </a:extLst>
          </p:cNvPr>
          <p:cNvSpPr/>
          <p:nvPr/>
        </p:nvSpPr>
        <p:spPr>
          <a:xfrm>
            <a:off x="411455" y="320952"/>
            <a:ext cx="3547803" cy="79849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b="1" dirty="0">
                <a:latin typeface="Sens serif"/>
              </a:rPr>
              <a:t>Methodology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064B4-7B33-5C99-C0E9-291851B00F58}"/>
              </a:ext>
            </a:extLst>
          </p:cNvPr>
          <p:cNvSpPr txBox="1"/>
          <p:nvPr/>
        </p:nvSpPr>
        <p:spPr>
          <a:xfrm>
            <a:off x="5429146" y="6073897"/>
            <a:ext cx="5803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Fig-2: </a:t>
            </a:r>
            <a:r>
              <a:rPr lang="en-S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Methodology of Spam Mail Detection.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6D9AF0-6EBE-9369-E775-B29642739A05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839F0305-5DAA-25E6-D60A-7496D86DE126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12979073-CFE6-4BF6-AA0F-72C8A273ABD9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C5A8FF3B-9D49-8427-876E-2254A1FF6EAD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6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3B8FB3-B80B-4EC1-AEA2-A419B9FE7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959" y="84303"/>
            <a:ext cx="6635856" cy="583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5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4E8F67-9F93-E9DE-9150-36EF9F77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74C3083E-29A4-20A8-FE9A-6625017FBFC5}"/>
              </a:ext>
            </a:extLst>
          </p:cNvPr>
          <p:cNvSpPr/>
          <p:nvPr/>
        </p:nvSpPr>
        <p:spPr>
          <a:xfrm>
            <a:off x="438573" y="359369"/>
            <a:ext cx="2807055" cy="79849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ns serif"/>
                <a:ea typeface="+mn-ea"/>
                <a:cs typeface="+mn-cs"/>
              </a:rPr>
              <a:t>Flowchart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82D12F-AE17-C9EC-4E68-317F54A2FFDB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B71D1C63-D9DB-B1F0-D8D6-7B0312F4DC69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25F2D663-F179-EB28-48ED-3A06D23B2E2B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F0F0572D-09AB-FA02-2C7D-A8B41A559E30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7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CB5CE2-87CE-6F58-A3DC-4E68AC719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045" y="231284"/>
            <a:ext cx="4810923" cy="57257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2D136C-6DC7-E8D0-E8FD-37DDFFC0F313}"/>
              </a:ext>
            </a:extLst>
          </p:cNvPr>
          <p:cNvSpPr txBox="1"/>
          <p:nvPr/>
        </p:nvSpPr>
        <p:spPr>
          <a:xfrm>
            <a:off x="5038706" y="5907847"/>
            <a:ext cx="492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Fig-3: Flowchart of spam email detection.</a:t>
            </a:r>
          </a:p>
        </p:txBody>
      </p:sp>
    </p:spTree>
    <p:extLst>
      <p:ext uri="{BB962C8B-B14F-4D97-AF65-F5344CB8AC3E}">
        <p14:creationId xmlns:p14="http://schemas.microsoft.com/office/powerpoint/2010/main" val="392216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4E8F67-9F93-E9DE-9150-36EF9F77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56731-83D4-42F0-9640-962ABC088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904" y="2358932"/>
            <a:ext cx="4139091" cy="2682554"/>
          </a:xfrm>
          <a:prstGeom prst="rect">
            <a:avLst/>
          </a:prstGeom>
        </p:spPr>
      </p:pic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74C3083E-29A4-20A8-FE9A-6625017FBFC5}"/>
              </a:ext>
            </a:extLst>
          </p:cNvPr>
          <p:cNvSpPr/>
          <p:nvPr/>
        </p:nvSpPr>
        <p:spPr>
          <a:xfrm>
            <a:off x="28892" y="73695"/>
            <a:ext cx="4751733" cy="672548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ns serif"/>
                <a:ea typeface="+mn-ea"/>
                <a:cs typeface="+mn-cs"/>
              </a:rPr>
              <a:t>Output(visualization)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E4E302-E272-4EF0-9474-CC052ED4C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94" y="134161"/>
            <a:ext cx="2812148" cy="31362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C3CD8E-2925-4729-907F-A1CAAAA79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634" y="5028213"/>
            <a:ext cx="4413178" cy="9350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2FF92F5-F96F-4B04-9C5D-20C2BAD48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78" y="774876"/>
            <a:ext cx="4744439" cy="4019985"/>
          </a:xfrm>
          <a:prstGeom prst="rect">
            <a:avLst/>
          </a:prstGeom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74886E81-6C61-412B-A0B3-00D79B16A1FF}"/>
              </a:ext>
            </a:extLst>
          </p:cNvPr>
          <p:cNvSpPr txBox="1"/>
          <p:nvPr/>
        </p:nvSpPr>
        <p:spPr>
          <a:xfrm>
            <a:off x="258807" y="4998940"/>
            <a:ext cx="241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Fig-4: </a:t>
            </a:r>
            <a:r>
              <a:rPr lang="en-US" dirty="0"/>
              <a:t>Heatmap.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5A0A0078-7C95-4255-A2B7-5ED68EF19344}"/>
              </a:ext>
            </a:extLst>
          </p:cNvPr>
          <p:cNvSpPr txBox="1"/>
          <p:nvPr/>
        </p:nvSpPr>
        <p:spPr>
          <a:xfrm>
            <a:off x="5013223" y="3356132"/>
            <a:ext cx="2337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    Fig-5: </a:t>
            </a:r>
            <a:r>
              <a:rPr lang="en-US" dirty="0"/>
              <a:t>Pie chart.</a:t>
            </a:r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03909667-3C1E-4D83-B73E-70419347501D}"/>
              </a:ext>
            </a:extLst>
          </p:cNvPr>
          <p:cNvSpPr txBox="1"/>
          <p:nvPr/>
        </p:nvSpPr>
        <p:spPr>
          <a:xfrm>
            <a:off x="3342968" y="6013431"/>
            <a:ext cx="3401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Fig-7: </a:t>
            </a:r>
            <a:r>
              <a:rPr lang="en-US" dirty="0"/>
              <a:t>Model Performance.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6EC4B5E8-E9C5-4C6A-B32B-55A19ADD7E2D}"/>
              </a:ext>
            </a:extLst>
          </p:cNvPr>
          <p:cNvSpPr txBox="1"/>
          <p:nvPr/>
        </p:nvSpPr>
        <p:spPr>
          <a:xfrm>
            <a:off x="7736499" y="5174995"/>
            <a:ext cx="472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Fig-8: </a:t>
            </a:r>
            <a:r>
              <a:rPr lang="en-US" dirty="0"/>
              <a:t>Model Performance Comparison.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DB4A0F-282A-0CAB-D495-819695AC8782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Date Placeholder 5">
            <a:extLst>
              <a:ext uri="{FF2B5EF4-FFF2-40B4-BE49-F238E27FC236}">
                <a16:creationId xmlns:a16="http://schemas.microsoft.com/office/drawing/2014/main" id="{EC15BA50-ED38-C6C6-8B2B-1CA48CA7DB1B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7BA55E20-51AC-B342-F669-889B29EE6624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0CD8C160-B114-C8C8-AB7E-931655CB0429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8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276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DE537-723C-BFAD-8EBF-17B3C242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919E-6C85-42A3-88B9-349222349EEA}" type="datetime3">
              <a:rPr lang="en-US" smtClean="0"/>
              <a:t>2 December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68455-8DE6-C395-2952-476757D9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Spam Email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68E57-6BD1-24D8-DB6D-B5CB4652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6E7E-927B-4C4D-88C7-3582B4FC2AFB}" type="slidenum">
              <a:rPr lang="en-US" smtClean="0"/>
              <a:t>9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673685-78CB-02FA-9531-D1EE65A7C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399" y="196698"/>
            <a:ext cx="4101143" cy="3091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BB7587-821F-2268-936A-690338CAF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262" y="98920"/>
            <a:ext cx="4476740" cy="2840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F81DF4-C9BF-A87A-0B09-871F73FB94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835" y="98919"/>
            <a:ext cx="3981165" cy="28405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41E6DD-AB65-E3E0-0337-45320F066B6B}"/>
              </a:ext>
            </a:extLst>
          </p:cNvPr>
          <p:cNvSpPr txBox="1"/>
          <p:nvPr/>
        </p:nvSpPr>
        <p:spPr>
          <a:xfrm>
            <a:off x="87399" y="3569515"/>
            <a:ext cx="1148516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was created based on the spam and ham emails shown on the slide.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spam list contains messages with promotional or fraudulent keywords (e.g.,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“Win a prize”, “Click now”, “Free offer”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ham list contains normal everyday messages (e.g., meeting reminders, deliveries, reports).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these two groups, the model classified the emails and generated the confusion matrix: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ham emails correctly predicted as ham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spam emails correctly predicted as spam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wrong predictions (0 false positives, 0 false negatives)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confusion matrix shows perfect classification (100% accuracy) based on the provided spam and ham email example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329905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5F1AAD-524D-9BF2-06EF-0F1CA2EE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C4985316-C8DA-ED98-D8FA-21314DD28A4D}"/>
              </a:ext>
            </a:extLst>
          </p:cNvPr>
          <p:cNvSpPr/>
          <p:nvPr/>
        </p:nvSpPr>
        <p:spPr>
          <a:xfrm>
            <a:off x="28891" y="-23618"/>
            <a:ext cx="3982669" cy="672548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prstClr val="black"/>
                </a:solidFill>
                <a:latin typeface="Sens serif"/>
              </a:rPr>
              <a:t>Model Accuracy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ns serif"/>
              <a:ea typeface="+mn-ea"/>
              <a:cs typeface="+mn-cs"/>
            </a:endParaRP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BCC20432-1C21-9A25-0538-B218B89C0EC0}"/>
              </a:ext>
            </a:extLst>
          </p:cNvPr>
          <p:cNvSpPr txBox="1"/>
          <p:nvPr/>
        </p:nvSpPr>
        <p:spPr>
          <a:xfrm>
            <a:off x="258807" y="4998940"/>
            <a:ext cx="2418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C83A1E-B074-D37D-4124-B7666B0B4B69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Date Placeholder 5">
            <a:extLst>
              <a:ext uri="{FF2B5EF4-FFF2-40B4-BE49-F238E27FC236}">
                <a16:creationId xmlns:a16="http://schemas.microsoft.com/office/drawing/2014/main" id="{0D91CBB7-069A-9FD4-963F-D60DE2E9A401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3E9943D0-E87C-8A36-6A4C-5E1E223D5D2E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29" name="Slide Number Placeholder 7">
            <a:extLst>
              <a:ext uri="{FF2B5EF4-FFF2-40B4-BE49-F238E27FC236}">
                <a16:creationId xmlns:a16="http://schemas.microsoft.com/office/drawing/2014/main" id="{DA85E529-3BBB-14E5-6E42-E8698D4F6F17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10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51091-BCB0-2546-FEE3-A3DE27F3A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37" y="1145398"/>
            <a:ext cx="5074322" cy="19127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96D0D0-D44B-91E2-1503-7C108A2C3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936" y="863697"/>
            <a:ext cx="5305063" cy="22164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A9178D-1AE7-BBCF-E30D-040428F98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8" y="3429000"/>
            <a:ext cx="4854361" cy="22099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DD48A4-5552-0EDD-EAB3-C8784CEDF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7900" y="3542512"/>
            <a:ext cx="4854361" cy="249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47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7EB315F-4871-8FB6-8505-48BFBD616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F8B7166-8337-B88D-84D8-7F191DD5502E}"/>
              </a:ext>
            </a:extLst>
          </p:cNvPr>
          <p:cNvSpPr/>
          <p:nvPr/>
        </p:nvSpPr>
        <p:spPr>
          <a:xfrm>
            <a:off x="451770" y="483596"/>
            <a:ext cx="3011295" cy="796412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400" dirty="0">
                <a:latin typeface="Sans Seriif"/>
              </a:rPr>
              <a:t> </a:t>
            </a:r>
            <a:r>
              <a:rPr lang="en-US" sz="4400" b="1" dirty="0">
                <a:latin typeface="Sans Seriif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896CF-5EAB-B762-7313-59C5054560FE}"/>
              </a:ext>
            </a:extLst>
          </p:cNvPr>
          <p:cNvSpPr txBox="1"/>
          <p:nvPr/>
        </p:nvSpPr>
        <p:spPr>
          <a:xfrm>
            <a:off x="3048798" y="2089307"/>
            <a:ext cx="10850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Sens serif"/>
              </a:rPr>
              <a:t>Spam email detection is essential for securing communication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Sens serif"/>
              </a:rPr>
              <a:t>Machine learning models can accurately identify spam emails.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latin typeface="Sens serif"/>
              </a:rPr>
              <a:t>Proper feature selection and preprocessing improve results.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1257E1-8A35-16F0-FC81-4E25FFA72335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Date Placeholder 5">
            <a:extLst>
              <a:ext uri="{FF2B5EF4-FFF2-40B4-BE49-F238E27FC236}">
                <a16:creationId xmlns:a16="http://schemas.microsoft.com/office/drawing/2014/main" id="{8FC0F548-D277-5294-3E05-B76A16EAA2E8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220F3E29-7E76-B9C1-B606-DED05B123274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9850AE31-79B7-B14C-7794-11BFBC96405C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11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87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AD92D1F-8DA0-54A3-7810-153A6B40B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6E0C26C-E08A-C594-A501-6432DCC08EEB}"/>
              </a:ext>
            </a:extLst>
          </p:cNvPr>
          <p:cNvSpPr txBox="1"/>
          <p:nvPr/>
        </p:nvSpPr>
        <p:spPr>
          <a:xfrm>
            <a:off x="2408903" y="1530022"/>
            <a:ext cx="8632722" cy="1569660"/>
          </a:xfrm>
          <a:prstGeom prst="rect">
            <a:avLst/>
          </a:prstGeom>
          <a:blipFill dpi="0" rotWithShape="1">
            <a:blip r:embed="rId2">
              <a:alphaModFix amt="0"/>
            </a:blip>
            <a:srcRect/>
            <a:tile tx="10795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Arial Black" panose="020B0A04020102020204" pitchFamily="34" charset="0"/>
              </a:rPr>
              <a:t>Thank You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01F052-41BC-DBC7-294E-D3D2F817A0F5}"/>
              </a:ext>
            </a:extLst>
          </p:cNvPr>
          <p:cNvSpPr/>
          <p:nvPr/>
        </p:nvSpPr>
        <p:spPr>
          <a:xfrm>
            <a:off x="0" y="6443229"/>
            <a:ext cx="12192000" cy="4147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FB9C365-A0CD-1850-E95F-D1BBBD969865}"/>
              </a:ext>
            </a:extLst>
          </p:cNvPr>
          <p:cNvSpPr txBox="1">
            <a:spLocks/>
          </p:cNvSpPr>
          <p:nvPr/>
        </p:nvSpPr>
        <p:spPr>
          <a:xfrm>
            <a:off x="-148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BBCBB-3DFC-490B-850F-BBD7E552644D}" type="datetime3">
              <a:rPr lang="en-US" sz="14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pPr/>
              <a:t>2 December 2025</a:t>
            </a:fld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9DF71DA-6765-80CD-663C-95D1A33B0C7B}"/>
              </a:ext>
            </a:extLst>
          </p:cNvPr>
          <p:cNvSpPr txBox="1">
            <a:spLocks/>
          </p:cNvSpPr>
          <p:nvPr/>
        </p:nvSpPr>
        <p:spPr>
          <a:xfrm>
            <a:off x="5925491" y="64680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ans Seriif"/>
              </a:rPr>
              <a:t>Spam Email Detection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09BEFA-A56F-4ECF-8DEE-AE1C842F2AF1}"/>
              </a:ext>
            </a:extLst>
          </p:cNvPr>
          <p:cNvSpPr txBox="1">
            <a:spLocks/>
          </p:cNvSpPr>
          <p:nvPr/>
        </p:nvSpPr>
        <p:spPr>
          <a:xfrm>
            <a:off x="9272693" y="64804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618960-8005-486C-9A75-10CB2AAC16F9}" type="slidenum">
              <a:rPr lang="en-US" sz="140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12</a:t>
            </a:fld>
            <a:endParaRPr lang="en-US" sz="14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61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2319</TotalTime>
  <Words>657</Words>
  <Application>Microsoft Office PowerPoint</Application>
  <PresentationFormat>Widescreen</PresentationFormat>
  <Paragraphs>123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Aptos</vt:lpstr>
      <vt:lpstr>Arial</vt:lpstr>
      <vt:lpstr>Arial Black</vt:lpstr>
      <vt:lpstr>Arial Narrow</vt:lpstr>
      <vt:lpstr>Sans Serif Collection</vt:lpstr>
      <vt:lpstr>Sans Seriif</vt:lpstr>
      <vt:lpstr>Sens serif</vt:lpstr>
      <vt:lpstr>Times New Roman</vt:lpstr>
      <vt:lpstr>Trebuchet MS</vt:lpstr>
      <vt:lpstr>Wingdings</vt:lpstr>
      <vt:lpstr>Wingdings 3</vt:lpstr>
      <vt:lpstr>Facet</vt:lpstr>
      <vt:lpstr>                    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Russell Hussain</dc:creator>
  <cp:lastModifiedBy>Nusrat Jahan</cp:lastModifiedBy>
  <cp:revision>299</cp:revision>
  <dcterms:created xsi:type="dcterms:W3CDTF">2024-11-26T10:33:43Z</dcterms:created>
  <dcterms:modified xsi:type="dcterms:W3CDTF">2025-12-02T14:37:48Z</dcterms:modified>
</cp:coreProperties>
</file>