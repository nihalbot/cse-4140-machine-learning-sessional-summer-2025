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4" r:id="rId3"/>
    <p:sldId id="257" r:id="rId5"/>
    <p:sldId id="258" r:id="rId6"/>
    <p:sldId id="259" r:id="rId7"/>
    <p:sldId id="275" r:id="rId8"/>
    <p:sldId id="260" r:id="rId9"/>
    <p:sldId id="261" r:id="rId10"/>
    <p:sldId id="262" r:id="rId11"/>
    <p:sldId id="263" r:id="rId12"/>
    <p:sldId id="276" r:id="rId13"/>
    <p:sldId id="264" r:id="rId14"/>
    <p:sldId id="265" r:id="rId15"/>
    <p:sldId id="266" r:id="rId16"/>
    <p:sldId id="268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5dc4e38d75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5dc4e38d75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1431" y="1344930"/>
            <a:ext cx="1012031" cy="1012031"/>
          </a:xfrm>
          <a:prstGeom prst="rect">
            <a:avLst/>
          </a:prstGeom>
        </p:spPr>
      </p:pic>
      <p:sp>
        <p:nvSpPr>
          <p:cNvPr id="6" name="Google Shape;109;p22"/>
          <p:cNvSpPr txBox="1"/>
          <p:nvPr/>
        </p:nvSpPr>
        <p:spPr>
          <a:xfrm>
            <a:off x="-906780" y="1014730"/>
            <a:ext cx="9889490" cy="43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000"/>
              <a:buFont typeface="Roboto Black" panose="02000000000000000000"/>
              <a:buNone/>
              <a:defRPr sz="3000" b="0" i="0" u="none" strike="noStrike" cap="none">
                <a:solidFill>
                  <a:srgbClr val="48FFD5"/>
                </a:solidFill>
                <a:latin typeface="Roboto Black" panose="02000000000000000000"/>
                <a:ea typeface="Roboto Black" panose="02000000000000000000"/>
                <a:cs typeface="Roboto Black" panose="02000000000000000000"/>
                <a:sym typeface="Roboto Black" panose="02000000000000000000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Font typeface="Bree Serif" panose="02000503040000020004"/>
              <a:buNone/>
              <a:defRPr sz="3600" b="1" i="0" u="none" strike="noStrike" cap="none">
                <a:solidFill>
                  <a:srgbClr val="48FFD5"/>
                </a:solidFill>
                <a:latin typeface="Bree Serif" panose="02000503040000020004"/>
                <a:ea typeface="Bree Serif" panose="02000503040000020004"/>
                <a:cs typeface="Bree Serif" panose="02000503040000020004"/>
                <a:sym typeface="Bree Serif" panose="02000503040000020004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Font typeface="Bree Serif" panose="02000503040000020004"/>
              <a:buNone/>
              <a:defRPr sz="3600" b="1" i="0" u="none" strike="noStrike" cap="none">
                <a:solidFill>
                  <a:srgbClr val="48FFD5"/>
                </a:solidFill>
                <a:latin typeface="Bree Serif" panose="02000503040000020004"/>
                <a:ea typeface="Bree Serif" panose="02000503040000020004"/>
                <a:cs typeface="Bree Serif" panose="02000503040000020004"/>
                <a:sym typeface="Bree Serif" panose="02000503040000020004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Font typeface="Bree Serif" panose="02000503040000020004"/>
              <a:buNone/>
              <a:defRPr sz="3600" b="1" i="0" u="none" strike="noStrike" cap="none">
                <a:solidFill>
                  <a:srgbClr val="48FFD5"/>
                </a:solidFill>
                <a:latin typeface="Bree Serif" panose="02000503040000020004"/>
                <a:ea typeface="Bree Serif" panose="02000503040000020004"/>
                <a:cs typeface="Bree Serif" panose="02000503040000020004"/>
                <a:sym typeface="Bree Serif" panose="02000503040000020004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Font typeface="Bree Serif" panose="02000503040000020004"/>
              <a:buNone/>
              <a:defRPr sz="3600" b="1" i="0" u="none" strike="noStrike" cap="none">
                <a:solidFill>
                  <a:srgbClr val="48FFD5"/>
                </a:solidFill>
                <a:latin typeface="Bree Serif" panose="02000503040000020004"/>
                <a:ea typeface="Bree Serif" panose="02000503040000020004"/>
                <a:cs typeface="Bree Serif" panose="02000503040000020004"/>
                <a:sym typeface="Bree Serif" panose="02000503040000020004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Font typeface="Bree Serif" panose="02000503040000020004"/>
              <a:buNone/>
              <a:defRPr sz="3600" b="1" i="0" u="none" strike="noStrike" cap="none">
                <a:solidFill>
                  <a:srgbClr val="48FFD5"/>
                </a:solidFill>
                <a:latin typeface="Bree Serif" panose="02000503040000020004"/>
                <a:ea typeface="Bree Serif" panose="02000503040000020004"/>
                <a:cs typeface="Bree Serif" panose="02000503040000020004"/>
                <a:sym typeface="Bree Serif" panose="02000503040000020004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Font typeface="Bree Serif" panose="02000503040000020004"/>
              <a:buNone/>
              <a:defRPr sz="3600" b="1" i="0" u="none" strike="noStrike" cap="none">
                <a:solidFill>
                  <a:srgbClr val="48FFD5"/>
                </a:solidFill>
                <a:latin typeface="Bree Serif" panose="02000503040000020004"/>
                <a:ea typeface="Bree Serif" panose="02000503040000020004"/>
                <a:cs typeface="Bree Serif" panose="02000503040000020004"/>
                <a:sym typeface="Bree Serif" panose="02000503040000020004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Font typeface="Bree Serif" panose="02000503040000020004"/>
              <a:buNone/>
              <a:defRPr sz="3600" b="1" i="0" u="none" strike="noStrike" cap="none">
                <a:solidFill>
                  <a:srgbClr val="48FFD5"/>
                </a:solidFill>
                <a:latin typeface="Bree Serif" panose="02000503040000020004"/>
                <a:ea typeface="Bree Serif" panose="02000503040000020004"/>
                <a:cs typeface="Bree Serif" panose="02000503040000020004"/>
                <a:sym typeface="Bree Serif" panose="02000503040000020004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Font typeface="Bree Serif" panose="02000503040000020004"/>
              <a:buNone/>
              <a:defRPr sz="3600" b="1" i="0" u="none" strike="noStrike" cap="none">
                <a:solidFill>
                  <a:srgbClr val="48FFD5"/>
                </a:solidFill>
                <a:latin typeface="Bree Serif" panose="02000503040000020004"/>
                <a:ea typeface="Bree Serif" panose="02000503040000020004"/>
                <a:cs typeface="Bree Serif" panose="02000503040000020004"/>
                <a:sym typeface="Bree Serif" panose="02000503040000020004"/>
              </a:defRPr>
            </a:lvl9pPr>
          </a:lstStyle>
          <a:p>
            <a:r>
              <a:rPr lang="en-GB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Science and Technology, Saidpur</a:t>
            </a:r>
            <a:endParaRPr lang="en-GB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84785" y="3367564"/>
            <a:ext cx="8632508" cy="5205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Topic: Parkinsons Disease Detection 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2899" y="4258151"/>
            <a:ext cx="3872389" cy="1419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Md. Labib Ahsan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ID: 220201019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b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71574" y="4258151"/>
            <a:ext cx="4010978" cy="161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Presented To: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Engr. Rohul Amin</a:t>
            </a:r>
            <a:b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Lecturer, CSE, BAUST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Nadim Reza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Lecturer, CSE, BAUST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46701" y="2357127"/>
            <a:ext cx="59486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GB" sz="2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56285" y="2684145"/>
            <a:ext cx="7394258" cy="626269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 4140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Machine Learning Sessional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929414" y="3758089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Date: 02-12-25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Parkinson’s disease affects motor functions.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Early detection helps clinical decisions.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Machine Learning assists in identifying patterns in vocal biomarkers.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Perform exploratory data analysis.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Train multiple ML models.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Compare performance metrics.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the best performing classifier.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Dataset: parkinsons.csv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195 samples, 24 columns.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includes features like Fo, Fhi, Flo, jitter, shimmer, NHR, HNR, RPDE, DFA, spread1, spread2, D2, and PPE.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2707"/>
            <a:ext cx="8229600" cy="1143000"/>
          </a:xfrm>
        </p:spPr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Methodology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Content Placeholder 3" descr="Updated Methodology Diagr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44315" y="990600"/>
            <a:ext cx="795020" cy="44278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456305" y="5511800"/>
            <a:ext cx="297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fig.1: methodology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Calculated mean, variance, skewness.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Wide variation in frequency-based features.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Removed non-numeric columns.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Train-test split (80/20).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Standardized features using StandardScaler.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Models Used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SVM 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Logistic Regression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Random Forest Classifier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KNN 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Load and clean dataset.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Split into train/test sets.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Scale numeric features.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Train models and evaluate.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457200" y="2259965"/>
          <a:ext cx="8045450" cy="2593975"/>
        </p:xfrm>
        <a:graphic>
          <a:graphicData uri="http://schemas.openxmlformats.org/drawingml/2006/table">
            <a:tbl>
              <a:tblPr/>
              <a:tblGrid>
                <a:gridCol w="1609090"/>
                <a:gridCol w="1609090"/>
                <a:gridCol w="1609090"/>
                <a:gridCol w="1609090"/>
                <a:gridCol w="1609090"/>
              </a:tblGrid>
              <a:tr h="518795"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Model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Accuracy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Precision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Recall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F1-Score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795"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SVM (RBF Kernel)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0.8974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0.89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1.00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0.94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795"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Logistic Regression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0.8974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0.89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1.00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0.94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795"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Random Forest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0.9487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0.94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1.00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0.97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795"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K-Nearest Neighbors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0.9487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0.94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1.00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ts val="12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Segoe UI" panose="020B0502040204020203"/>
                        </a:rPr>
                        <a:t>0.97</a:t>
                      </a:r>
                      <a:endParaRPr sz="900">
                        <a:latin typeface="Times New Roman" panose="02020603050405020304"/>
                        <a:ea typeface="Segoe UI" panose="020B0502040204020203"/>
                      </a:endParaRPr>
                    </a:p>
                  </a:txBody>
                  <a:tcPr marL="101600" marR="10160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2667635" y="1743710"/>
            <a:ext cx="3624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Table.1: Model Comparison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– Accuracy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SVM: 0.897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Logistic Regression: 0.897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Random Forest: 0.949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KNN: 0.949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Model Accuracy Comparison Tab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850" y="1697990"/>
            <a:ext cx="3481070" cy="28194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471160" y="4867910"/>
            <a:ext cx="297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fig.2: model comparison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Matrices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Random Forest &amp; KNN performed best.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Highest true positive rate for status=1.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KNN confusion matri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715" y="2971165"/>
            <a:ext cx="2771140" cy="2516505"/>
          </a:xfrm>
          <a:prstGeom prst="rect">
            <a:avLst/>
          </a:prstGeom>
        </p:spPr>
      </p:pic>
      <p:pic>
        <p:nvPicPr>
          <p:cNvPr id="5" name="Picture 4" descr="Randomforest consusion matri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050" y="2971165"/>
            <a:ext cx="2935605" cy="263017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572000" y="5677535"/>
            <a:ext cx="2658745" cy="224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fig.4: Confusion Matrix for  Random Forest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40715" y="5601335"/>
            <a:ext cx="2971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fig.3: Confusion matrix for KNN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ROC–AUC Comparison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Random Forest &amp; KNN showed strongest AUC.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SVM &amp; Logistic Regression performed comparably.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ROC AUC Curve"/>
          <p:cNvPicPr>
            <a:picLocks noChangeAspect="1"/>
          </p:cNvPicPr>
          <p:nvPr/>
        </p:nvPicPr>
        <p:blipFill>
          <a:blip r:embed="rId1"/>
          <a:srcRect r="-3314" b="2462"/>
          <a:stretch>
            <a:fillRect/>
          </a:stretch>
        </p:blipFill>
        <p:spPr>
          <a:xfrm>
            <a:off x="3933190" y="2947670"/>
            <a:ext cx="3682365" cy="27920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311015" y="5810250"/>
            <a:ext cx="297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fig.5: ROC-AUC Curve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User Input Prediction System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Saved scaler &amp; best model 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User enters 22 feature values.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Model returns Parkinson’s / No Parkinson’s.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ML models can reliably detect Parkinson’s disease.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Random Forest produced the best results.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Demonstrates potential for medical decision support.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33*204"/>
  <p:tag name="TABLE_ENDDRAG_RECT" val="36*177*633*20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2227</Words>
  <Application>WPS Presentation</Application>
  <PresentationFormat>On-screen Show (4:3)</PresentationFormat>
  <Paragraphs>158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Arial</vt:lpstr>
      <vt:lpstr>Roboto Black</vt:lpstr>
      <vt:lpstr>Wide Latin</vt:lpstr>
      <vt:lpstr>Bree Serif</vt:lpstr>
      <vt:lpstr>Siyam Rupali</vt:lpstr>
      <vt:lpstr>Times New Roman</vt:lpstr>
      <vt:lpstr>Times New Roman</vt:lpstr>
      <vt:lpstr>Segoe UI</vt:lpstr>
      <vt:lpstr>Microsoft YaHei</vt:lpstr>
      <vt:lpstr>Arial Unicode MS</vt:lpstr>
      <vt:lpstr>Calibri</vt:lpstr>
      <vt:lpstr>Office Theme</vt:lpstr>
      <vt:lpstr>PowerPoint 演示文稿</vt:lpstr>
      <vt:lpstr>Introduction</vt:lpstr>
      <vt:lpstr>Objectives</vt:lpstr>
      <vt:lpstr>Dataset Description</vt:lpstr>
      <vt:lpstr>Methodology</vt:lpstr>
      <vt:lpstr>Exploratory Data Analysis</vt:lpstr>
      <vt:lpstr>Data Preprocessing</vt:lpstr>
      <vt:lpstr> Models Used</vt:lpstr>
      <vt:lpstr>Model Training </vt:lpstr>
      <vt:lpstr>Model Comparison</vt:lpstr>
      <vt:lpstr>Results – Accuracy Comparison</vt:lpstr>
      <vt:lpstr>Confusion Matrices</vt:lpstr>
      <vt:lpstr>ROC–AUC Comparison</vt:lpstr>
      <vt:lpstr>User Input Prediction System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21</cp:revision>
  <dcterms:created xsi:type="dcterms:W3CDTF">2013-01-27T09:14:00Z</dcterms:created>
  <dcterms:modified xsi:type="dcterms:W3CDTF">2025-12-02T14:13:00Z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67907BD205DD4E6BACDAC235F0E02EC1_12</vt:lpwstr>
  </property>
  <property fmtid="{D5CDD505-2E9C-101B-9397-08002B2CF9AE}" pid="3" name="KSOProductBuildVer">
    <vt:lpwstr>1033-12.2.0.23149</vt:lpwstr>
  </property>
</Properties>
</file>