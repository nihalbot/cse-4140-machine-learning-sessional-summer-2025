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9"/>
  </p:notesMasterIdLst>
  <p:sldIdLst>
    <p:sldId id="256" r:id="rId2"/>
    <p:sldId id="293" r:id="rId3"/>
    <p:sldId id="295" r:id="rId4"/>
    <p:sldId id="305" r:id="rId5"/>
    <p:sldId id="306" r:id="rId6"/>
    <p:sldId id="307" r:id="rId7"/>
    <p:sldId id="308" r:id="rId8"/>
    <p:sldId id="309" r:id="rId9"/>
    <p:sldId id="296" r:id="rId10"/>
    <p:sldId id="310" r:id="rId11"/>
    <p:sldId id="311" r:id="rId12"/>
    <p:sldId id="314" r:id="rId13"/>
    <p:sldId id="312" r:id="rId14"/>
    <p:sldId id="315" r:id="rId15"/>
    <p:sldId id="313" r:id="rId16"/>
    <p:sldId id="302" r:id="rId17"/>
    <p:sldId id="30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29DC385-8AE5-4E77-9E53-41B434B7544A}">
          <p14:sldIdLst>
            <p14:sldId id="256"/>
            <p14:sldId id="293"/>
            <p14:sldId id="295"/>
            <p14:sldId id="305"/>
            <p14:sldId id="306"/>
            <p14:sldId id="307"/>
            <p14:sldId id="308"/>
            <p14:sldId id="309"/>
            <p14:sldId id="296"/>
            <p14:sldId id="310"/>
            <p14:sldId id="311"/>
            <p14:sldId id="314"/>
            <p14:sldId id="312"/>
            <p14:sldId id="315"/>
          </p14:sldIdLst>
        </p14:section>
        <p14:section name="Untitled Section" id="{6B374CD1-501D-4ECF-B7AE-DA4F8F0C1BAA}">
          <p14:sldIdLst>
            <p14:sldId id="313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2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3BB76-642D-4642-B54A-4B37ECC306F7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13B1C-AFAE-476C-8550-AC94E2C2C1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38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13B1C-AFAE-476C-8550-AC94E2C2C1DF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9525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9EE8E-F5AC-4FAE-9C49-F1FC52C11AD3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House Price Prediction Using ML</a:t>
            </a:r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27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96FA-C36D-4BAF-BE6B-4F7B7271A2B2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House Price Prediction Using ML</a:t>
            </a: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8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CEEE-8EF5-4EE4-B723-0F4227E80A73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House Price Prediction Using ML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67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2F62B-F3A6-4A57-964E-C835967FD96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House Price Prediction Using ML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4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C9AA-DEE0-4B04-84AD-1398241A8ADD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House Price Prediction Using ML</a:t>
            </a:r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00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C406-B577-4ADA-8B30-90DF7142A52B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House Price Prediction Using ML</a:t>
            </a:r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AB79-9DD1-434F-ADE0-7B1FAD642B10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House Price Prediction Using ML</a:t>
            </a:r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34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EFB62-154C-46D9-8AE6-F0A1D1C100E9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House Price Prediction Using ML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2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264E-8B3F-4202-B706-CD7CB7E79BA7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House Price Prediction Using ML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70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EF8D7-CEB0-445C-A6F7-D9A7A4A1E9B3}" type="datetime1">
              <a:rPr lang="en-US" smtClean="0"/>
              <a:t>11/25/2025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House Price Prediction Using ML</a:t>
            </a:r>
            <a:endParaRPr lang="en-US" sz="100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84771538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EF8D7-CEB0-445C-A6F7-D9A7A4A1E9B3}" type="datetime1">
              <a:rPr lang="en-US" smtClean="0"/>
              <a:t>11/25/2025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House Price Prediction Using ML</a:t>
            </a:r>
            <a:endParaRPr lang="en-US" sz="100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839611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EF8D7-CEB0-445C-A6F7-D9A7A4A1E9B3}" type="datetime1">
              <a:rPr lang="en-US" smtClean="0"/>
              <a:t>11/25/2025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House Price Prediction Using ML</a:t>
            </a:r>
            <a:endParaRPr lang="en-US" sz="100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8408897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EF8D7-CEB0-445C-A6F7-D9A7A4A1E9B3}" type="datetime1">
              <a:rPr lang="en-US" smtClean="0"/>
              <a:t>11/25/2025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House Price Prediction Using ML</a:t>
            </a:r>
            <a:endParaRPr lang="en-US" sz="100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8411766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EF8D7-CEB0-445C-A6F7-D9A7A4A1E9B3}" type="datetime1">
              <a:rPr lang="en-US" smtClean="0"/>
              <a:t>11/25/2025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House Price Prediction Using ML</a:t>
            </a:r>
            <a:endParaRPr lang="en-US" sz="100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78009781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4B04-B646-4314-A1EC-77A5F939557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House Price Prediction Using ML</a:t>
            </a: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72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E30F-1709-42F1-9774-92FBFC15EC61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House Price Prediction Using ML</a:t>
            </a: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6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EF8D7-CEB0-445C-A6F7-D9A7A4A1E9B3}" type="datetime1">
              <a:rPr lang="en-US" smtClean="0"/>
              <a:t>11/25/2025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000" smtClean="0"/>
              <a:t>House Price Prediction Using ML</a:t>
            </a:r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747434-7036-48DB-A148-6B3D8EE75CDA}" type="slidenum">
              <a:rPr lang="en-US" smtClean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0176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6.png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 descr="A blue abstract watercolor pattern on a white background"/>
          <p:cNvPicPr>
            <a:picLocks noChangeAspect="1"/>
          </p:cNvPicPr>
          <p:nvPr/>
        </p:nvPicPr>
        <p:blipFill>
          <a:blip r:embed="rId3">
            <a:alphaModFix amt="40000"/>
          </a:blip>
          <a:srcRect t="14634" r="-1" b="1074"/>
          <a:stretch>
            <a:fillRect/>
          </a:stretch>
        </p:blipFill>
        <p:spPr>
          <a:xfrm>
            <a:off x="47369" y="80968"/>
            <a:ext cx="12188951" cy="6857990"/>
          </a:xfrm>
          <a:prstGeom prst="rect">
            <a:avLst/>
          </a:prstGeom>
        </p:spPr>
      </p:pic>
      <p:grpSp>
        <p:nvGrpSpPr>
          <p:cNvPr id="13" name="decorative circle"/>
          <p:cNvGrpSpPr>
            <a:grpSpLocks noGrp="1" noUngrp="1" noRot="1" noChangeAspect="1" noMove="1" noResize="1"/>
          </p:cNvGrpSpPr>
          <p:nvPr/>
        </p:nvGrpSpPr>
        <p:grpSpPr>
          <a:xfrm>
            <a:off x="314102" y="236341"/>
            <a:ext cx="11340713" cy="5464029"/>
            <a:chOff x="314102" y="236341"/>
            <a:chExt cx="11340713" cy="5464029"/>
          </a:xfrm>
        </p:grpSpPr>
        <p:sp>
          <p:nvSpPr>
            <p:cNvPr id="14" name="Oval 13"/>
            <p:cNvSpPr/>
            <p:nvPr/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14102" y="304438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751535" y="2516671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10902046" y="539459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10408287" y="516071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930" y="236220"/>
            <a:ext cx="9847580" cy="132207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SCIENCE AND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" y="1657350"/>
            <a:ext cx="12235180" cy="5200015"/>
          </a:xfrm>
        </p:spPr>
        <p:txBody>
          <a:bodyPr>
            <a:normAutofit fontScale="82500" lnSpcReduction="20000"/>
          </a:bodyPr>
          <a:lstStyle/>
          <a:p>
            <a:endParaRPr lang="en-US" sz="311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11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Recommender </a:t>
            </a:r>
            <a:r>
              <a:rPr lang="en-US" sz="311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ML</a:t>
            </a:r>
          </a:p>
          <a:p>
            <a:r>
              <a:rPr lang="en-US" sz="311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Machine Learning Sessional</a:t>
            </a:r>
          </a:p>
          <a:p>
            <a:r>
              <a:rPr lang="en-US" sz="311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 4140</a:t>
            </a:r>
          </a:p>
          <a:p>
            <a:endParaRPr lang="en-US" sz="2800" dirty="0">
              <a:solidFill>
                <a:schemeClr val="bg1"/>
              </a:solidFill>
              <a:sym typeface="+mn-ea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sym typeface="+mn-ea"/>
              </a:rPr>
              <a:t>          </a:t>
            </a:r>
          </a:p>
          <a:p>
            <a:pPr algn="l"/>
            <a:r>
              <a:rPr lang="en-US" sz="2800" b="1" dirty="0">
                <a:solidFill>
                  <a:schemeClr val="bg1"/>
                </a:solidFill>
                <a:sym typeface="+mn-ea"/>
              </a:rPr>
              <a:t>          </a:t>
            </a:r>
            <a:r>
              <a:rPr lang="en-US" sz="2800" b="1" u="sng" dirty="0">
                <a:solidFill>
                  <a:schemeClr val="bg1"/>
                </a:solidFill>
                <a:sym typeface="+mn-ea"/>
              </a:rPr>
              <a:t>Presented To</a:t>
            </a:r>
            <a:r>
              <a:rPr lang="en-US" sz="2800" b="1" dirty="0">
                <a:solidFill>
                  <a:schemeClr val="bg1"/>
                </a:solidFill>
                <a:sym typeface="+mn-ea"/>
              </a:rPr>
              <a:t>:                                                                      </a:t>
            </a:r>
            <a:r>
              <a:rPr lang="en-US" sz="2800" b="1" u="sng" dirty="0">
                <a:solidFill>
                  <a:schemeClr val="bg1"/>
                </a:solidFill>
                <a:sym typeface="+mn-ea"/>
              </a:rPr>
              <a:t>P</a:t>
            </a:r>
            <a:r>
              <a:rPr lang="en-US" sz="2800" b="1" u="sng" dirty="0" smtClean="0">
                <a:solidFill>
                  <a:schemeClr val="bg1"/>
                </a:solidFill>
                <a:sym typeface="+mn-ea"/>
              </a:rPr>
              <a:t>resented </a:t>
            </a:r>
            <a:r>
              <a:rPr lang="en-US" sz="2800" b="1" u="sng" dirty="0">
                <a:solidFill>
                  <a:schemeClr val="bg1"/>
                </a:solidFill>
                <a:sym typeface="+mn-ea"/>
              </a:rPr>
              <a:t>By</a:t>
            </a:r>
            <a:r>
              <a:rPr lang="en-US" sz="2800" b="1" dirty="0">
                <a:solidFill>
                  <a:schemeClr val="bg1"/>
                </a:solidFill>
                <a:sym typeface="+mn-ea"/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bg1"/>
                </a:solidFill>
                <a:sym typeface="+mn-ea"/>
              </a:rPr>
              <a:t>       Engr. </a:t>
            </a:r>
            <a:r>
              <a:rPr lang="en-US" sz="2800" b="1" dirty="0" err="1">
                <a:solidFill>
                  <a:schemeClr val="bg1"/>
                </a:solidFill>
                <a:sym typeface="+mn-ea"/>
              </a:rPr>
              <a:t>Rohul</a:t>
            </a:r>
            <a:r>
              <a:rPr lang="en-US" sz="2800" b="1" dirty="0">
                <a:solidFill>
                  <a:schemeClr val="bg1"/>
                </a:solidFill>
                <a:sym typeface="+mn-ea"/>
              </a:rPr>
              <a:t> Amin                                                          </a:t>
            </a:r>
            <a:r>
              <a:rPr lang="en-US" sz="2800" b="1" dirty="0" smtClean="0">
                <a:solidFill>
                  <a:schemeClr val="bg1"/>
                </a:solidFill>
                <a:sym typeface="+mn-ea"/>
              </a:rPr>
              <a:t>        </a:t>
            </a:r>
            <a:r>
              <a:rPr lang="en-US" sz="2800" b="1" dirty="0" err="1" smtClean="0">
                <a:solidFill>
                  <a:schemeClr val="bg1"/>
                </a:solidFill>
                <a:sym typeface="+mn-ea"/>
              </a:rPr>
              <a:t>Zihan</a:t>
            </a:r>
            <a:r>
              <a:rPr lang="en-US" sz="2800" b="1" dirty="0" smtClean="0">
                <a:solidFill>
                  <a:schemeClr val="bg1"/>
                </a:solidFill>
                <a:sym typeface="+mn-ea"/>
              </a:rPr>
              <a:t> Hossain</a:t>
            </a:r>
          </a:p>
          <a:p>
            <a:pPr algn="just"/>
            <a:r>
              <a:rPr lang="en-US" sz="2800" b="1" dirty="0" smtClean="0">
                <a:solidFill>
                  <a:schemeClr val="bg1"/>
                </a:solidFill>
                <a:sym typeface="+mn-ea"/>
              </a:rPr>
              <a:t>       Lecturer, CSE, BAUST                                                            ID:220201067</a:t>
            </a:r>
          </a:p>
          <a:p>
            <a:pPr algn="just"/>
            <a:r>
              <a:rPr lang="en-US" sz="2800" b="1" dirty="0" smtClean="0">
                <a:solidFill>
                  <a:schemeClr val="bg1"/>
                </a:solidFill>
                <a:sym typeface="+mn-ea"/>
              </a:rPr>
              <a:t>       </a:t>
            </a:r>
            <a:r>
              <a:rPr lang="en-US" sz="2800" b="1" dirty="0">
                <a:solidFill>
                  <a:schemeClr val="bg1"/>
                </a:solidFill>
                <a:sym typeface="+mn-ea"/>
              </a:rPr>
              <a:t>Nadim Reza                                                                   </a:t>
            </a:r>
          </a:p>
          <a:p>
            <a:pPr algn="just"/>
            <a:r>
              <a:rPr lang="en-US" sz="2800" b="1" dirty="0">
                <a:solidFill>
                  <a:schemeClr val="bg1"/>
                </a:solidFill>
                <a:sym typeface="+mn-ea"/>
              </a:rPr>
              <a:t>       Lecturer, CSE, BAUST                              </a:t>
            </a:r>
          </a:p>
          <a:p>
            <a:pPr algn="l"/>
            <a:r>
              <a:rPr lang="en-US" sz="2800" b="1" dirty="0">
                <a:solidFill>
                  <a:schemeClr val="bg1"/>
                </a:solidFill>
                <a:sym typeface="+mn-ea"/>
              </a:rPr>
              <a:t>                                                                                     </a:t>
            </a:r>
            <a:r>
              <a:rPr lang="en-US" sz="2800" dirty="0">
                <a:solidFill>
                  <a:schemeClr val="bg1"/>
                </a:solidFill>
                <a:sym typeface="+mn-ea"/>
              </a:rPr>
              <a:t>                                                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6CB0C922-0768-5B55-5B49-63937C6A7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6A39E-8899-4767-A55D-720D3C68B50C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C44AA44-BDCA-2A75-E35A-25E06C78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622FCAF-BFC0-1E0D-6640-D2C408EA746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15" y="475558"/>
            <a:ext cx="1385758" cy="132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9761" y="512462"/>
            <a:ext cx="8911687" cy="1280890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2879" y="1462425"/>
            <a:ext cx="10659110" cy="469519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Table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7D73B54-6FAF-89C4-024A-6E54E468E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78A34-F153-428B-862E-C82C18B28AA8}" type="datetime1">
              <a:rPr lang="en-US" smtClean="0"/>
              <a:t>11/25/2025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C5E1C37-98A3-C687-912B-CFC4E4141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212" y="568363"/>
            <a:ext cx="10659110" cy="80396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E8EC5C37-F994-E753-B089-E7E68F4D3D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2284584"/>
            <a:ext cx="9989083" cy="2288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recommend books using machine learning to provide personalized reading suggestions for user.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also aims to improve recommendation accuracy by continuously learning from new data and refining the model.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ts val="0"/>
              </a:spcBef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9DB6A1B-233C-12FE-6091-3F5D35A51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D59A-DD79-45F1-BBF6-2851F3A94CA7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066BF5A-1E48-36E0-04B9-052505CD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38BD4A-2FBC-2B85-6922-D2499AE7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F63982-3F2B-8606-857E-848BF772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90" y="568363"/>
            <a:ext cx="10659110" cy="80396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9B6C1AB8-B64A-0ABD-6553-CFB3499E61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833755"/>
            <a:ext cx="998908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book using machine learning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analyze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data and identify reading patterns.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apply ML algorithms for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recommendation.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recommendation accuracy.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1B7CFAB-E130-E33B-A79D-779500E96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8076D-D5B5-49EF-8A37-5562AB7A2B67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548FFD-95B8-A9BC-CD05-37BD74EC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02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68726C5-0D57-EB89-DC90-D0AE3C20E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40037D-7A05-671A-7813-3E7A379E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90" y="632912"/>
            <a:ext cx="10659110" cy="80396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Related works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516929BD-AFFC-17DF-DCC0-CFDB643D24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720840"/>
            <a:ext cx="998908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2020, </a:t>
            </a:r>
            <a:r>
              <a:rPr lang="en-US" alt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SlideShare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developed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“Book Recommendation System using machine learning”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ts val="0"/>
              </a:spcBef>
              <a:buClr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Shortcomings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preprocessing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2E3A2CE-BA86-C7B2-A8BE-1A123F09E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ED3C-942E-4731-83FE-AA32697A8153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8BF20D-1574-0737-2068-30571C44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1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1F2B9C7-4700-A499-D64E-FE1ACA521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A74849-60D4-5990-56C8-3E9F1C9D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90" y="660841"/>
            <a:ext cx="10659110" cy="80396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Related Works (Cont.)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D043985D-8976-D4FA-7523-BB50E5ECE0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776698"/>
            <a:ext cx="998908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2024, </a:t>
            </a:r>
            <a:r>
              <a:rPr lang="en-US" alt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ResearchGate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“Book Recommendation using machine learning techniques”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ts val="0"/>
              </a:spcBef>
              <a:buClr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Shortcomings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 size</a:t>
            </a: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 not discussed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7D2B593-4343-3984-DCA8-31C1E33C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B281-5CEF-4316-B06F-DE92F89DB327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85B3AA6-F9C1-0B18-F8C8-39343CE6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4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23A191-FB2A-9A5D-2068-897014D3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B4BD6D-3829-7EDD-F2A9-3AE1B379E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90" y="568363"/>
            <a:ext cx="10659110" cy="80396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Dataset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9133" y="1324583"/>
            <a:ext cx="10701195" cy="43338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1265019-B060-B205-2122-BD75046D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8D76D-F7C5-4BDC-8733-843FE9416821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73C05EA-6F6C-9F12-088D-7519FDEC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0452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438A68D-6677-4994-C953-C8A484A98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CE7D02-E19A-3559-81B3-96B74E40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90" y="568363"/>
            <a:ext cx="10659110" cy="80396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23502D7-009E-ABA6-7992-1DEDE5ADE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6960" y="1324583"/>
            <a:ext cx="6827520" cy="5243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C5CE1D9C-0FD3-7211-00DC-4BF4E4D7B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69A7-CB4A-4CD1-B8DE-09511B927DF5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55B0701D-1DE8-9933-0D5D-B6D9CECB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224" y="1264977"/>
            <a:ext cx="7315200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2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0158" y="573354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DC6F6F53-B70B-F2B2-B450-EC5B9D545C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330960"/>
            <a:ext cx="2821222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81634F4-6DC5-03BC-3AB8-00E404F5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A0679-86EC-42F5-B116-D104A1B425FF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8A98E8-D190-B786-A4C5-A7FB3718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B2FE5E0-249D-6C21-EB1E-4C8ECB74D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2BC46A-0818-A891-39CC-8FBD00DC8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290" y="575574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 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E82CC9AC-6DCF-679E-2C35-6EC800903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9154" y="2151341"/>
            <a:ext cx="5162571" cy="36195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xmlns="" id="{3AE934F3-6D07-54E9-4A23-76BA46F6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0524-E951-45AE-BA17-0CB8E53847AA}" type="datetime1">
              <a:rPr lang="en-US" smtClean="0"/>
              <a:t>11/25/2025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0E19E484-5C8B-B421-57BB-11301C993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10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54" y="1744720"/>
            <a:ext cx="8123365" cy="425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828329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80A056A-F117-3938-293D-7231A4958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274331-C02A-4F5A-EE9B-24DD5BBE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90" y="591462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DAC97D6F-A47F-9F49-5932-00A836A506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33040" y="1888261"/>
            <a:ext cx="6070600" cy="4262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84B81A7-3420-0660-1750-13256698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42E9-E9A6-4D33-A750-A8D22129677F}" type="datetime1">
              <a:rPr lang="en-US" smtClean="0"/>
              <a:t>11/25/2025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313E445-98C1-2795-38DF-1422A2D6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11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040" y="1888261"/>
            <a:ext cx="6070600" cy="420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3120"/>
      </p:ext>
    </p:extLst>
  </p:cSld>
  <p:clrMapOvr>
    <a:masterClrMapping/>
  </p:clrMapOvr>
  <p:transition spd="slow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FAEF771-60BA-5CD9-1917-0C04AFE3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545A39-A9E1-3276-C246-EADD4BEF2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877" y="573355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07447A9C-3B87-445B-FCFF-9B2E995E1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08617" y="1789146"/>
            <a:ext cx="6374765" cy="44648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0398ECA-FA92-EF23-2750-BEB0631F2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C444-D09A-4AB9-8676-4490C9D91EEC}" type="datetime1">
              <a:rPr lang="en-US" smtClean="0"/>
              <a:t>11/25/2025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1280654-892C-B50F-A4A7-E1DD69636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12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617" y="1789146"/>
            <a:ext cx="6374765" cy="446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282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D2BB4AA-524A-2A95-5E9D-1C4F4CFB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DCF620-B1FB-8A5A-FD1F-7FD7D7B2A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90" y="604878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2B372761-5E13-4460-F549-8AB99A398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240" y="1886959"/>
            <a:ext cx="4919378" cy="3363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3429481-F72A-611D-455E-123C2E9A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E7456-9254-439F-88AD-B4C3861F6CF5}" type="datetime1">
              <a:rPr lang="en-US" smtClean="0"/>
              <a:t>11/25/2025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3D12E85-4F92-98B7-3E61-38656CC6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13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54467"/>
            <a:ext cx="8649477" cy="462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3634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DF12C88-A86E-CE65-D96E-B5C6AD6E5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5FFFBB-2F5D-9AEE-F2FA-A265F7E31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90" y="583598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Used(Cont.)</a:t>
            </a: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xmlns="" id="{8FB7E376-B39D-BE1E-C91B-7E27B85E3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1419225"/>
            <a:ext cx="2148840" cy="15539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6" name="Date Placeholder 45">
            <a:extLst>
              <a:ext uri="{FF2B5EF4-FFF2-40B4-BE49-F238E27FC236}">
                <a16:creationId xmlns:a16="http://schemas.microsoft.com/office/drawing/2014/main" xmlns="" id="{D02E804D-04E2-4CE4-D5D7-133788C04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3C97A-6994-4BC2-98B0-EFA271055B59}" type="datetime1">
              <a:rPr lang="en-US" smtClean="0"/>
              <a:t>11/25/2025</a:t>
            </a:fld>
            <a:endParaRPr lang="en-US"/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xmlns="" id="{2ECC962B-B0AE-4857-D8F8-7135D4D69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14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2FC0BD82-03DB-4529-7A08-444CB4729876}"/>
              </a:ext>
            </a:extLst>
          </p:cNvPr>
          <p:cNvSpPr txBox="1"/>
          <p:nvPr/>
        </p:nvSpPr>
        <p:spPr>
          <a:xfrm>
            <a:off x="777241" y="3061426"/>
            <a:ext cx="2091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.Relation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rating count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4E695043-FD31-17B0-9CA4-054F56546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479" y="1675766"/>
            <a:ext cx="4328921" cy="10699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58E1BDC2-F84A-365E-8875-DADBE9D6E8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3777529"/>
            <a:ext cx="2666398" cy="141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E35C61AC-2D5E-C3FB-6673-591B9EE90A76}"/>
              </a:ext>
            </a:extLst>
          </p:cNvPr>
          <p:cNvSpPr txBox="1"/>
          <p:nvPr/>
        </p:nvSpPr>
        <p:spPr>
          <a:xfrm>
            <a:off x="6723994" y="2831780"/>
            <a:ext cx="8755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:Dataset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42A9DFA5-F39A-3C99-42AB-78F82628F29E}"/>
              </a:ext>
            </a:extLst>
          </p:cNvPr>
          <p:cNvSpPr txBox="1"/>
          <p:nvPr/>
        </p:nvSpPr>
        <p:spPr>
          <a:xfrm>
            <a:off x="972979" y="5281294"/>
            <a:ext cx="22220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:Top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10 Authors with most book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28BC7E89-4142-9BBC-FC21-0615297FBF9F}"/>
              </a:ext>
            </a:extLst>
          </p:cNvPr>
          <p:cNvSpPr txBox="1"/>
          <p:nvPr/>
        </p:nvSpPr>
        <p:spPr>
          <a:xfrm>
            <a:off x="4953510" y="5983784"/>
            <a:ext cx="13067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:Average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Rating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E1C837BC-74FA-CABC-CED5-6BC70A94601A}"/>
              </a:ext>
            </a:extLst>
          </p:cNvPr>
          <p:cNvSpPr txBox="1"/>
          <p:nvPr/>
        </p:nvSpPr>
        <p:spPr>
          <a:xfrm>
            <a:off x="9475705" y="5983784"/>
            <a:ext cx="14863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:BHK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1" y="1231008"/>
            <a:ext cx="2148840" cy="18086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470384"/>
            <a:ext cx="2666398" cy="17560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5001" y="3087991"/>
            <a:ext cx="3139497" cy="28957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7495" y="1199674"/>
            <a:ext cx="7694007" cy="16426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3943" y="3124369"/>
            <a:ext cx="3565902" cy="274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69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AB99873-0B3A-170B-5EA0-513EB18D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85EF50-886A-D2AE-6A09-A6CA87894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90" y="669989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Table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xmlns="" id="{1F017EB6-D0F5-85FB-D496-7BB4614F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0AA6-145D-4652-9FF8-DB17E4AA29BA}" type="datetime1">
              <a:rPr lang="en-US" smtClean="0"/>
              <a:t>11/25/2025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xmlns="" id="{8E7AC76D-FD1C-38D3-E432-599630C4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32A8439F-030A-93A3-BD23-D277CCD14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38053"/>
              </p:ext>
            </p:extLst>
          </p:nvPr>
        </p:nvGraphicFramePr>
        <p:xfrm>
          <a:off x="777874" y="2030254"/>
          <a:ext cx="10658476" cy="2377440"/>
        </p:xfrm>
        <a:graphic>
          <a:graphicData uri="http://schemas.openxmlformats.org/drawingml/2006/table">
            <a:tbl>
              <a:tblPr/>
              <a:tblGrid>
                <a:gridCol w="2664619">
                  <a:extLst>
                    <a:ext uri="{9D8B030D-6E8A-4147-A177-3AD203B41FA5}">
                      <a16:colId xmlns:a16="http://schemas.microsoft.com/office/drawing/2014/main" xmlns="" val="3007694425"/>
                    </a:ext>
                  </a:extLst>
                </a:gridCol>
                <a:gridCol w="2664619">
                  <a:extLst>
                    <a:ext uri="{9D8B030D-6E8A-4147-A177-3AD203B41FA5}">
                      <a16:colId xmlns:a16="http://schemas.microsoft.com/office/drawing/2014/main" xmlns="" val="3272413249"/>
                    </a:ext>
                  </a:extLst>
                </a:gridCol>
                <a:gridCol w="2664619">
                  <a:extLst>
                    <a:ext uri="{9D8B030D-6E8A-4147-A177-3AD203B41FA5}">
                      <a16:colId xmlns:a16="http://schemas.microsoft.com/office/drawing/2014/main" xmlns="" val="2436057049"/>
                    </a:ext>
                  </a:extLst>
                </a:gridCol>
                <a:gridCol w="2664619">
                  <a:extLst>
                    <a:ext uri="{9D8B030D-6E8A-4147-A177-3AD203B41FA5}">
                      <a16:colId xmlns:a16="http://schemas.microsoft.com/office/drawing/2014/main" xmlns="" val="45852456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Model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Accuracy (0–1)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Accuracy (%)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670199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Linear Regression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/>
                        <a:t>0.8067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smtClean="0"/>
                        <a:t>80.67%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20608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Lasso Regression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/>
                        <a:t>0.6287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smtClean="0"/>
                        <a:t>62.87</a:t>
                      </a:r>
                      <a:r>
                        <a:rPr lang="en-US" b="1" dirty="0"/>
                        <a:t>%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4472379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Decision Tree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/>
                        <a:t>0.8168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smtClean="0"/>
                        <a:t>81.68%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073768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Random Forest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/>
                        <a:t>0.6–0.80 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approx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smtClean="0"/>
                        <a:t>60–80</a:t>
                      </a:r>
                      <a:r>
                        <a:rPr lang="en-US" b="1" dirty="0"/>
                        <a:t>%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72844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63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EDEC31-CB86-A3D4-C98D-195557E13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5E4600-D49A-8855-634B-64D22924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90" y="532895"/>
            <a:ext cx="10659110" cy="99070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31563C9A-0DA3-6DE5-649D-5F7BA51401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523604"/>
            <a:ext cx="943356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 and removing outliers improved accuracy a lot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can help in real-estate decision making.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16C46D0-0CCE-24D0-C1C6-4BA85F9B6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8691-C7E2-4817-A0C7-41278F41FCCD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41F2774-8C88-4AF7-CF53-1EB7CCA2F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0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E4D4F91-16FC-B944-5C10-DE08DB7B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FD60F89-D53A-2DF8-6415-C9EBBCE7A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533" y="2592277"/>
            <a:ext cx="10659110" cy="2052150"/>
          </a:xfrm>
        </p:spPr>
        <p:txBody>
          <a:bodyPr>
            <a:normAutofit fontScale="90000"/>
          </a:bodyPr>
          <a:lstStyle/>
          <a:p>
            <a:r>
              <a:rPr lang="en-ID" dirty="0"/>
              <a:t>                 </a:t>
            </a:r>
            <a:br>
              <a:rPr lang="en-ID" dirty="0"/>
            </a:br>
            <a:r>
              <a:rPr lang="en-ID" dirty="0"/>
              <a:t>                    Thank </a:t>
            </a:r>
            <a:r>
              <a:rPr lang="en-ID" dirty="0" smtClean="0"/>
              <a:t>You</a:t>
            </a:r>
            <a:r>
              <a:rPr lang="en-ID" dirty="0"/>
              <a:t/>
            </a:r>
            <a:br>
              <a:rPr lang="en-ID" dirty="0"/>
            </a:br>
            <a:r>
              <a:rPr lang="en-ID" dirty="0"/>
              <a:t/>
            </a:r>
            <a:br>
              <a:rPr lang="en-ID" dirty="0"/>
            </a:br>
            <a:endParaRPr lang="en-ID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84E703A-97B3-E8F8-2494-90A5C654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2DCB7-0ED4-4E63-90F0-2E437612FF6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AE487B6-8DAB-F811-1ED9-05A53EFEF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1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559</TotalTime>
  <Words>319</Words>
  <Application>Microsoft Office PowerPoint</Application>
  <PresentationFormat>Widescreen</PresentationFormat>
  <Paragraphs>114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Century Gothic</vt:lpstr>
      <vt:lpstr>Times New Roman</vt:lpstr>
      <vt:lpstr>Wingdings</vt:lpstr>
      <vt:lpstr>Wingdings 3</vt:lpstr>
      <vt:lpstr>Wisp</vt:lpstr>
      <vt:lpstr>BANGLADESH ARMY UNIVERSITY OF SCIENCE AND TECHNOLOGY</vt:lpstr>
      <vt:lpstr> Outlines</vt:lpstr>
      <vt:lpstr>Introduction</vt:lpstr>
      <vt:lpstr>Objectives</vt:lpstr>
      <vt:lpstr>Related works</vt:lpstr>
      <vt:lpstr>Related Works (Cont.)</vt:lpstr>
      <vt:lpstr>Dataset</vt:lpstr>
      <vt:lpstr>Methodology</vt:lpstr>
      <vt:lpstr>Model Used</vt:lpstr>
      <vt:lpstr>Model Used (Cont.)</vt:lpstr>
      <vt:lpstr>Model Used(Cont.)</vt:lpstr>
      <vt:lpstr>Model Used(Cont.)</vt:lpstr>
      <vt:lpstr>Model Used(Cont.)</vt:lpstr>
      <vt:lpstr>Model Used(Cont.)</vt:lpstr>
      <vt:lpstr>Comparison Table</vt:lpstr>
      <vt:lpstr>Conclusion</vt:lpstr>
      <vt:lpstr>                                      Thank You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BANGLADESH ARMY UNIVERSITY OF SCIENCE AND TECHNOLOGY</dc:title>
  <dc:creator>ACER</dc:creator>
  <cp:lastModifiedBy>ZIHAN</cp:lastModifiedBy>
  <cp:revision>30</cp:revision>
  <dcterms:created xsi:type="dcterms:W3CDTF">2024-09-07T15:59:00Z</dcterms:created>
  <dcterms:modified xsi:type="dcterms:W3CDTF">2025-11-25T05:21:04Z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B4A8134E22784812B07A848667F73C31_12</vt:lpwstr>
  </property>
  <property fmtid="{D5CDD505-2E9C-101B-9397-08002B2CF9AE}" pid="3" name="KSOProductBuildVer">
    <vt:lpwstr>1033-12.2.0.17562</vt:lpwstr>
  </property>
</Properties>
</file>