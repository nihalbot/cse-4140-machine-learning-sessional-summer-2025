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4630400" cy="8229600"/>
  <p:notesSz cx="8229600" cy="14630400"/>
  <p:embeddedFontLst>
    <p:embeddedFont>
      <p:font typeface="Host Grotesk Medium" panose="020B0604020202020204" charset="0"/>
      <p:regular r:id="rId15"/>
    </p:embeddedFont>
    <p:embeddedFont>
      <p:font typeface="Roboto" panose="02000000000000000000" pitchFamily="2" charset="0"/>
      <p:regular r:id="rId16"/>
      <p:bold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661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22D25-ADD3-070E-08D3-39D6234E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E7FF8-D648-804F-F7A7-78EE6A75E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5177C7-9266-0EAC-D637-DF34D63E0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F4119-B7BB-7283-6F9A-3E04C83733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86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8CDDA-909A-4960-F47B-A68A50FA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DFF5E-18A1-5E39-633C-1726C4963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02D2F-EDFE-1F31-04B6-124E8F898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FF599-0C00-E64D-9DBB-2AF9AB589F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37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41160" y="1435280"/>
            <a:ext cx="10642560" cy="249936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33318" y="6251120"/>
            <a:ext cx="9704640" cy="66336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4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256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332992" y="279400"/>
            <a:ext cx="12909296" cy="1391920"/>
          </a:xfrm>
        </p:spPr>
        <p:txBody>
          <a:bodyPr/>
          <a:lstStyle/>
          <a:p>
            <a:pPr algn="ctr"/>
            <a:r>
              <a:rPr lang="en-US" altLang="en-US" sz="3680"/>
              <a:t>Bangladesh Army University of Science and Technology (BAUST) Saidpur Cantonment, Nilphamari</a:t>
            </a:r>
            <a:br>
              <a:rPr lang="en-US" altLang="en-US" sz="3200"/>
            </a:br>
            <a:br>
              <a:rPr lang="en-US" altLang="en-US" sz="3200"/>
            </a:br>
            <a:endParaRPr lang="en-US" altLang="en-US" sz="320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77533" y="1746654"/>
            <a:ext cx="13442466" cy="3723640"/>
          </a:xfrm>
        </p:spPr>
        <p:txBody>
          <a:bodyPr/>
          <a:lstStyle/>
          <a:p>
            <a:pPr algn="ctr"/>
            <a:r>
              <a:rPr lang="en-US" altLang="en-US" sz="3200" b="1" dirty="0">
                <a:sym typeface="+mn-ea"/>
              </a:rPr>
              <a:t>Department of Computer Science and Engineering (CSE)</a:t>
            </a:r>
          </a:p>
          <a:p>
            <a:pPr algn="ctr"/>
            <a:endParaRPr lang="en-US" altLang="en-US" sz="3200" b="1" dirty="0"/>
          </a:p>
          <a:p>
            <a:pPr algn="ctr">
              <a:lnSpc>
                <a:spcPct val="120000"/>
              </a:lnSpc>
            </a:pPr>
            <a:r>
              <a:rPr lang="en-US" altLang="en-US" sz="2880" b="1" dirty="0">
                <a:sym typeface="+mn-ea"/>
              </a:rPr>
              <a:t>Course Code: </a:t>
            </a:r>
            <a:r>
              <a:rPr lang="en-US" altLang="en-US" sz="2880" dirty="0">
                <a:sym typeface="+mn-ea"/>
              </a:rPr>
              <a:t>CSE 4140</a:t>
            </a:r>
            <a:endParaRPr lang="en-US" altLang="en-US" sz="2880" dirty="0"/>
          </a:p>
          <a:p>
            <a:pPr algn="ctr">
              <a:lnSpc>
                <a:spcPct val="120000"/>
              </a:lnSpc>
            </a:pPr>
            <a:r>
              <a:rPr lang="en-US" altLang="en-US" sz="2880" b="1" dirty="0">
                <a:sym typeface="+mn-ea"/>
              </a:rPr>
              <a:t>Course Title:</a:t>
            </a:r>
            <a:r>
              <a:rPr lang="en-US" altLang="en-US" sz="2880" dirty="0">
                <a:sym typeface="+mn-ea"/>
              </a:rPr>
              <a:t> Machine Learning Sessional</a:t>
            </a:r>
            <a:endParaRPr lang="en-US" altLang="en-US" sz="2880" dirty="0"/>
          </a:p>
          <a:p>
            <a:pPr algn="ctr"/>
            <a:r>
              <a:rPr lang="en-US" altLang="en-US" sz="2880" b="1" dirty="0"/>
              <a:t>Customer Segmentation using Machine Learning</a:t>
            </a:r>
            <a:endParaRPr lang="en-US" sz="2880" b="1" dirty="0"/>
          </a:p>
        </p:txBody>
      </p:sp>
      <p:sp>
        <p:nvSpPr>
          <p:cNvPr id="13" name="Subtitle 1"/>
          <p:cNvSpPr/>
          <p:nvPr/>
        </p:nvSpPr>
        <p:spPr>
          <a:xfrm>
            <a:off x="287812" y="5274380"/>
            <a:ext cx="5795797" cy="2596571"/>
          </a:xfrm>
          <a:prstGeom prst="rect">
            <a:avLst/>
          </a:prstGeom>
          <a:noFill/>
          <a:ln>
            <a:noFill/>
          </a:ln>
        </p:spPr>
        <p:txBody>
          <a:bodyPr wrap="square" lIns="146280" tIns="146280" rIns="146280" bIns="14628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None/>
              <a:defRPr sz="14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algn="l"/>
            <a:r>
              <a:rPr lang="en-US" altLang="en-US" sz="2880" b="1" u="sng" dirty="0"/>
              <a:t>Presented By</a:t>
            </a:r>
          </a:p>
          <a:p>
            <a:pPr algn="l"/>
            <a:r>
              <a:rPr lang="en-US" altLang="en-US" sz="960" dirty="0"/>
              <a:t>.</a:t>
            </a:r>
          </a:p>
          <a:p>
            <a:pPr algn="l"/>
            <a:r>
              <a:rPr lang="en-US" altLang="en-US" sz="2880" dirty="0"/>
              <a:t>Md. Robius Sany Siam</a:t>
            </a:r>
          </a:p>
          <a:p>
            <a:pPr algn="l"/>
            <a:r>
              <a:rPr lang="en-US" altLang="en-US" sz="2880" dirty="0"/>
              <a:t>ID: 220201045</a:t>
            </a:r>
          </a:p>
          <a:p>
            <a:pPr algn="l"/>
            <a:r>
              <a:rPr lang="en-US" altLang="en-US" sz="2880" dirty="0"/>
              <a:t>Abdul Kaum Ahmed Sumon</a:t>
            </a:r>
          </a:p>
          <a:p>
            <a:pPr algn="l"/>
            <a:r>
              <a:rPr lang="en-US" altLang="en-US" sz="2880" dirty="0"/>
              <a:t>ID: 220201046</a:t>
            </a:r>
          </a:p>
          <a:p>
            <a:pPr algn="ctr"/>
            <a:endParaRPr lang="en-US" altLang="en-US" sz="2880" dirty="0"/>
          </a:p>
        </p:txBody>
      </p:sp>
      <p:sp>
        <p:nvSpPr>
          <p:cNvPr id="14" name="Subtitle 1"/>
          <p:cNvSpPr/>
          <p:nvPr/>
        </p:nvSpPr>
        <p:spPr>
          <a:xfrm>
            <a:off x="11116790" y="5274380"/>
            <a:ext cx="3513611" cy="3018437"/>
          </a:xfrm>
          <a:prstGeom prst="rect">
            <a:avLst/>
          </a:prstGeom>
          <a:noFill/>
          <a:ln>
            <a:noFill/>
          </a:ln>
        </p:spPr>
        <p:txBody>
          <a:bodyPr wrap="square" lIns="146280" tIns="146280" rIns="146280" bIns="14628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None/>
              <a:defRPr sz="14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Medium"/>
              <a:buNone/>
              <a:defRPr sz="1800" b="0" i="0" u="none" strike="noStrike" cap="non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algn="l"/>
            <a:r>
              <a:rPr lang="en-US" altLang="en-US" sz="2880" b="1" u="sng" dirty="0"/>
              <a:t>Presented To</a:t>
            </a:r>
          </a:p>
          <a:p>
            <a:pPr algn="l"/>
            <a:r>
              <a:rPr lang="en-US" altLang="en-US" sz="960" dirty="0"/>
              <a:t>.</a:t>
            </a:r>
          </a:p>
          <a:p>
            <a:pPr algn="l"/>
            <a:r>
              <a:rPr lang="en-US" altLang="en-US" sz="2880" dirty="0"/>
              <a:t>Engr. </a:t>
            </a:r>
            <a:r>
              <a:rPr lang="en-US" altLang="en-US" sz="2880" dirty="0" err="1"/>
              <a:t>Rohul</a:t>
            </a:r>
            <a:r>
              <a:rPr lang="en-US" altLang="en-US" sz="2880" dirty="0"/>
              <a:t> Amin</a:t>
            </a:r>
          </a:p>
          <a:p>
            <a:pPr algn="l"/>
            <a:r>
              <a:rPr lang="en-US" altLang="en-US" sz="2880" dirty="0"/>
              <a:t>Lecturer, CSE</a:t>
            </a:r>
          </a:p>
          <a:p>
            <a:pPr algn="l"/>
            <a:r>
              <a:rPr lang="en-US" altLang="en-US" sz="2880" dirty="0"/>
              <a:t>Nadim Reza</a:t>
            </a:r>
          </a:p>
          <a:p>
            <a:pPr algn="l"/>
            <a:r>
              <a:rPr lang="en-US" altLang="en-US" sz="2880" dirty="0"/>
              <a:t>Lecturer, CSE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55" y="279399"/>
            <a:ext cx="1280162" cy="12801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7533" y="7926495"/>
            <a:ext cx="185092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0" dirty="0"/>
              <a:t>25</a:t>
            </a:r>
            <a:r>
              <a:rPr lang="en-US" sz="1120" baseline="30000" dirty="0"/>
              <a:t>th</a:t>
            </a:r>
            <a:r>
              <a:rPr lang="en-US" sz="1120" dirty="0"/>
              <a:t> November,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92632" y="7943176"/>
            <a:ext cx="185092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0" dirty="0"/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7945072"/>
            <a:ext cx="7315200" cy="28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280" b="1" dirty="0"/>
              <a:t>Customer Churn Prediction using Machine Learning</a:t>
            </a:r>
            <a:endParaRPr lang="en-US" sz="1280" b="1" dirty="0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02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Roadmap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5264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07688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581995"/>
            <a:ext cx="40915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Introduction &amp; Problem Context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072414"/>
            <a:ext cx="640794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customer segmentation challenges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305264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3407688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35819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Research Foundation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4072414"/>
            <a:ext cx="640806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Literature review and dataset exploration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41714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5338763"/>
            <a:ext cx="32975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Technical Implementation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829181"/>
            <a:ext cx="640794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Methodology, models, and feature engineering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5141714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Results &amp; Insights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5829181"/>
            <a:ext cx="640806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Analysis, business recommendations, and conclusions</a:t>
            </a:r>
            <a:endParaRPr lang="en-US" sz="17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E55C6C-FF37-F750-AB41-53CB12288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6300" y="7727236"/>
            <a:ext cx="2324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93795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Challenge of Modern Marketing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 Statement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20472"/>
            <a:ext cx="7604284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Businesses struggle to identify their true target audiences, resulting in wasted marketing budgets on generic, one-size-fits-all campaigns that fail to resonate with diverse customer needs.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6777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Solution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4719876"/>
            <a:ext cx="7604284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customer segmentation using machine learning enables personalized marketing strategies, improves customer retention, and maximizes return on marketing investment through targeted approaches.</a:t>
            </a:r>
            <a:endParaRPr lang="en-US" sz="1750" dirty="0"/>
          </a:p>
        </p:txBody>
      </p:sp>
      <p:pic>
        <p:nvPicPr>
          <p:cNvPr id="1026" name="Picture 2" descr="What Do You Really Know About Your Customer Base? - Knowledge at Wharton">
            <a:extLst>
              <a:ext uri="{FF2B5EF4-FFF2-40B4-BE49-F238E27FC236}">
                <a16:creationId xmlns:a16="http://schemas.microsoft.com/office/drawing/2014/main" id="{8790F803-C566-6EFE-44F8-C17BA918F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2629" y="1853725"/>
            <a:ext cx="5137079" cy="4428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914BD7-C07F-7C05-FBEC-76DC6051D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6300" y="7716962"/>
            <a:ext cx="2324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31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65590"/>
            <a:ext cx="6407944" cy="2887028"/>
          </a:xfrm>
          <a:prstGeom prst="roundRect">
            <a:avLst>
              <a:gd name="adj" fmla="val 330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2100024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2287072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3007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Pattern Discovery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3497699"/>
            <a:ext cx="593907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customer data to identify distinct purchasing behaviors and demographic patterns across the customer base.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28548" y="1865590"/>
            <a:ext cx="6408063" cy="2887028"/>
          </a:xfrm>
          <a:prstGeom prst="roundRect">
            <a:avLst>
              <a:gd name="adj" fmla="val 330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982" y="2100024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2287072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62982" y="3007281"/>
            <a:ext cx="32720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K-Means Implementation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62982" y="3497699"/>
            <a:ext cx="593919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K-Means clustering algorithm to segment customers into meaningful, actionable groups.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793790" y="4979432"/>
            <a:ext cx="6407944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224" y="5213866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15390" y="5400913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28224" y="61211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1028224" y="6611541"/>
            <a:ext cx="593907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advanced features like Spending-to-Income Ratio to enhance cluster separation and insight quality.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428548" y="4979432"/>
            <a:ext cx="6408063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2982" y="5213866"/>
            <a:ext cx="680442" cy="68044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50148" y="5400913"/>
            <a:ext cx="306110" cy="30611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62982" y="6121122"/>
            <a:ext cx="36206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7662982" y="6611541"/>
            <a:ext cx="593919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actionable marketing strategies tailored to each identified customer segment.</a:t>
            </a:r>
            <a:endParaRPr lang="en-US" sz="1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F040908-50AA-584B-43CD-E4187D75357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306300" y="7758249"/>
            <a:ext cx="2324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5235"/>
            <a:ext cx="720113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Learning from Prior Research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299960" y="2029539"/>
            <a:ext cx="30480" cy="5274826"/>
          </a:xfrm>
          <a:prstGeom prst="roundRect">
            <a:avLst>
              <a:gd name="adj" fmla="val 296930"/>
            </a:avLst>
          </a:prstGeom>
          <a:solidFill>
            <a:srgbClr val="BFD3D8"/>
          </a:solidFill>
          <a:ln/>
        </p:spPr>
      </p:sp>
      <p:sp>
        <p:nvSpPr>
          <p:cNvPr id="4" name="Shape 2"/>
          <p:cNvSpPr/>
          <p:nvPr/>
        </p:nvSpPr>
        <p:spPr>
          <a:xfrm>
            <a:off x="6456878" y="2256711"/>
            <a:ext cx="646390" cy="30480"/>
          </a:xfrm>
          <a:prstGeom prst="roundRect">
            <a:avLst>
              <a:gd name="adj" fmla="val 296930"/>
            </a:avLst>
          </a:prstGeom>
          <a:solidFill>
            <a:srgbClr val="BFD3D8"/>
          </a:solidFill>
          <a:ln/>
        </p:spPr>
      </p:sp>
      <p:sp>
        <p:nvSpPr>
          <p:cNvPr id="5" name="Shape 3"/>
          <p:cNvSpPr/>
          <p:nvPr/>
        </p:nvSpPr>
        <p:spPr>
          <a:xfrm>
            <a:off x="7072789" y="2029539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53632" y="2069961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753910" y="2103596"/>
            <a:ext cx="44838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2019: Demographic-Only Approach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3790" y="2569369"/>
            <a:ext cx="5444014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Study: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"Customer Segmentation Based on Buying Behavior"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93790" y="3345061"/>
            <a:ext cx="5444014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Method: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Basic K-Means using only demographic data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93790" y="3797498"/>
            <a:ext cx="5444014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Limitation: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Ignored behavioral features like spending patterns, resulting in poor cluster separation and low silhouette scores.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527131" y="3549491"/>
            <a:ext cx="646390" cy="30480"/>
          </a:xfrm>
          <a:prstGeom prst="roundRect">
            <a:avLst>
              <a:gd name="adj" fmla="val 296930"/>
            </a:avLst>
          </a:prstGeom>
          <a:solidFill>
            <a:srgbClr val="BFD3D8"/>
          </a:solidFill>
          <a:ln/>
        </p:spPr>
      </p:sp>
      <p:sp>
        <p:nvSpPr>
          <p:cNvPr id="12" name="Shape 10"/>
          <p:cNvSpPr/>
          <p:nvPr/>
        </p:nvSpPr>
        <p:spPr>
          <a:xfrm>
            <a:off x="7072789" y="3322320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3632" y="3362742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392597" y="3396377"/>
            <a:ext cx="3435906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2021: Hierarchical Methods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92597" y="3862149"/>
            <a:ext cx="5444014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Study: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"Market Segmentation using Hierarchical Clustering"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392597" y="4637842"/>
            <a:ext cx="5444014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Method: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Agglomerative clustering on limited datasets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392597" y="5090279"/>
            <a:ext cx="5444014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Limitation: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 computational costs for large-scale data; difficult to interpret for business stakeholders.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456878" y="5425321"/>
            <a:ext cx="646390" cy="30480"/>
          </a:xfrm>
          <a:prstGeom prst="roundRect">
            <a:avLst>
              <a:gd name="adj" fmla="val 296930"/>
            </a:avLst>
          </a:prstGeom>
          <a:solidFill>
            <a:srgbClr val="BFD3D8"/>
          </a:solidFill>
          <a:ln/>
        </p:spPr>
      </p:sp>
      <p:sp>
        <p:nvSpPr>
          <p:cNvPr id="19" name="Shape 17"/>
          <p:cNvSpPr/>
          <p:nvPr/>
        </p:nvSpPr>
        <p:spPr>
          <a:xfrm>
            <a:off x="7072789" y="5198150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3632" y="5238571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2321719" y="5272207"/>
            <a:ext cx="3916085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2024: Our Integrated Approach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93790" y="5737979"/>
            <a:ext cx="5444014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Innovation: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Combines demographic AND behavioral data with advanced feature engineering to overcome previous limitations and deliver actionable insights.</a:t>
            </a:r>
            <a:endParaRPr lang="en-US" sz="16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EC9FF76-94B9-CFFE-C95B-B41CCA9EB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6300" y="7810500"/>
            <a:ext cx="2324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5200"/>
            <a:ext cx="768060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&amp; Preprocessing Pipeline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793319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Source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3790" y="2380178"/>
            <a:ext cx="627245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Kaggle Mall Customers Dataset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90" y="2870121"/>
            <a:ext cx="627245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Size: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200 samples with 5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3790" y="3380423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Core Features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93790" y="3967282"/>
            <a:ext cx="627245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 (demographic)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3790" y="4344948"/>
            <a:ext cx="627245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Annual Income (k$)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3790" y="4722614"/>
            <a:ext cx="627245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Spending Score (1-100 scale)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3790" y="5100280"/>
            <a:ext cx="627245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Gender (categorical)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71780" y="1793319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Preprocessing Steps</a:t>
            </a:r>
            <a:endParaRPr lang="en-US" sz="2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780" y="2405658"/>
            <a:ext cx="1020723" cy="123729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796576" y="260973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Cleaning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796576" y="3132653"/>
            <a:ext cx="504765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CustomerID (non-predictive)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780" y="3642955"/>
            <a:ext cx="1020723" cy="12372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96576" y="384702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Encoding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796576" y="4369951"/>
            <a:ext cx="504765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Gender: Male=0, Female=1</a:t>
            </a:r>
            <a:endParaRPr lang="en-US" sz="16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780" y="4880253"/>
            <a:ext cx="1020723" cy="12372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96576" y="508432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796576" y="5607248"/>
            <a:ext cx="504765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Spending_to_Income_Ratio</a:t>
            </a:r>
            <a:endParaRPr lang="en-US" sz="16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780" y="6117550"/>
            <a:ext cx="1020723" cy="12372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96576" y="632162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Standardization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8796576" y="6844546"/>
            <a:ext cx="504765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StandardScaler for normalization</a:t>
            </a:r>
            <a:endParaRPr lang="en-US" sz="1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4A1F389-5CF0-9CEE-C93F-905CBFC106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06300" y="7719252"/>
            <a:ext cx="2324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52" y="565547"/>
            <a:ext cx="3342322" cy="417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19852" y="1250513"/>
            <a:ext cx="534710" cy="802124"/>
          </a:xfrm>
          <a:prstGeom prst="roundRect">
            <a:avLst>
              <a:gd name="adj" fmla="val 36005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6897" y="1526262"/>
            <a:ext cx="20050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388150" y="1384102"/>
            <a:ext cx="167116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88150" y="1673185"/>
            <a:ext cx="12522398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 and initial exploration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9852" y="2186226"/>
            <a:ext cx="534710" cy="802124"/>
          </a:xfrm>
          <a:prstGeom prst="roundRect">
            <a:avLst>
              <a:gd name="adj" fmla="val 36005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897" y="2461974"/>
            <a:ext cx="20050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388150" y="2319814"/>
            <a:ext cx="167116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8150" y="2608898"/>
            <a:ext cx="12522398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Cleaning and encoding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9852" y="3121938"/>
            <a:ext cx="534710" cy="802124"/>
          </a:xfrm>
          <a:prstGeom prst="roundRect">
            <a:avLst>
              <a:gd name="adj" fmla="val 36005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897" y="3397687"/>
            <a:ext cx="20050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388150" y="3255526"/>
            <a:ext cx="167116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88150" y="3544610"/>
            <a:ext cx="12522398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derived features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9852" y="4057650"/>
            <a:ext cx="534710" cy="802124"/>
          </a:xfrm>
          <a:prstGeom prst="roundRect">
            <a:avLst>
              <a:gd name="adj" fmla="val 36005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897" y="4333399"/>
            <a:ext cx="20050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88150" y="4191238"/>
            <a:ext cx="167116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Scaling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88150" y="4480322"/>
            <a:ext cx="12522398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StandardScaler normalization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9852" y="4993362"/>
            <a:ext cx="534710" cy="802124"/>
          </a:xfrm>
          <a:prstGeom prst="roundRect">
            <a:avLst>
              <a:gd name="adj" fmla="val 36005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897" y="5269111"/>
            <a:ext cx="20050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388150" y="5126950"/>
            <a:ext cx="167116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Optimal 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88150" y="5416034"/>
            <a:ext cx="12522398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Elbow Method (K=4)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9852" y="5929074"/>
            <a:ext cx="534710" cy="802124"/>
          </a:xfrm>
          <a:prstGeom prst="roundRect">
            <a:avLst>
              <a:gd name="adj" fmla="val 36005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897" y="6204823"/>
            <a:ext cx="20050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388150" y="6062663"/>
            <a:ext cx="167116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88150" y="6351746"/>
            <a:ext cx="12522398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K-Means clustering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9852" y="6864787"/>
            <a:ext cx="534710" cy="802124"/>
          </a:xfrm>
          <a:prstGeom prst="roundRect">
            <a:avLst>
              <a:gd name="adj" fmla="val 36005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897" y="7140535"/>
            <a:ext cx="200501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7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388150" y="6998375"/>
            <a:ext cx="167116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88150" y="7287458"/>
            <a:ext cx="12522398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 and analyze results</a:t>
            </a:r>
            <a:endParaRPr lang="en-US" sz="10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0C12ED2-F97C-CDB9-380A-60CA7069A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6300" y="7782880"/>
            <a:ext cx="2324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2386"/>
            <a:ext cx="80232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 Comparison &amp; Selection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54793"/>
            <a:ext cx="13042821" cy="3546038"/>
          </a:xfrm>
          <a:prstGeom prst="roundRect">
            <a:avLst>
              <a:gd name="adj" fmla="val 268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162413"/>
            <a:ext cx="13027581" cy="6275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306122"/>
            <a:ext cx="34507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2306122"/>
            <a:ext cx="253507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Interpretability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6706" y="2306122"/>
            <a:ext cx="253507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Speed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933033" y="2306122"/>
            <a:ext cx="266914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Use Case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2789992"/>
            <a:ext cx="13027581" cy="9677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343" y="2933700"/>
            <a:ext cx="34507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K-Means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940379" y="2933700"/>
            <a:ext cx="253507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6706" y="2933700"/>
            <a:ext cx="253507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933033" y="2933700"/>
            <a:ext cx="266914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Distinct, well-separated clusters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3757732"/>
            <a:ext cx="13027581" cy="9677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343" y="3901440"/>
            <a:ext cx="34507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GMM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940379" y="3901440"/>
            <a:ext cx="253507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F59E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6706" y="3901440"/>
            <a:ext cx="253507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F59E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933033" y="3901440"/>
            <a:ext cx="266914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Overlapping data with soft assignments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725472"/>
            <a:ext cx="13027581" cy="9677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343" y="4869180"/>
            <a:ext cx="34507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DBSCAN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940379" y="4869180"/>
            <a:ext cx="253507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936706" y="4869180"/>
            <a:ext cx="253507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933033" y="4869180"/>
            <a:ext cx="266914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Outlier detection in density-based patterns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93790" y="5955983"/>
            <a:ext cx="13042821" cy="1281232"/>
          </a:xfrm>
          <a:prstGeom prst="roundRect">
            <a:avLst>
              <a:gd name="adj" fmla="val 7436"/>
            </a:avLst>
          </a:prstGeom>
          <a:solidFill>
            <a:srgbClr val="C6E4EB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284833"/>
            <a:ext cx="283488" cy="22681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30906" y="6239470"/>
            <a:ext cx="1207889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Selection: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K-Means clustering provided the most distinct, interpretable, and actionable business insights for our customer segmentation task, achieving high silhouette scores indicating excellent cluster separation.</a:t>
            </a:r>
            <a:endParaRPr lang="en-US" sz="17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7C38330-682F-D35F-C407-E380F17DA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7604" y="7810500"/>
            <a:ext cx="2324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0838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67953"/>
            <a:ext cx="740140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Customer Segments &amp; Strategic Insights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793790" y="3402211"/>
            <a:ext cx="6441996" cy="1992630"/>
          </a:xfrm>
          <a:prstGeom prst="roundRect">
            <a:avLst>
              <a:gd name="adj" fmla="val 3347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6650" y="3425071"/>
            <a:ext cx="6396276" cy="476250"/>
          </a:xfrm>
          <a:prstGeom prst="roundRect">
            <a:avLst>
              <a:gd name="adj" fmla="val 8243"/>
            </a:avLst>
          </a:prstGeom>
          <a:solidFill>
            <a:srgbClr val="D9EDF2"/>
          </a:solidFill>
          <a:ln/>
        </p:spPr>
      </p:sp>
      <p:sp>
        <p:nvSpPr>
          <p:cNvPr id="6" name="Text 3"/>
          <p:cNvSpPr/>
          <p:nvPr/>
        </p:nvSpPr>
        <p:spPr>
          <a:xfrm>
            <a:off x="3895725" y="351055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5360" y="406003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Budget Customers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75360" y="4403288"/>
            <a:ext cx="6078855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Profile: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Low Income, Low Spending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75360" y="4736783"/>
            <a:ext cx="6078855" cy="47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Strategy: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Offer promotional discounts, budget-friendly product lines, and value bundles to attract price-sensitive shoppers.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94496" y="3402211"/>
            <a:ext cx="6442115" cy="1992630"/>
          </a:xfrm>
          <a:prstGeom prst="roundRect">
            <a:avLst>
              <a:gd name="adj" fmla="val 3347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17356" y="3425071"/>
            <a:ext cx="6396395" cy="476250"/>
          </a:xfrm>
          <a:prstGeom prst="roundRect">
            <a:avLst>
              <a:gd name="adj" fmla="val 8243"/>
            </a:avLst>
          </a:prstGeom>
          <a:solidFill>
            <a:srgbClr val="D9EDF2"/>
          </a:solidFill>
          <a:ln/>
        </p:spPr>
      </p:sp>
      <p:sp>
        <p:nvSpPr>
          <p:cNvPr id="12" name="Text 9"/>
          <p:cNvSpPr/>
          <p:nvPr/>
        </p:nvSpPr>
        <p:spPr>
          <a:xfrm>
            <a:off x="10496431" y="351055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576066" y="406003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General Customers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576066" y="4403288"/>
            <a:ext cx="607897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Profile: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Average Income, Average Spending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576066" y="4736783"/>
            <a:ext cx="6078974" cy="47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Strategy: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Implement standard promotions, loyalty reward programs, and seasonal campaigns to maintain engagement.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3790" y="5553551"/>
            <a:ext cx="6441996" cy="1992630"/>
          </a:xfrm>
          <a:prstGeom prst="roundRect">
            <a:avLst>
              <a:gd name="adj" fmla="val 3347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6650" y="5576411"/>
            <a:ext cx="6396276" cy="476250"/>
          </a:xfrm>
          <a:prstGeom prst="roundRect">
            <a:avLst>
              <a:gd name="adj" fmla="val 8243"/>
            </a:avLst>
          </a:prstGeom>
          <a:solidFill>
            <a:srgbClr val="D9EDF2"/>
          </a:solidFill>
          <a:ln/>
        </p:spPr>
      </p:sp>
      <p:sp>
        <p:nvSpPr>
          <p:cNvPr id="18" name="Text 15"/>
          <p:cNvSpPr/>
          <p:nvPr/>
        </p:nvSpPr>
        <p:spPr>
          <a:xfrm>
            <a:off x="3895725" y="566189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975360" y="621137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Premium Customers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975360" y="6554629"/>
            <a:ext cx="6078855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Profile: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 Income, High Spending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75360" y="6888123"/>
            <a:ext cx="6078855" cy="47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Strategy: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Deploy exclusive VIP services, luxury product offerings, personalized experiences, and premium membership programs.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394496" y="5553551"/>
            <a:ext cx="6442115" cy="1992630"/>
          </a:xfrm>
          <a:prstGeom prst="roundRect">
            <a:avLst>
              <a:gd name="adj" fmla="val 3347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17356" y="5576411"/>
            <a:ext cx="6396395" cy="476250"/>
          </a:xfrm>
          <a:prstGeom prst="roundRect">
            <a:avLst>
              <a:gd name="adj" fmla="val 8243"/>
            </a:avLst>
          </a:prstGeom>
          <a:solidFill>
            <a:srgbClr val="D9EDF2"/>
          </a:solidFill>
          <a:ln/>
        </p:spPr>
      </p:sp>
      <p:sp>
        <p:nvSpPr>
          <p:cNvPr id="24" name="Text 21"/>
          <p:cNvSpPr/>
          <p:nvPr/>
        </p:nvSpPr>
        <p:spPr>
          <a:xfrm>
            <a:off x="10496431" y="566189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7576066" y="621137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Cautious Savers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7576066" y="6554629"/>
            <a:ext cx="607897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Profile: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 Income, Low Spending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576066" y="6888123"/>
            <a:ext cx="6078974" cy="47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Strategy: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Focus marketing on quality, durability, and long-term value propositions to convert high-earners into active spenders.</a:t>
            </a:r>
            <a:endParaRPr lang="en-US" sz="12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BAD4D48-FD4C-FB03-9A53-ED56DA505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6026" y="7679206"/>
            <a:ext cx="2324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1471"/>
            <a:ext cx="736675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Conclusions &amp; Future Directions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2439591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Achievements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3790" y="3026450"/>
            <a:ext cx="6949440" cy="1224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Successfully segmented customers into 4 distinct, actionable groups using K-Means clustering. The Premium Customer segment represents the highest revenue potential and should be prioritized for targeted marketing campaigns.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90" y="4455438"/>
            <a:ext cx="3214449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Research Scope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93790" y="5042297"/>
            <a:ext cx="694944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real-time purchasing data streams for dynamic segmentation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3790" y="5419963"/>
            <a:ext cx="694944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Deep Learning autoencoders for complex feature extraction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3790" y="5797629"/>
            <a:ext cx="6949440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interactive web application (Streamlit) for marketing team accessibility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3790" y="6481524"/>
            <a:ext cx="694944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 to multi-channel customer behavior analysis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41DE791-54C2-3224-D60F-C3380A313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6300" y="7810500"/>
            <a:ext cx="2324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61128-B16F-A5CF-A65C-0CB01C2B9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8">
            <a:extLst>
              <a:ext uri="{FF2B5EF4-FFF2-40B4-BE49-F238E27FC236}">
                <a16:creationId xmlns:a16="http://schemas.microsoft.com/office/drawing/2014/main" id="{C316782B-F6C6-03E2-383F-ACDE7B5902BF}"/>
              </a:ext>
            </a:extLst>
          </p:cNvPr>
          <p:cNvSpPr/>
          <p:nvPr/>
        </p:nvSpPr>
        <p:spPr>
          <a:xfrm>
            <a:off x="1089060" y="1109609"/>
            <a:ext cx="5670425" cy="63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5C6B491D-1615-AADD-D27D-B8A436F7417F}"/>
              </a:ext>
            </a:extLst>
          </p:cNvPr>
          <p:cNvSpPr/>
          <p:nvPr/>
        </p:nvSpPr>
        <p:spPr>
          <a:xfrm>
            <a:off x="1089060" y="2053418"/>
            <a:ext cx="10361276" cy="81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[1] A. K. Jain, "Data clustering: 50 years beyond K-means," </a:t>
            </a:r>
            <a:r>
              <a:rPr lang="en-US" sz="160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Recognition Letters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2010.</a:t>
            </a:r>
            <a:endParaRPr lang="en-US" sz="16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2B52E6F-1900-6CFD-AA3A-5F73E02A6A91}"/>
              </a:ext>
            </a:extLst>
          </p:cNvPr>
          <p:cNvSpPr/>
          <p:nvPr/>
        </p:nvSpPr>
        <p:spPr>
          <a:xfrm>
            <a:off x="1089060" y="2459244"/>
            <a:ext cx="10361276" cy="405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[2] Kaggle Dataset: Mall Customer Segmentation Data</a:t>
            </a:r>
            <a:endParaRPr lang="en-US" sz="16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C9157E3F-D289-5ECA-A2D7-95DCEF54A69E}"/>
              </a:ext>
            </a:extLst>
          </p:cNvPr>
          <p:cNvSpPr/>
          <p:nvPr/>
        </p:nvSpPr>
        <p:spPr>
          <a:xfrm>
            <a:off x="1089060" y="2867418"/>
            <a:ext cx="10361276" cy="405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[3] Scikit-learn Documentation: Clustering Algorithms</a:t>
            </a:r>
            <a:endParaRPr lang="en-US" sz="16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74885F16-F05E-E304-E301-5EC361A93B49}"/>
              </a:ext>
            </a:extLst>
          </p:cNvPr>
          <p:cNvSpPr/>
          <p:nvPr/>
        </p:nvSpPr>
        <p:spPr>
          <a:xfrm>
            <a:off x="924570" y="4127334"/>
            <a:ext cx="10361276" cy="54819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A518F2A-C1E8-66C2-D6AA-C0506F808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629" y="7727237"/>
            <a:ext cx="2324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39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9D0E9-1198-A5A4-8A3B-9E849924C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2">
            <a:extLst>
              <a:ext uri="{FF2B5EF4-FFF2-40B4-BE49-F238E27FC236}">
                <a16:creationId xmlns:a16="http://schemas.microsoft.com/office/drawing/2014/main" id="{3F95F69B-9385-712A-F1DD-CF0DB2ECD261}"/>
              </a:ext>
            </a:extLst>
          </p:cNvPr>
          <p:cNvSpPr/>
          <p:nvPr/>
        </p:nvSpPr>
        <p:spPr>
          <a:xfrm>
            <a:off x="3358271" y="1928723"/>
            <a:ext cx="7131645" cy="47953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5438508-1C6F-68EB-C091-6A072295D406}"/>
              </a:ext>
            </a:extLst>
          </p:cNvPr>
          <p:cNvSpPr/>
          <p:nvPr/>
        </p:nvSpPr>
        <p:spPr>
          <a:xfrm>
            <a:off x="3358272" y="2414426"/>
            <a:ext cx="7131645" cy="184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8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4302CA35-9071-C2A8-EE0A-8402D67DCF70}"/>
              </a:ext>
            </a:extLst>
          </p:cNvPr>
          <p:cNvSpPr/>
          <p:nvPr/>
        </p:nvSpPr>
        <p:spPr>
          <a:xfrm>
            <a:off x="3358272" y="4329512"/>
            <a:ext cx="7131645" cy="443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C2FB25F8-29B6-E02D-307C-26B00E4D6045}"/>
              </a:ext>
            </a:extLst>
          </p:cNvPr>
          <p:cNvSpPr/>
          <p:nvPr/>
        </p:nvSpPr>
        <p:spPr>
          <a:xfrm>
            <a:off x="3358270" y="5533239"/>
            <a:ext cx="7131645" cy="47953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AAD7FE1-8AB1-4A35-430B-B2AF4B7B1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6300" y="7810500"/>
            <a:ext cx="2324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4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794</Words>
  <Application>Microsoft Office PowerPoint</Application>
  <PresentationFormat>Custom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Host Grotesk Medium</vt:lpstr>
      <vt:lpstr>Host Grotesk Light</vt:lpstr>
      <vt:lpstr>Roboto</vt:lpstr>
      <vt:lpstr>Arial</vt:lpstr>
      <vt:lpstr>Office Theme</vt:lpstr>
      <vt:lpstr>Bangladesh Army University of Science and Technology (BAUST) Saidpur Cantonment, Nilphamari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MD ROBIUS SANY SIAM</dc:creator>
  <cp:lastModifiedBy>MD ROBIUS SANY SIAM</cp:lastModifiedBy>
  <cp:revision>2</cp:revision>
  <dcterms:created xsi:type="dcterms:W3CDTF">2025-11-24T15:58:02Z</dcterms:created>
  <dcterms:modified xsi:type="dcterms:W3CDTF">2025-11-24T16:09:08Z</dcterms:modified>
</cp:coreProperties>
</file>