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61" r:id="rId6"/>
    <p:sldId id="260" r:id="rId7"/>
    <p:sldId id="262" r:id="rId8"/>
    <p:sldId id="270" r:id="rId9"/>
    <p:sldId id="264" r:id="rId10"/>
    <p:sldId id="263" r:id="rId11"/>
    <p:sldId id="271" r:id="rId12"/>
    <p:sldId id="277" r:id="rId13"/>
    <p:sldId id="265" r:id="rId14"/>
    <p:sldId id="266" r:id="rId15"/>
    <p:sldId id="274" r:id="rId16"/>
    <p:sldId id="275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6B65E-AE5E-4CF1-82E9-F36035CF2DE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670C2-501B-412C-93EE-55AAE8B7F35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64E55-F741-4EB5-BBD8-7AD629DA7DC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8C982-702A-418B-94C8-4F562B58BF7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5E53E-E583-476D-921A-FB91C951995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E99E-C0FE-4FFD-BCCC-CE00D2F67F3F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06DD7-4EEB-42B1-97BC-0DFA6FE72D6E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F5C9E-C4F3-4E93-97AF-0043C957F380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22433-BEF6-4673-9604-FE9164ED711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8922-F9CB-43A0-9CDE-8A0F684A368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ABB9-2A16-455B-96C3-837F1AEF3BB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CC1B4-43A5-4770-8FFC-CB8073944AD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0A23D-9EE2-4D32-9E02-6447462DE9F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Short Thesis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DF2DD-CF45-4BB9-A1F3-A4B33517D1B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Short Thesis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7464" y="248575"/>
            <a:ext cx="10972800" cy="1107628"/>
          </a:xfrm>
        </p:spPr>
        <p:txBody>
          <a:bodyPr>
            <a:noAutofit/>
          </a:bodyPr>
          <a:lstStyle/>
          <a:p>
            <a:r>
              <a:rPr lang="en-US" sz="3200" b="1">
                <a:latin typeface="Arial Narrow" panose="020B0606020202030204" pitchFamily="34" charset="0"/>
              </a:rPr>
              <a:t>Bangladesh Army University of Science and Technology (BAUST)</a:t>
            </a:r>
            <a:br>
              <a:rPr lang="en-US" sz="3200" b="1">
                <a:latin typeface="Arial Narrow" panose="020B0606020202030204" pitchFamily="34" charset="0"/>
              </a:rPr>
            </a:br>
            <a:r>
              <a:rPr lang="en-US" sz="3200" b="1">
                <a:latin typeface="Arial Narrow" panose="020B0606020202030204" pitchFamily="34" charset="0"/>
              </a:rPr>
              <a:t>Saidpur Cantonment, </a:t>
            </a:r>
            <a:r>
              <a:rPr lang="en-US" sz="3200" b="1" err="1">
                <a:latin typeface="Arial Narrow" panose="020B0606020202030204" pitchFamily="34" charset="0"/>
              </a:rPr>
              <a:t>Nilphamari</a:t>
            </a:r>
            <a:endParaRPr lang="en-US" sz="3200" b="1">
              <a:latin typeface="Arial Narrow" panose="020B0606020202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249" y="1593540"/>
            <a:ext cx="12010015" cy="298780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800" b="1">
                <a:latin typeface="Arial Narrow" panose="020B0606020202030204"/>
              </a:rPr>
              <a:t> Department of Computer Science and Engineering (CSE)</a:t>
            </a:r>
            <a:endParaRPr lang="en-US" sz="2800" b="1">
              <a:latin typeface="Arial Narrow" panose="020B0606020202030204"/>
            </a:endParaRPr>
          </a:p>
          <a:p>
            <a:endParaRPr lang="en-US" sz="800">
              <a:latin typeface="Arial Narrow" panose="020B0606020202030204" pitchFamily="34" charset="0"/>
            </a:endParaRPr>
          </a:p>
          <a:p>
            <a:r>
              <a:rPr lang="en-US">
                <a:latin typeface="Arial Narrow" panose="020B0606020202030204"/>
              </a:rPr>
              <a:t>Course Code: CSE 4140</a:t>
            </a:r>
            <a:endParaRPr lang="en-US">
              <a:latin typeface="Arial Narrow" panose="020B0606020202030204" pitchFamily="34" charset="0"/>
            </a:endParaRPr>
          </a:p>
          <a:p>
            <a:r>
              <a:rPr lang="en-US">
                <a:latin typeface="Arial Narrow" panose="020B0606020202030204"/>
              </a:rPr>
              <a:t>Course Title: Machine Learning Sessional</a:t>
            </a:r>
            <a:endParaRPr lang="en-US">
              <a:latin typeface="Arial Narrow" panose="020B0606020202030204" pitchFamily="34" charset="0"/>
            </a:endParaRPr>
          </a:p>
          <a:p>
            <a:r>
              <a:rPr lang="en-US" b="1">
                <a:latin typeface="Arial Narrow" panose="020B0606020202030204"/>
              </a:rPr>
              <a:t>Project- Diabetes Prediction Using Machine Learning</a:t>
            </a:r>
            <a:endParaRPr lang="en-US" b="1">
              <a:latin typeface="Arial Narrow" panose="020B0606020202030204" pitchFamily="34" charset="0"/>
            </a:endParaRPr>
          </a:p>
          <a:p>
            <a:endParaRPr lang="en-US">
              <a:latin typeface="Arial Narrow" panose="020B0606020202030204" pitchFamily="34" charset="0"/>
            </a:endParaRPr>
          </a:p>
          <a:p>
            <a:r>
              <a:rPr lang="en-US">
                <a:latin typeface="Arial Narrow" panose="020B0606020202030204"/>
              </a:rPr>
              <a:t>Date: 25-11-2025</a:t>
            </a:r>
            <a:endParaRPr lang="en-US">
              <a:latin typeface="Arial Narrow" panose="020B0606020202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49" y="302259"/>
            <a:ext cx="975561" cy="100025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ubtitle 2"/>
          <p:cNvSpPr txBox="1"/>
          <p:nvPr/>
        </p:nvSpPr>
        <p:spPr>
          <a:xfrm>
            <a:off x="92675" y="4587966"/>
            <a:ext cx="4469776" cy="18521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>
                <a:latin typeface="Arial Narrow" panose="020B0606020202030204" pitchFamily="34" charset="0"/>
              </a:rPr>
              <a:t>Presented By:</a:t>
            </a:r>
            <a:endParaRPr lang="en-US" b="1" u="sng">
              <a:latin typeface="Arial Narrow" panose="020B0606020202030204" pitchFamily="34" charset="0"/>
            </a:endParaRPr>
          </a:p>
          <a:p>
            <a:pPr marL="457200" indent="-457200" algn="l">
              <a:buAutoNum type="arabicPeriod"/>
            </a:pPr>
            <a:r>
              <a:rPr lang="en-US" b="1">
                <a:latin typeface="Arial Narrow" panose="020B0606020202030204"/>
              </a:rPr>
              <a:t>Tamzid </a:t>
            </a:r>
            <a:r>
              <a:rPr lang="en-US" b="1" err="1">
                <a:latin typeface="Arial Narrow" panose="020B0606020202030204"/>
              </a:rPr>
              <a:t>Shafayet</a:t>
            </a:r>
            <a:r>
              <a:rPr lang="en-US">
                <a:latin typeface="Arial Narrow" panose="020B0606020202030204"/>
              </a:rPr>
              <a:t>, 220201001</a:t>
            </a:r>
            <a:endParaRPr lang="en-US">
              <a:latin typeface="Arial Narrow" panose="020B0606020202030204" pitchFamily="34" charset="0"/>
            </a:endParaRPr>
          </a:p>
          <a:p>
            <a:pPr marL="457200" indent="-457200" algn="l">
              <a:buFont typeface="Arial" panose="020B0604020202020204" pitchFamily="34" charset="0"/>
              <a:buAutoNum type="arabicPeriod"/>
            </a:pPr>
            <a:r>
              <a:rPr lang="en-US" b="1">
                <a:latin typeface="Arial Narrow" panose="020B0606020202030204"/>
              </a:rPr>
              <a:t>Zerin Tasnim Trisha</a:t>
            </a:r>
            <a:r>
              <a:rPr lang="en-US">
                <a:latin typeface="Arial Narrow" panose="020B0606020202030204"/>
              </a:rPr>
              <a:t>, 220201008</a:t>
            </a:r>
            <a:endParaRPr lang="en-US">
              <a:latin typeface="Arial Narrow" panose="020B0606020202030204"/>
            </a:endParaRPr>
          </a:p>
          <a:p>
            <a:pPr algn="l"/>
            <a:endParaRPr lang="en-US">
              <a:latin typeface="Arial Narrow" panose="020B0606020202030204" pitchFamily="34" charset="0"/>
            </a:endParaRPr>
          </a:p>
        </p:txBody>
      </p:sp>
      <p:sp>
        <p:nvSpPr>
          <p:cNvPr id="9" name="Subtitle 2"/>
          <p:cNvSpPr txBox="1"/>
          <p:nvPr/>
        </p:nvSpPr>
        <p:spPr>
          <a:xfrm>
            <a:off x="6617643" y="4433507"/>
            <a:ext cx="5492918" cy="21669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u="sng">
                <a:latin typeface="Arial Narrow" panose="020B0606020202030204"/>
              </a:rPr>
              <a:t>Presented To:</a:t>
            </a:r>
            <a:endParaRPr lang="en-US" b="1" u="sng">
              <a:latin typeface="Arial Narrow" panose="020B0606020202030204"/>
            </a:endParaRPr>
          </a:p>
          <a:p>
            <a:r>
              <a:rPr lang="en-US" b="1">
                <a:latin typeface="Arial Narrow" panose="020B0606020202030204"/>
              </a:rPr>
              <a:t>1.Engr. </a:t>
            </a:r>
            <a:r>
              <a:rPr lang="en-US" b="1" err="1">
                <a:latin typeface="Arial Narrow" panose="020B0606020202030204"/>
              </a:rPr>
              <a:t>Rohul</a:t>
            </a:r>
            <a:r>
              <a:rPr lang="en-US" b="1">
                <a:latin typeface="Arial Narrow" panose="020B0606020202030204"/>
              </a:rPr>
              <a:t> Amin</a:t>
            </a:r>
            <a:endParaRPr lang="en-US" b="1">
              <a:latin typeface="Arial Narrow" panose="020B0606020202030204" pitchFamily="34" charset="0"/>
            </a:endParaRPr>
          </a:p>
          <a:p>
            <a:r>
              <a:rPr lang="en-US" sz="2000">
                <a:latin typeface="Arial Narrow" panose="020B0606020202030204"/>
              </a:rPr>
              <a:t>-Lecturer Of CSE, BAUST</a:t>
            </a:r>
            <a:endParaRPr lang="en-US" sz="2000">
              <a:latin typeface="Arial Narrow" panose="020B0606020202030204" pitchFamily="34" charset="0"/>
            </a:endParaRPr>
          </a:p>
          <a:p>
            <a:r>
              <a:rPr lang="en-US" b="1">
                <a:latin typeface="Arial Narrow" panose="020B0606020202030204"/>
              </a:rPr>
              <a:t>2.</a:t>
            </a:r>
            <a:r>
              <a:rPr lang="en-US" b="1">
                <a:solidFill>
                  <a:srgbClr val="000000"/>
                </a:solidFill>
                <a:latin typeface="Arial Narrow" panose="020B0606020202030204"/>
                <a:cs typeface="Poppins"/>
              </a:rPr>
              <a:t> Nadim Reza</a:t>
            </a:r>
            <a:endParaRPr lang="en-US" b="1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r>
              <a:rPr lang="en-US" sz="2000">
                <a:latin typeface="Arial Narrow" panose="020B0606020202030204"/>
              </a:rPr>
              <a:t>-Lecturer Of CSE, BAUST</a:t>
            </a:r>
            <a:endParaRPr lang="en-US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>
                <a:latin typeface="Arial Narrow" panose="020B0606020202030204" pitchFamily="34" charset="0"/>
              </a:rPr>
              <a:t>Outline</a:t>
            </a:r>
            <a:endParaRPr lang="en-US" b="1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Objectives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Related Works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Dataset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Methodology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lang="en-US"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Models Used</a:t>
            </a:r>
            <a:endParaRPr lang="en-US">
              <a:latin typeface="Times New Roman" panose="02020603050405020304" charset="0"/>
              <a:ea typeface="Calibri" panose="020F0502020204030204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lang="en-US">
                <a:latin typeface="Times New Roman" panose="02020603050405020304" charset="0"/>
                <a:ea typeface="Calibri" panose="020F0502020204030204"/>
                <a:cs typeface="Times New Roman" panose="02020603050405020304" charset="0"/>
              </a:rPr>
              <a:t>Comparison Table</a:t>
            </a:r>
            <a:endParaRPr 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AutoNum type="arabicPeriod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16" y="6535611"/>
            <a:ext cx="2743200" cy="36512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72249" y="6538913"/>
            <a:ext cx="4815015" cy="365124"/>
          </a:xfrm>
        </p:spPr>
        <p:txBody>
          <a:bodyPr/>
          <a:lstStyle/>
          <a:p>
            <a:r>
              <a:rPr lang="en-US" sz="1800" b="1">
                <a:solidFill>
                  <a:schemeClr val="bg1"/>
                </a:solidFill>
                <a:latin typeface="Arial Narrow" panose="020B0606020202030204"/>
              </a:rPr>
              <a:t> Diabetes Prediction Using Machine Learning</a:t>
            </a:r>
            <a:endParaRPr lang="en-US" sz="1800">
              <a:solidFill>
                <a:schemeClr val="bg1"/>
              </a:solidFill>
              <a:latin typeface="Arial Narrow" panose="020B06060202020302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Picture 8" descr="Screenshot 2025-11-24 2205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5705" y="1233170"/>
            <a:ext cx="4421505" cy="35077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>
                <a:latin typeface="Arial Narrow" panose="020B0606020202030204" pitchFamily="34" charset="0"/>
              </a:rPr>
              <a:t>Introduction</a:t>
            </a:r>
            <a:endParaRPr lang="en-US" b="1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" y="974725"/>
            <a:ext cx="12038330" cy="53670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altLang="en-US">
              <a:latin typeface="Arial Narrow" panose="020B0606020202030204" pitchFamily="3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Diabetes is a chronic disease affecting millions worldwide.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Early prediction helps reduce severe health risks and complications.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Machine learning can identify hidden patterns in patient data.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Key Focus: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Identify diabetic vs. non-diabetic patients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Improve early prediction to reduce future health risks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Arial Narrow" panose="020B0606020202030204" pitchFamily="34" charset="0"/>
            </a:endParaRPr>
          </a:p>
          <a:p>
            <a:endParaRPr lang="en-US" altLang="en-US"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783" y="6588649"/>
            <a:ext cx="12078731" cy="30024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35" y="6699885"/>
            <a:ext cx="2743200" cy="20066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  <a:sym typeface="+mn-ea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236574" y="6847828"/>
            <a:ext cx="6967148" cy="56209"/>
          </a:xfrm>
        </p:spPr>
        <p:txBody>
          <a:bodyPr/>
          <a:lstStyle/>
          <a:p>
            <a:r>
              <a:rPr lang="en-US" sz="1800" b="1">
                <a:solidFill>
                  <a:schemeClr val="bg1"/>
                </a:solidFill>
                <a:latin typeface="Arial Narrow" panose="020B0606020202030204"/>
              </a:rPr>
              <a:t>            Diabetes Prediction Using Machine Learning</a:t>
            </a:r>
            <a:endParaRPr lang="en-US" sz="1800">
              <a:solidFill>
                <a:schemeClr val="bg1"/>
              </a:solidFill>
              <a:latin typeface="Arial Narrow" panose="020B0606020202030204"/>
            </a:endParaRPr>
          </a:p>
          <a:p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>
                <a:latin typeface="Arial Narrow" panose="020B0606020202030204" pitchFamily="34" charset="0"/>
              </a:rPr>
              <a:t>Objectives</a:t>
            </a:r>
            <a:endParaRPr lang="en-US" b="1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To predict patients who are likely to develop diabetes.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To analyze key health features that influence diabetes risk.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To apply machine learning algorithms for diabetes prediction.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To evaluate model performance using standard ML metrics.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35" y="6663690"/>
            <a:ext cx="2743200" cy="23685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  <a:sym typeface="+mn-ea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544330" y="6734560"/>
            <a:ext cx="4907691" cy="169477"/>
          </a:xfrm>
        </p:spPr>
        <p:txBody>
          <a:bodyPr/>
          <a:lstStyle/>
          <a:p>
            <a:r>
              <a:rPr lang="en-US" sz="1800" b="1">
                <a:solidFill>
                  <a:schemeClr val="bg1"/>
                </a:solidFill>
                <a:latin typeface="Arial Narrow" panose="020B0606020202030204" pitchFamily="34" charset="0"/>
              </a:rPr>
              <a:t>Diabetes Prediction Using Machine Learning</a:t>
            </a:r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>
                <a:latin typeface="Arial Narrow" panose="020B0606020202030204" pitchFamily="34" charset="0"/>
              </a:rPr>
              <a:t>Related Works</a:t>
            </a:r>
            <a:endParaRPr lang="en-US" b="1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 vert="horz" lIns="91440" tIns="45720" rIns="91440" bIns="45720" rtlCol="0" anchor="t">
            <a:normAutofit lnSpcReduction="20000"/>
          </a:bodyPr>
          <a:lstStyle/>
          <a:p>
            <a:pPr marL="0" lvl="0" indent="0" algn="just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In [1], Smith et al., 2019 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just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proposed a “Diabetes Prediction System Using Logistic Regression and Decision Trees.”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just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 algn="just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Shortcomings: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lvl="0"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Very simple preprocessing; missing values not properly handled.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Limited feature engineering; only raw features used.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No ROC curve or AUC evaluation provided.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 algn="just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No comparison with advanced ensemble models.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35" y="6630035"/>
            <a:ext cx="2743200" cy="27051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  <a:sym typeface="+mn-ea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17790" y="6600696"/>
            <a:ext cx="5072447" cy="303341"/>
          </a:xfrm>
        </p:spPr>
        <p:txBody>
          <a:bodyPr/>
          <a:lstStyle/>
          <a:p>
            <a:r>
              <a:rPr lang="en-US" sz="1800" b="1" baseline="0">
                <a:solidFill>
                  <a:srgbClr val="FFFFFF"/>
                </a:solidFill>
                <a:latin typeface="Arial Narrow" panose="020B0606020202030204"/>
              </a:rPr>
              <a:t>Diabetes Prediction Using Machine Learning</a:t>
            </a:r>
            <a:r>
              <a:rPr lang="en-US" sz="1800">
                <a:latin typeface="Arial Narrow" panose="020B0606020202030204"/>
                <a:ea typeface="Arial Narrow" panose="020B0606020202030204"/>
                <a:cs typeface="Arial Narrow" panose="020B0606020202030204"/>
              </a:rPr>
              <a:t>​</a:t>
            </a:r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>
                <a:latin typeface="Arial Narrow" panose="020B0606020202030204" pitchFamily="34" charset="0"/>
                <a:sym typeface="+mn-ea"/>
              </a:rPr>
              <a:t>Related Works</a:t>
            </a:r>
            <a:r>
              <a:rPr lang="en-US" altLang="en-GB" b="1" dirty="0"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(Cont.)</a:t>
            </a:r>
            <a:endParaRPr lang="en-US" b="1">
              <a:latin typeface="Arial Narrow" panose="020B0606020202030204" pitchFamily="34" charset="0"/>
              <a:cs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 vert="horz" lIns="91440" tIns="45720" rIns="91440" bIns="45720" rtlCol="0" anchor="t">
            <a:normAutofit lnSpcReduction="20000"/>
          </a:bodyPr>
          <a:lstStyle/>
          <a:p>
            <a:pPr marL="0" lvl="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In [2], Tasin et al., 2022 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developed “A Machine Learning-Based Approach for Diabetes Prediction.”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Shortcomings: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Heavy focus on Random Forest without testing simpler models.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Dataset imbalance not fully addressed.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Over-reliance on accuracy, fewer detailed metrics like Precision/Recall.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No learning curve or overfitting analysis.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35" y="6663690"/>
            <a:ext cx="2743200" cy="23685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  <a:sym typeface="+mn-ea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647303" y="6724263"/>
            <a:ext cx="4506097" cy="179774"/>
          </a:xfrm>
        </p:spPr>
        <p:txBody>
          <a:bodyPr/>
          <a:lstStyle/>
          <a:p>
            <a:r>
              <a:rPr lang="en-US" sz="1800" b="1">
                <a:solidFill>
                  <a:schemeClr val="bg1"/>
                </a:solidFill>
                <a:latin typeface="Arial Narrow" panose="020B0606020202030204"/>
              </a:rPr>
              <a:t>Diabetes Prediction Using Machine Learning</a:t>
            </a:r>
            <a:endParaRPr lang="en-US" sz="1800">
              <a:solidFill>
                <a:schemeClr val="bg1"/>
              </a:solidFill>
              <a:latin typeface="Arial Narrow" panose="020B0606020202030204"/>
            </a:endParaRPr>
          </a:p>
          <a:p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>
                <a:latin typeface="Arial Narrow" panose="020B0606020202030204"/>
              </a:rPr>
              <a:t>Dataset </a:t>
            </a:r>
            <a:endParaRPr lang="en-US" b="1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[3] Kaggle Diabetes Dataset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Total Samples: 769 patient records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Features: Glucose, BMI, Blood Pressure, Insulin, Age, Gender, Skin Thickness, Diabetes Pedigree Function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Target Variable: Outcome (0 = Non-Diabetic, 1 = Diabetic)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Dataset has slightly imbalanced classes.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35" y="6682740"/>
            <a:ext cx="2743200" cy="21780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  <a:sym typeface="+mn-ea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585519" y="6858127"/>
            <a:ext cx="4567881" cy="45910"/>
          </a:xfrm>
        </p:spPr>
        <p:txBody>
          <a:bodyPr/>
          <a:lstStyle/>
          <a:p>
            <a:r>
              <a:rPr lang="en-US" sz="1800" b="1">
                <a:solidFill>
                  <a:schemeClr val="bg1"/>
                </a:solidFill>
                <a:latin typeface="Arial Narrow" panose="020B0606020202030204" pitchFamily="34" charset="0"/>
              </a:rPr>
              <a:t>Diabetes Prediction Using Machine Learning</a:t>
            </a:r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Arial Narrow" panose="020B0606020202030204" pitchFamily="34" charset="0"/>
                <a:cs typeface="Arial Narrow" panose="020B0606020202030204" pitchFamily="34" charset="0"/>
              </a:rPr>
              <a:t>Methodology</a:t>
            </a:r>
            <a:endParaRPr lang="en-US" b="1">
              <a:latin typeface="Arial Narrow" panose="020B0606020202030204" pitchFamily="34" charset="0"/>
              <a:cs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>
              <a:latin typeface="Arial Narrow" panose="020B0606020202030204"/>
            </a:endParaRPr>
          </a:p>
          <a:p>
            <a:pPr marL="0" indent="0">
              <a:buNone/>
            </a:pPr>
            <a:endParaRPr lang="en-US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783" y="6609243"/>
            <a:ext cx="12078731" cy="25905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35" y="6732905"/>
            <a:ext cx="2743200" cy="16764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  <a:sym typeface="+mn-ea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07492" y="6837533"/>
            <a:ext cx="4845908" cy="66504"/>
          </a:xfrm>
        </p:spPr>
        <p:txBody>
          <a:bodyPr/>
          <a:lstStyle/>
          <a:p>
            <a:r>
              <a:rPr lang="en-US" sz="1800" b="1">
                <a:solidFill>
                  <a:schemeClr val="bg1"/>
                </a:solidFill>
                <a:latin typeface="Arial Narrow" panose="020B0606020202030204"/>
              </a:rPr>
              <a:t>   Diabetes Prediction Using Machine Learning</a:t>
            </a:r>
            <a:endParaRPr lang="en-US" sz="1800">
              <a:solidFill>
                <a:schemeClr val="bg1"/>
              </a:solidFill>
              <a:latin typeface="Arial Narrow" panose="020B0606020202030204"/>
            </a:endParaRPr>
          </a:p>
          <a:p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Picture 8" descr="ChatGPT Image Dec 2, 2025, 07_41_58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495" y="994410"/>
            <a:ext cx="7130415" cy="51219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Arial Narrow" panose="020B0606020202030204"/>
              </a:rPr>
              <a:t>Model Used</a:t>
            </a:r>
            <a:endParaRPr lang="en-US" b="1">
              <a:latin typeface="Arial Narrow" panose="020B0606020202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/>
          <a:lstStyle/>
          <a:p>
            <a:pPr marL="0" indent="0">
              <a:buNone/>
            </a:pPr>
            <a:endParaRPr lang="en-US">
              <a:latin typeface="Arial Narrow" panose="020B0606020202030204" pitchFamily="34" charset="0"/>
            </a:endParaRPr>
          </a:p>
          <a:p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Logistic Regression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Random Forest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35" y="6663690"/>
            <a:ext cx="2743200" cy="23685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  <a:sym typeface="+mn-ea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07492" y="6734559"/>
            <a:ext cx="5175421" cy="169478"/>
          </a:xfrm>
        </p:spPr>
        <p:txBody>
          <a:bodyPr/>
          <a:lstStyle/>
          <a:p>
            <a:r>
              <a:rPr lang="en-US" sz="1800" b="1">
                <a:solidFill>
                  <a:schemeClr val="bg1"/>
                </a:solidFill>
                <a:latin typeface="Arial Narrow" panose="020B0606020202030204" pitchFamily="34" charset="0"/>
              </a:rPr>
              <a:t>Diabetes Prediction Using Machine Learning</a:t>
            </a:r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619" y="3124090"/>
            <a:ext cx="962339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Arial Narrow" panose="020B0606020202030204"/>
              </a:rPr>
              <a:t>Model Used(Cont.)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/>
          <a:lstStyle/>
          <a:p>
            <a:r>
              <a:rPr 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Logistic Regression Results: Accuracy: 72%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35" y="6734810"/>
            <a:ext cx="2743200" cy="165735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  <a:sym typeface="+mn-ea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647303" y="6734559"/>
            <a:ext cx="4506097" cy="169478"/>
          </a:xfrm>
        </p:spPr>
        <p:txBody>
          <a:bodyPr/>
          <a:lstStyle/>
          <a:p>
            <a:r>
              <a:rPr lang="en-US" sz="1800" b="1">
                <a:solidFill>
                  <a:schemeClr val="bg1"/>
                </a:solidFill>
                <a:latin typeface="Arial Narrow" panose="020B0606020202030204"/>
              </a:rPr>
              <a:t>Diabetes Prediction Using Machine Learning</a:t>
            </a:r>
            <a:endParaRPr lang="en-US" sz="1800">
              <a:solidFill>
                <a:srgbClr val="000000"/>
              </a:solidFill>
              <a:latin typeface="Arial Narrow" panose="020B0606020202030204"/>
            </a:endParaRPr>
          </a:p>
          <a:p>
            <a:endParaRPr lang="en-US" sz="1400">
              <a:solidFill>
                <a:schemeClr val="bg1"/>
              </a:solidFill>
              <a:latin typeface="Arial Narrow" panose="020B0606020202030204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Picture 8" descr="Screenshot 2025-11-24 2308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585" y="1936750"/>
            <a:ext cx="5047615" cy="3955415"/>
          </a:xfrm>
          <a:prstGeom prst="rect">
            <a:avLst/>
          </a:prstGeom>
        </p:spPr>
      </p:pic>
      <p:pic>
        <p:nvPicPr>
          <p:cNvPr id="10" name="Picture 9" descr="Screenshot 2025-11-24 2310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660" y="1828800"/>
            <a:ext cx="5111115" cy="4028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latin typeface="Arial Narrow" panose="020B0606020202030204"/>
                <a:sym typeface="+mn-ea"/>
              </a:rPr>
              <a:t>Model Used(Cont.)</a:t>
            </a:r>
            <a:endParaRPr lang="en-US" b="1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/>
          <a:lstStyle/>
          <a:p>
            <a:pPr lvl="0"/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Random Forest </a:t>
            </a:r>
            <a:r>
              <a:rPr lang="en-US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Results: Accuracy: 71%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</a:pPr>
            <a:endParaRPr lang="en-US"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35" y="6630035"/>
            <a:ext cx="2743200" cy="27051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  <a:sym typeface="+mn-ea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97195" y="6713966"/>
            <a:ext cx="5803556" cy="190071"/>
          </a:xfrm>
        </p:spPr>
        <p:txBody>
          <a:bodyPr/>
          <a:lstStyle/>
          <a:p>
            <a:r>
              <a:rPr lang="en-US" sz="1800" b="1">
                <a:solidFill>
                  <a:schemeClr val="bg1"/>
                </a:solidFill>
                <a:latin typeface="Arial Narrow" panose="020B0606020202030204"/>
              </a:rPr>
              <a:t> Diabetes Prediction Using Machine Learning</a:t>
            </a:r>
            <a:endParaRPr lang="en-US" sz="1800">
              <a:solidFill>
                <a:schemeClr val="bg1"/>
              </a:solidFill>
              <a:latin typeface="Arial Narrow" panose="020B0606020202030204"/>
            </a:endParaRPr>
          </a:p>
          <a:p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Picture 8" descr="Screenshot 2025-11-24 2308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905000"/>
            <a:ext cx="4656455" cy="3849370"/>
          </a:xfrm>
          <a:prstGeom prst="rect">
            <a:avLst/>
          </a:prstGeom>
        </p:spPr>
      </p:pic>
      <p:pic>
        <p:nvPicPr>
          <p:cNvPr id="10" name="Picture 9" descr="Screenshot 2025-11-24 2311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93875"/>
            <a:ext cx="5610225" cy="36855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>
                <a:latin typeface="Arial Narrow" panose="020B0606020202030204"/>
                <a:sym typeface="+mn-ea"/>
              </a:rPr>
              <a:t>Model Used(Cont.)</a:t>
            </a:r>
            <a:endParaRPr lang="en-US" b="1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/>
          <a:lstStyle/>
          <a:p>
            <a:pPr marL="0" lvl="0" indent="0">
              <a:buNone/>
            </a:pPr>
            <a:r>
              <a:rPr lang="en-US" b="1">
                <a:latin typeface="Arial Narrow" panose="020B0606020202030204" pitchFamily="34" charset="0"/>
              </a:rPr>
              <a:t>ROC Curves</a:t>
            </a:r>
            <a:r>
              <a:rPr lang="en-US">
                <a:latin typeface="Arial Narrow" panose="020B0606020202030204" pitchFamily="34" charset="0"/>
              </a:rPr>
              <a:t>:</a:t>
            </a:r>
            <a:endParaRPr lang="en-US">
              <a:latin typeface="Arial Narrow" panose="020B0606020202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35" y="6630035"/>
            <a:ext cx="2743200" cy="27051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  <a:sym typeface="+mn-ea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97195" y="6713966"/>
            <a:ext cx="5803556" cy="190071"/>
          </a:xfrm>
        </p:spPr>
        <p:txBody>
          <a:bodyPr/>
          <a:lstStyle/>
          <a:p>
            <a:r>
              <a:rPr lang="en-US" sz="1800" b="1">
                <a:solidFill>
                  <a:schemeClr val="bg1"/>
                </a:solidFill>
                <a:latin typeface="Arial Narrow" panose="020B0606020202030204"/>
              </a:rPr>
              <a:t> Diabetes Prediction Using Machine Learning</a:t>
            </a:r>
            <a:endParaRPr lang="en-US" sz="1800">
              <a:solidFill>
                <a:schemeClr val="bg1"/>
              </a:solidFill>
              <a:latin typeface="Arial Narrow" panose="020B0606020202030204"/>
            </a:endParaRPr>
          </a:p>
          <a:p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9" name="Picture 8" descr="Screenshot 2025-11-24 2311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1000" y="1447800"/>
            <a:ext cx="6819900" cy="47707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altLang="en-US" b="1" dirty="0"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Comparison Table</a:t>
            </a:r>
            <a:endParaRPr lang="en-US" b="1">
              <a:latin typeface="Arial Narrow" panose="020B0606020202030204" pitchFamily="34" charset="0"/>
              <a:cs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Table: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35" y="6630035"/>
            <a:ext cx="2743200" cy="27051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  <a:sym typeface="+mn-ea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31060" y="6734559"/>
            <a:ext cx="5360772" cy="169478"/>
          </a:xfrm>
        </p:spPr>
        <p:txBody>
          <a:bodyPr/>
          <a:lstStyle/>
          <a:p>
            <a:r>
              <a:rPr lang="en-US" sz="1800" b="1">
                <a:solidFill>
                  <a:schemeClr val="bg1"/>
                </a:solidFill>
                <a:latin typeface="Arial Narrow" panose="020B0606020202030204"/>
              </a:rPr>
              <a:t> Diabetes Prediction Using Machine Learning</a:t>
            </a:r>
            <a:endParaRPr lang="en-US" sz="1800">
              <a:solidFill>
                <a:schemeClr val="bg1"/>
              </a:solidFill>
              <a:latin typeface="Arial Narrow" panose="020B0606020202030204"/>
            </a:endParaRPr>
          </a:p>
          <a:p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10" name="Picture 9" descr="Screenshot 2025-11-24 2328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366645"/>
            <a:ext cx="9824720" cy="224790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0659745" y="2500630"/>
            <a:ext cx="8255" cy="1995170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914400" y="2480945"/>
            <a:ext cx="13335" cy="2014855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>
                <a:latin typeface="Arial Narrow" panose="020B0606020202030204" pitchFamily="34" charset="0"/>
              </a:rPr>
              <a:t>Conclusion</a:t>
            </a:r>
            <a:endParaRPr lang="en-US" b="1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/>
          <a:lstStyle/>
          <a:p>
            <a:pPr lvl="0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Logistic Regression worked the best for predicting diabetes.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Random Forest was good but not as accurate as Logistic Regression.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models improved a lot after cleaning the data and fixing wrong values.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35" y="6630035"/>
            <a:ext cx="2743200" cy="27051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  <a:sym typeface="+mn-ea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97195" y="6713966"/>
            <a:ext cx="5803556" cy="190071"/>
          </a:xfrm>
        </p:spPr>
        <p:txBody>
          <a:bodyPr/>
          <a:lstStyle/>
          <a:p>
            <a:r>
              <a:rPr lang="en-US" sz="1800" b="1">
                <a:solidFill>
                  <a:schemeClr val="bg1"/>
                </a:solidFill>
                <a:latin typeface="Arial Narrow" panose="020B0606020202030204"/>
              </a:rPr>
              <a:t> Diabetes Prediction Using Machine Learning</a:t>
            </a:r>
            <a:endParaRPr lang="en-US" sz="1800">
              <a:solidFill>
                <a:schemeClr val="bg1"/>
              </a:solidFill>
              <a:latin typeface="Arial Narrow" panose="020B0606020202030204"/>
            </a:endParaRPr>
          </a:p>
          <a:p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0" y="299368"/>
            <a:ext cx="12038120" cy="792586"/>
          </a:xfrm>
        </p:spPr>
        <p:txBody>
          <a:bodyPr/>
          <a:lstStyle/>
          <a:p>
            <a:pPr algn="ctr"/>
            <a:r>
              <a:rPr lang="en-US" b="1">
                <a:latin typeface="Arial Narrow" panose="020B0606020202030204" pitchFamily="34" charset="0"/>
                <a:sym typeface="+mn-ea"/>
              </a:rPr>
              <a:t>References</a:t>
            </a:r>
            <a:endParaRPr lang="en-US" b="1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0" y="1142747"/>
            <a:ext cx="12038120" cy="5435605"/>
          </a:xfrm>
        </p:spPr>
        <p:txBody>
          <a:bodyPr/>
          <a:lstStyle/>
          <a:p>
            <a:pPr lvl="0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Tasin et al., 2022 – Diabetes Prediction using ML.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Chang et al., 2022 – Pima Diabetes Analysis.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Ortega et al., 2025 – Ensemble ML for Diabetes.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American Diabetes Association (ADA).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Kaggle Diabetes Dataset,2025.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35" y="6630035"/>
            <a:ext cx="2743200" cy="27051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  <a:sym typeface="+mn-ea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97195" y="6713966"/>
            <a:ext cx="5803556" cy="190071"/>
          </a:xfrm>
        </p:spPr>
        <p:txBody>
          <a:bodyPr/>
          <a:lstStyle/>
          <a:p>
            <a:r>
              <a:rPr lang="en-US" sz="1800" b="1">
                <a:solidFill>
                  <a:schemeClr val="bg1"/>
                </a:solidFill>
                <a:latin typeface="Arial Narrow" panose="020B0606020202030204"/>
              </a:rPr>
              <a:t> Diabetes Prediction Using Machine Learning</a:t>
            </a:r>
            <a:endParaRPr lang="en-US" sz="1800">
              <a:solidFill>
                <a:schemeClr val="bg1"/>
              </a:solidFill>
              <a:latin typeface="Arial Narrow" panose="020B0606020202030204"/>
            </a:endParaRPr>
          </a:p>
          <a:p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Screenshot 2025-11-25 00050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42970" y="2960370"/>
            <a:ext cx="5305425" cy="180022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2485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578352"/>
            <a:ext cx="12192000" cy="2796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394335" y="6630035"/>
            <a:ext cx="2743200" cy="270510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  <a:latin typeface="Arial Narrow" panose="020B0606020202030204" pitchFamily="34" charset="0"/>
                <a:sym typeface="+mn-ea"/>
              </a:rPr>
              <a:t>25-11-2025</a:t>
            </a:r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297195" y="6713966"/>
            <a:ext cx="5803556" cy="190071"/>
          </a:xfrm>
        </p:spPr>
        <p:txBody>
          <a:bodyPr/>
          <a:lstStyle/>
          <a:p>
            <a:r>
              <a:rPr lang="en-US" sz="1800" b="1">
                <a:solidFill>
                  <a:schemeClr val="bg1"/>
                </a:solidFill>
                <a:latin typeface="Arial Narrow" panose="020B0606020202030204"/>
              </a:rPr>
              <a:t> Diabetes Prediction Using Machine Learning</a:t>
            </a:r>
            <a:endParaRPr lang="en-US" sz="1800">
              <a:solidFill>
                <a:schemeClr val="bg1"/>
              </a:solidFill>
              <a:latin typeface="Arial Narrow" panose="020B0606020202030204"/>
            </a:endParaRPr>
          </a:p>
          <a:p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9214282" y="6535611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z="1400" smtClean="0">
                <a:solidFill>
                  <a:schemeClr val="bg1"/>
                </a:solidFill>
                <a:latin typeface="Arial Narrow" panose="020B0606020202030204" pitchFamily="34" charset="0"/>
              </a:rPr>
            </a:fld>
            <a:endParaRPr lang="en-US" sz="14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978785" y="1677035"/>
            <a:ext cx="5918835" cy="1228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ts val="5975"/>
              </a:lnSpc>
            </a:pP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Alice Bold"/>
                <a:sym typeface="+mn-ea"/>
              </a:rPr>
              <a:t>Assalamu-alaikum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Alice Bold"/>
                <a:sym typeface="+mn-ea"/>
              </a:rPr>
              <a:t>..</a:t>
            </a:r>
            <a:endParaRPr lang="en-US"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3520</Words>
  <Application>WPS Presentation</Application>
  <PresentationFormat>Widescreen</PresentationFormat>
  <Paragraphs>255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SimSun</vt:lpstr>
      <vt:lpstr>Wingdings</vt:lpstr>
      <vt:lpstr>Arial Narrow</vt:lpstr>
      <vt:lpstr>Arial Narrow</vt:lpstr>
      <vt:lpstr>Poppins</vt:lpstr>
      <vt:lpstr>Segoe Print</vt:lpstr>
      <vt:lpstr>Times New Roman</vt:lpstr>
      <vt:lpstr>Calibri</vt:lpstr>
      <vt:lpstr>Alice Bold</vt:lpstr>
      <vt:lpstr>Microsoft YaHei</vt:lpstr>
      <vt:lpstr>Arial Unicode MS</vt:lpstr>
      <vt:lpstr>Calibri Light</vt:lpstr>
      <vt:lpstr>Office Theme</vt:lpstr>
      <vt:lpstr>Bangladesh Army University of Science and Technology (BAUST) Saidpur Cantonment, Nilphamari</vt:lpstr>
      <vt:lpstr>Outline</vt:lpstr>
      <vt:lpstr>Introduction</vt:lpstr>
      <vt:lpstr>Objectives</vt:lpstr>
      <vt:lpstr>Related Works</vt:lpstr>
      <vt:lpstr>Related Works(Cont.)</vt:lpstr>
      <vt:lpstr>Dataset </vt:lpstr>
      <vt:lpstr>Methodology</vt:lpstr>
      <vt:lpstr>Model Used</vt:lpstr>
      <vt:lpstr>Model Used(Cont.)</vt:lpstr>
      <vt:lpstr>Model Used(Cont.)</vt:lpstr>
      <vt:lpstr>Model Used(Cont.)</vt:lpstr>
      <vt:lpstr>Comparison Table</vt:lpstr>
      <vt:lpstr>Conclusion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Asus</dc:creator>
  <cp:lastModifiedBy>Tamzid Shafayet</cp:lastModifiedBy>
  <cp:revision>11</cp:revision>
  <dcterms:created xsi:type="dcterms:W3CDTF">2025-04-30T05:35:00Z</dcterms:created>
  <dcterms:modified xsi:type="dcterms:W3CDTF">2025-12-02T13:45:11Z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17DB6B0123FB40FBA282B1FCBCC3ECCE_12</vt:lpwstr>
  </property>
  <property fmtid="{D5CDD505-2E9C-101B-9397-08002B2CF9AE}" pid="3" name="KSOProductBuildVer">
    <vt:lpwstr>1033-12.2.0.23155</vt:lpwstr>
  </property>
</Properties>
</file>