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97" r:id="rId2"/>
    <p:sldId id="258" r:id="rId3"/>
    <p:sldId id="259" r:id="rId4"/>
    <p:sldId id="312" r:id="rId5"/>
    <p:sldId id="318" r:id="rId6"/>
    <p:sldId id="322" r:id="rId7"/>
    <p:sldId id="313" r:id="rId8"/>
    <p:sldId id="323" r:id="rId9"/>
    <p:sldId id="324" r:id="rId10"/>
    <p:sldId id="320" r:id="rId11"/>
    <p:sldId id="308" r:id="rId12"/>
    <p:sldId id="321" r:id="rId13"/>
    <p:sldId id="268" r:id="rId14"/>
  </p:sldIdLst>
  <p:sldSz cx="18288000" cy="10287000"/>
  <p:notesSz cx="6858000" cy="9144000"/>
  <p:embeddedFontLst>
    <p:embeddedFont>
      <p:font typeface="Alice" pitchFamily="2" charset="77"/>
      <p:regular r:id="rId16"/>
      <p:bold r:id="rId17"/>
    </p:embeddedFont>
    <p:embeddedFont>
      <p:font typeface="Alice Bold" pitchFamily="2" charset="77"/>
      <p:regular r:id="rId18"/>
      <p:bold r:id="rId18"/>
    </p:embeddedFont>
    <p:embeddedFont>
      <p:font typeface="Poppins Bold" pitchFamily="2" charset="77"/>
      <p:regular r:id="rId18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 autoAdjust="0"/>
    <p:restoredTop sz="94655" autoAdjust="0"/>
  </p:normalViewPr>
  <p:slideViewPr>
    <p:cSldViewPr showGuides="1">
      <p:cViewPr varScale="1">
        <p:scale>
          <a:sx n="62" d="100"/>
          <a:sy n="62" d="100"/>
        </p:scale>
        <p:origin x="216" y="320"/>
      </p:cViewPr>
      <p:guideLst>
        <p:guide orient="horz" pos="219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24575,'0'31'0,"0"-3"0,0-12 0,0 0 0,0 2 0,0 2 0,0-2 0,0 2 0,0 0 0,0-1 0,0-1 0,0 0 0,0 0 0,0 5 0,0 3 0,0 3 0,0 2 0,0-1 0,0 1 0,0-4 0,0-2 0,0-1 0,0-1 0,0-3 0,0-4 0,0-1 0,0-3 0,0 1 0,0 0 0,0 0 0,0 2 0,0 1 0,0 2 0,0 1 0,0 6 0,0 1 0,0 3 0,0 1 0,0 1 0,0-1 0,0 1 0,0 0 0,0-1 0,0 1 0,0-1 0,0 1 0,0-4 0,0-4 0,0-2 0,0-3 0,0 3 0,0-2 0,0-1 0,1 2 0,2 0 0,0 4 0,1 3 0,0 1 0,0 7 0,1 5 0,-2 3 0,1-2 0,0-1 0,1-3 0,-2 0 0,0-5 0,1-9 0,0-4 0,-1-4 0,0 0 0,2 1 0,-1-1 0,3 1 0,-4-1 0,1 0 0,-1 1 0,-1 0 0,1 4 0,1-1 0,-1 0 0,-2 2 0,-1-1 0,0 2 0,0 4 0,3 1 0,1 3 0,3 1 0,0-4 0,-3-4 0,3-5 0,-3-1 0,1-1 0,-2 0 0,-3 0 0,0 3 0,3 5 0,1 4 0,4 2 0,0 6 0,0 18 0,1 21 0,1 19 0,-4-43 0,0 1 0,0-1 0,-1-2 0,4 38 0,0-16 0,-4-19 0,-1-13 0,0-8 0,0-6 0,0-4 0,-1-3 0,-2-2 0,-1-1 0,0 1 0,0-2 0,0 1 0,0 0 0,0 3 0,0 1 0,0 0 0,0-2 0,4-3 0,0-2 0,1 0 0,1 1 0,-2 5 0,2 1 0,1 3 0,-1 1 0,0 0 0,-1 0 0,-2-5 0,1-3 0,-1-5 0,1 0 0,-1 2 0,-2 2 0,-1 4 0,0 14 0,0 28 0,0 19 0,0 9 0,0-9 0,0-21 0,0-17 0,0-12 0,0-9 0,0-4 0,0-9 0,-11-49 0,3-28 0,-1 5 0,-1-5 0,2 1 0,1 2 0,1 9 0,0 3 0,-4-26 0,2 41 0,0 4 0,-6-1 0,-5 1 0,1 5 0,-1 5 0,3 3 0,2 4 0,-2 0 0,1 0 0,-2-5 0,5-3 0,1-1 0,3 2 0,4-4 0,-3-1 0,3-2 0,-3 4 0,0 8 0,1 7 0,-1 8 0,2 25 0,1 11 0,4 24 0,0 4 0,0 11 0,0 6 0,0-2 0,0-1 0,0-14 0,0-7 0,0-6 0,0-5 0,0 0 0,0 1 0,0 2 0,0 1 0,0 13 0,0 16 0,0 11 0,0 3 0,0-13 0,0-20 0,0-12 0,0-14 0,0-6 0,2-8 0,2-4 0,-1 4 0,0 2 0,-3 11 0,0 4 0,0 0 0,0-4 0,0-6 0,0-4 0,0-1 0,0 1 0,0-1 0,0 3 0,0-1 0,2-2 0,1-1 0,0-2 0,0 3 0,2 2 0,0 3 0,3 9 0,3 5 0,1 6 0,-1 0 0,-1-5 0,0-5 0,-3-8 0,3-5 0,-3-3 0,1-1 0,1 2 0,-2 3 0,0 3 0,0 4 0,0 2 0,1 3 0,2 0 0,-2 4 0,2 1 0,-2 1 0,-3-2 0,2 1 0,2 0 0,0 5 0,-1 0 0,-1-4 0,-3-2 0,0-4 0,0 0 0,-1-4 0,1-1 0,0-3 0,0-3 0,-3 0 0,2-1 0,1 3 0,3 1 0,-2 1 0,-1 2 0,2 1 0,-1 4 0,3-1 0,-1 1 0,0-1 0,0 1 0,-3 0 0,3-1 0,-2 6 0,-1 0 0,0 1 0,-1-4 0,1-9 0,0-5 0,-1-4 0,-3 1 0,3 1 0,0 0 0,1 1 0,-1-3 0,-2 1 0,-1-5-246,1-38 0,-1 20 0,0-28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24575,'0'50'0,"0"8"0,0 3 0,0 12 0,0 8 0,0-1 0,0-14 0,0-13 0,0-18 0,0-4 0,0-1 0,0 0 0,0 0 0,0-4 0,4-4 0,0 0 0,1 0 0,1 2 0,-3 2 0,3-4 0,0 2 0,-2 5 0,3 3 0,-2 12 0,2 6 0,1 3 0,-1 3 0,1-3 0,-3 4 0,2 2 0,-1 3 0,-2 0 0,3 1 0,-2 0 0,0-5 0,-1-2 0,-4-4 0,0 0 0,0 6 0,0 5 0,0 6 0,0 6 0,1 7 0,4 7 0,-2-39 0,0 1 0,0 2 0,-1 2 0,2-2 0,-1 0 0,2 41 0,0-21 0,-1-24 0,-2-22 0,2-15 0,1-9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 1 24575,'0'56'0,"0"6"0,0-2 0,0 22 0,0-22 0,0 4 0,0 6 0,0 0 0,2 1 0,0-2 0,0-8 0,1-6 0,2 18 0,-1-20 0,-4-15 0,2-6 0,2-8 0,2-4 0,1-6 0,0-5 0,1 1 0,0 1 0,3 1 0,-4 3 0,2-5 0,-2 2 0,-1 0 0,0 0 0,-3 5 0,3-1 0,-2 2 0,1 2 0,-1 2 0,1 5 0,0 4 0,3 5 0,0 5 0,-3 5 0,1 0 0,-1 0 0,-1-5 0,-1-4 0,-3-3 0,0-9 0,0-5 0,0-5 0,0-2 0,0 1 0,0 0 0,0 0 0,0-1 0,0 4 0,0-1 0,0 3 0,0-1 0,0-3 0,0 2 0,0 0 0,0 0 0,0 1 0,0-3 0,0 3 0,0 0 0,0 3 0,0 0 0,0-2 0,0 0 0,0-4 0,0 0 0,0-1 0,0 2 0,0 2 0,0 0 0,0 4 0,0-3 0,0 2 0,0 1 0,0-3 0,0-1 0,0 0 0,0-2 0,0 2 0,0 3 0,0 4 0,0 4 0,0 2 0,0-1 0,0 1 0,0-1 0,0 1 0,0 0 0,0-1 0,0 1 0,0 0 0,0 0 0,0 6 0,0 11 0,0 9 0,0 2 0,0-4 0,0-10 0,0-7 0,0 1 0,0-3 0,0 5 0,0-2 0,0-2 0,0-2 0,0-5 0,0 1 0,0 0 0,0 0 0,0-1 0,0-1 0,0-5 0,0-4 0,0-3 0,0-1 0,0 5 0,0 4 0,0 2 0,0 9 0,0 11 0,0 11 0,0 11 0,0 0 0,0-3 0,0-9 0,0-11 0,0-8 0,-3-7 0,-1-4 0,0-4 0,0-6 0,4-4 0,0-1 0,-1 0 0,1 1 0,0-1 0,0 4 0,0 4 0,-3 5 0,-2 4 0,1 2 0,-3 0 0,2 0 0,-2-1 0,-1 1 0,3 0 0,-2-1 0,0 0 0,-1 0 0,1-4 0,4-3 0,3-2 0,0 0 0,0 5 0,0 3 0,0 1 0,-4 0 0,0 6 0,0 5 0,-3 4 0,2 1 0,1-4 0,1-7 0,3-2 0,0-4 0,0-2 0,0-3 0,-3-1 0,-2 0 0,1 4 0,-3 1 0,-1 3 0,0 0 0,0-1 0,1-2 0,3-2 0,-1-3 0,1-1 0,1 4 0,-2 1 0,-3 4 0,1 0 0,3-1 0,1-3 0,3-3 0,0-6 0,0-3 0,0-2 0,3-2 0,2-4 0,7-4 0,3-3 0,3 0 0,-5 4 0,-1 7 0,-2 8 0,-2 5 0,2 1 0,2 6 0,-1 9 0,2 15 0,-3 7 0,-1 3 0,-3-4 0,-2-7 0,-2-3 0,-2-4 0,0 0 0,0-1 0,0 0 0,0 3 0,0 1 0,0-3 0,0-6 0,0-9 0,0-8 0,0-8 0,0-3 0,0-1 0,0 1 0,0 2 0,0 0 0,0 4 0,0 6 0,0 2 0,3 4 0,3-1 0,3 3 0,5 10 0,1 9 0,2 6 0,-2 2 0,-3-11 0,-3-8 0,-4-7 0,-1-7 0,-3-6 0,-1-5 0,0-1 0,0-2 0,0 1 0,0 1 0,0-2 0,0 2 0,0 1 0,0 2 0,0 6 0,0 9 0,0 15 0,0 7 0,0 7 0,0-7 0,0-10 0,0-7 0,0-9 0,0-5 0,0-17 0,0-7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128 0 24575,'0'84'0,"-5"4"0,-2-1 0,-5 8 0,-2-1 0,1-12 0,1-16 0,6-17 0,0-10 0,2-5 0,0-5 0,0-5 0,3-4 0,1-3 0,0-1 0,0 5 0,0 4 0,0 2 0,0 3 0,0 5 0,0 1 0,0 5 0,0 10 0,0 7 0,0 11 0,0 3 0,0-4 0,0-6 0,0-6 0,0-3 0,0 0 0,0 7 0,0 10 0,0 15 0,0-35 0,0 2 0,0 6 0,0 2 0,0 7 0,0 2 0,0 4 0,0 2 0,-1 2 0,-1 0 0,0-6 0,-1-2 0,-2-9 0,0-4 0,-6 29 0,4-30 0,3-20 0,4-15 0,0-7 0,0-2 0,0 1 0,0 1 0,0 7 0,0 9 0,0 22 0,0 15 0,0 16 0,0 0 0,0-12 0,0-14 0,0-15 0,0-6 0,0-5 0,0 1 0,0 1 0,0 6 0,0 6 0,0 8 0,0 5 0,0 6 0,0 5 0,0-2 0,3 2 0,1-4 0,1-1 0,-1 1 0,-2-1 0,1-5 0,1-5 0,1-2 0,2 1 0,-2 5 0,4 5 0,-1 0 0,1 1 0,4 5 0,-3 2 0,3 5 0,0-11 0,-4-11 0,-1-14 0,-1-8 0,-3-1 0,1 3 0,2 2 0,-2 4 0,0 2 0,-3-2 0,-2-3 0,0 3 0,0 0 0,0 5 0,0 10 0,3 7 0,2 12 0,3 11 0,5 15 0,-5-38 0,1 4 0,2 10 0,-1 3 0,1 10 0,-2 2 0,-2 1 0,-1-2 0,-2-9 0,-1-3 0,-3-15 0,0-4 0,0 21 0,0-28 0,0-21 0,0-9 0,-2-7 0,-1-7 0,-11-28 0,5 11 0,-6-23 0,7 11 0,4 9 0,0-3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24575,'0'29'0,"0"-1"0,0-6 0,0 4 0,0 13 0,0 11 0,0 12 0,0 16 0,0 15 0,0-42 0,0 0 0,0 3 0,0 0 0,0 0 0,0-1 0,0 37 0,0-14 0,0-13 0,0-16 0,0 0 0,0-1 0,0 0 0,0 1 0,0-7 0,0-5 0,0-4 0,0 0 0,0 4 0,0 1 0,0 5 0,0 8 0,0 6 0,0 5 0,0 5 0,0-5 0,0-6 0,0-6 0,0-10 0,0-2 0,0-5 0,0-2 0,0-5 0,0-5 0,0-4 0,0 0 0,0 3 0,0 2 0,0 5 0,0 1 0,0 1 0,0-1 0,0-3 0,0-1 0,0 0 0,0 0 0,0 4 0,0-4 0,0 2 0,0-4 0,0-10 0,0-3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24575,'0'31'0,"0"-3"0,0-12 0,0 0 0,0 2 0,0 2 0,0-2 0,0 2 0,0 0 0,0-1 0,0-1 0,0 0 0,0 0 0,0 5 0,0 3 0,0 3 0,0 2 0,0-1 0,0 1 0,0-4 0,0-2 0,0-1 0,0-1 0,0-3 0,0-4 0,0-1 0,0-3 0,0 1 0,0 0 0,0 0 0,0 2 0,0 1 0,0 2 0,0 1 0,0 6 0,0 1 0,0 3 0,0 1 0,0 1 0,0-1 0,0 1 0,0 0 0,0-1 0,0 1 0,0-1 0,0 1 0,0-4 0,0-4 0,0-2 0,0-3 0,0 3 0,0-2 0,0-1 0,1 2 0,2 0 0,0 4 0,1 3 0,0 1 0,0 7 0,1 5 0,-2 3 0,1-2 0,0-1 0,1-3 0,-2 0 0,0-5 0,1-9 0,0-4 0,-1-4 0,0 0 0,2 1 0,-1-1 0,3 1 0,-4-1 0,1 0 0,-1 1 0,-1 0 0,1 4 0,1-1 0,-1 0 0,-2 2 0,-1-1 0,0 2 0,0 4 0,3 1 0,1 3 0,3 1 0,0-4 0,-3-4 0,3-5 0,-3-1 0,1-1 0,-2 0 0,-3 0 0,0 3 0,3 5 0,1 4 0,4 2 0,0 6 0,0 18 0,1 21 0,1 19 0,-4-43 0,0 1 0,0-1 0,-1-2 0,4 38 0,0-16 0,-4-19 0,-1-13 0,0-8 0,0-6 0,0-4 0,-1-3 0,-2-2 0,-1-1 0,0 1 0,0-2 0,0 1 0,0 0 0,0 3 0,0 1 0,0 0 0,0-2 0,4-3 0,0-2 0,1 0 0,1 1 0,-2 5 0,2 1 0,1 3 0,-1 1 0,0 0 0,-1 0 0,-2-5 0,1-3 0,-1-5 0,1 0 0,-1 2 0,-2 2 0,-1 4 0,0 14 0,0 28 0,0 19 0,0 9 0,0-9 0,0-21 0,0-17 0,0-12 0,0-9 0,0-4 0,0-9 0,-11-49 0,3-28 0,-1 5 0,-1-5 0,2 1 0,1 2 0,1 9 0,0 3 0,-4-26 0,2 41 0,0 4 0,-6-1 0,-5 1 0,1 5 0,-1 5 0,3 3 0,2 4 0,-2 0 0,1 0 0,-2-5 0,5-3 0,1-1 0,3 2 0,4-4 0,-3-1 0,3-2 0,-3 4 0,0 8 0,1 7 0,-1 8 0,2 25 0,1 11 0,4 24 0,0 4 0,0 11 0,0 6 0,0-2 0,0-1 0,0-14 0,0-7 0,0-6 0,0-5 0,0 0 0,0 1 0,0 2 0,0 1 0,0 13 0,0 16 0,0 11 0,0 3 0,0-13 0,0-20 0,0-12 0,0-14 0,0-6 0,2-8 0,2-4 0,-1 4 0,0 2 0,-3 11 0,0 4 0,0 0 0,0-4 0,0-6 0,0-4 0,0-1 0,0 1 0,0-1 0,0 3 0,0-1 0,2-2 0,1-1 0,0-2 0,0 3 0,2 2 0,0 3 0,3 9 0,3 5 0,1 6 0,-1 0 0,-1-5 0,0-5 0,-3-8 0,3-5 0,-3-3 0,1-1 0,1 2 0,-2 3 0,0 3 0,0 4 0,0 2 0,1 3 0,2 0 0,-2 4 0,2 1 0,-2 1 0,-3-2 0,2 1 0,2 0 0,0 5 0,-1 0 0,-1-4 0,-3-2 0,0-4 0,0 0 0,-1-4 0,1-1 0,0-3 0,0-3 0,-3 0 0,2-1 0,1 3 0,3 1 0,-2 1 0,-1 2 0,2 1 0,-1 4 0,3-1 0,-1 1 0,0-1 0,0 1 0,-3 0 0,3-1 0,-2 6 0,-1 0 0,0 1 0,-1-4 0,1-9 0,0-5 0,-1-4 0,-3 1 0,3 1 0,0 0 0,1 1 0,-1-3 0,-2 1 0,-1-5-246,1-38 0,-1 20 0,0-28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24575,'0'50'0,"0"8"0,0 3 0,0 12 0,0 8 0,0-1 0,0-14 0,0-13 0,0-18 0,0-4 0,0-1 0,0 0 0,0 0 0,0-4 0,4-4 0,0 0 0,1 0 0,1 2 0,-3 2 0,3-4 0,0 2 0,-2 5 0,3 3 0,-2 12 0,2 6 0,1 3 0,-1 3 0,1-3 0,-3 4 0,2 2 0,-1 3 0,-2 0 0,3 1 0,-2 0 0,0-5 0,-1-2 0,-4-4 0,0 0 0,0 6 0,0 5 0,0 6 0,0 6 0,1 7 0,4 7 0,-2-39 0,0 1 0,0 2 0,-1 2 0,2-2 0,-1 0 0,2 41 0,0-21 0,-1-24 0,-2-22 0,2-15 0,1-9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 1 24575,'0'56'0,"0"6"0,0-2 0,0 22 0,0-22 0,0 4 0,0 6 0,0 0 0,2 1 0,0-2 0,0-8 0,1-6 0,2 18 0,-1-20 0,-4-15 0,2-6 0,2-8 0,2-4 0,1-6 0,0-5 0,1 1 0,0 1 0,3 1 0,-4 3 0,2-5 0,-2 2 0,-1 0 0,0 0 0,-3 5 0,3-1 0,-2 2 0,1 2 0,-1 2 0,1 5 0,0 4 0,3 5 0,0 5 0,-3 5 0,1 0 0,-1 0 0,-1-5 0,-1-4 0,-3-3 0,0-9 0,0-5 0,0-5 0,0-2 0,0 1 0,0 0 0,0 0 0,0-1 0,0 4 0,0-1 0,0 3 0,0-1 0,0-3 0,0 2 0,0 0 0,0 0 0,0 1 0,0-3 0,0 3 0,0 0 0,0 3 0,0 0 0,0-2 0,0 0 0,0-4 0,0 0 0,0-1 0,0 2 0,0 2 0,0 0 0,0 4 0,0-3 0,0 2 0,0 1 0,0-3 0,0-1 0,0 0 0,0-2 0,0 2 0,0 3 0,0 4 0,0 4 0,0 2 0,0-1 0,0 1 0,0-1 0,0 1 0,0 0 0,0-1 0,0 1 0,0 0 0,0 0 0,0 6 0,0 11 0,0 9 0,0 2 0,0-4 0,0-10 0,0-7 0,0 1 0,0-3 0,0 5 0,0-2 0,0-2 0,0-2 0,0-5 0,0 1 0,0 0 0,0 0 0,0-1 0,0-1 0,0-5 0,0-4 0,0-3 0,0-1 0,0 5 0,0 4 0,0 2 0,0 9 0,0 11 0,0 11 0,0 11 0,0 0 0,0-3 0,0-9 0,0-11 0,0-8 0,-3-7 0,-1-4 0,0-4 0,0-6 0,4-4 0,0-1 0,-1 0 0,1 1 0,0-1 0,0 4 0,0 4 0,-3 5 0,-2 4 0,1 2 0,-3 0 0,2 0 0,-2-1 0,-1 1 0,3 0 0,-2-1 0,0 0 0,-1 0 0,1-4 0,4-3 0,3-2 0,0 0 0,0 5 0,0 3 0,0 1 0,-4 0 0,0 6 0,0 5 0,-3 4 0,2 1 0,1-4 0,1-7 0,3-2 0,0-4 0,0-2 0,0-3 0,-3-1 0,-2 0 0,1 4 0,-3 1 0,-1 3 0,0 0 0,0-1 0,1-2 0,3-2 0,-1-3 0,1-1 0,1 4 0,-2 1 0,-3 4 0,1 0 0,3-1 0,1-3 0,3-3 0,0-6 0,0-3 0,0-2 0,3-2 0,2-4 0,7-4 0,3-3 0,3 0 0,-5 4 0,-1 7 0,-2 8 0,-2 5 0,2 1 0,2 6 0,-1 9 0,2 15 0,-3 7 0,-1 3 0,-3-4 0,-2-7 0,-2-3 0,-2-4 0,0 0 0,0-1 0,0 0 0,0 3 0,0 1 0,0-3 0,0-6 0,0-9 0,0-8 0,0-8 0,0-3 0,0-1 0,0 1 0,0 2 0,0 0 0,0 4 0,0 6 0,0 2 0,3 4 0,3-1 0,3 3 0,5 10 0,1 9 0,2 6 0,-2 2 0,-3-11 0,-3-8 0,-4-7 0,-1-7 0,-3-6 0,-1-5 0,0-1 0,0-2 0,0 1 0,0 1 0,0-2 0,0 2 0,0 1 0,0 2 0,0 6 0,0 9 0,0 15 0,0 7 0,0 7 0,0-7 0,0-10 0,0-7 0,0-9 0,0-5 0,0-17 0,0-7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128 0 24575,'0'84'0,"-5"4"0,-2-1 0,-5 8 0,-2-1 0,1-12 0,1-16 0,6-17 0,0-10 0,2-5 0,0-5 0,0-5 0,3-4 0,1-3 0,0-1 0,0 5 0,0 4 0,0 2 0,0 3 0,0 5 0,0 1 0,0 5 0,0 10 0,0 7 0,0 11 0,0 3 0,0-4 0,0-6 0,0-6 0,0-3 0,0 0 0,0 7 0,0 10 0,0 15 0,0-35 0,0 2 0,0 6 0,0 2 0,0 7 0,0 2 0,0 4 0,0 2 0,-1 2 0,-1 0 0,0-6 0,-1-2 0,-2-9 0,0-4 0,-6 29 0,4-30 0,3-20 0,4-15 0,0-7 0,0-2 0,0 1 0,0 1 0,0 7 0,0 9 0,0 22 0,0 15 0,0 16 0,0 0 0,0-12 0,0-14 0,0-15 0,0-6 0,0-5 0,0 1 0,0 1 0,0 6 0,0 6 0,0 8 0,0 5 0,0 6 0,0 5 0,0-2 0,3 2 0,1-4 0,1-1 0,-1 1 0,-2-1 0,1-5 0,1-5 0,1-2 0,2 1 0,-2 5 0,4 5 0,-1 0 0,1 1 0,4 5 0,-3 2 0,3 5 0,0-11 0,-4-11 0,-1-14 0,-1-8 0,-3-1 0,1 3 0,2 2 0,-2 4 0,0 2 0,-3-2 0,-2-3 0,0 3 0,0 0 0,0 5 0,0 10 0,3 7 0,2 12 0,3 11 0,5 15 0,-5-38 0,1 4 0,2 10 0,-1 3 0,1 10 0,-2 2 0,-2 1 0,-1-2 0,-2-9 0,-1-3 0,-3-15 0,0-4 0,0 21 0,0-28 0,0-21 0,0-9 0,-2-7 0,-1-7 0,-11-28 0,5 11 0,-6-23 0,7 11 0,4 9 0,0-3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33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24575,'0'29'0,"0"-1"0,0-6 0,0 4 0,0 13 0,0 11 0,0 12 0,0 16 0,0 15 0,0-42 0,0 0 0,0 3 0,0 0 0,0 0 0,0-1 0,0 37 0,0-14 0,0-13 0,0-16 0,0 0 0,0-1 0,0 0 0,0 1 0,0-7 0,0-5 0,0-4 0,0 0 0,0 4 0,0 1 0,0 5 0,0 8 0,0 6 0,0 5 0,0 5 0,0-5 0,0-6 0,0-6 0,0-10 0,0-2 0,0-5 0,0-2 0,0-5 0,0-5 0,0-4 0,0 0 0,0 3 0,0 2 0,0 5 0,0 1 0,0 1 0,0-1 0,0-3 0,0-1 0,0 0 0,0 0 0,0 4 0,0-4 0,0 2 0,0-4 0,0-10 0,0-3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1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1 24575,'0'31'0,"0"-3"0,0-12 0,0 0 0,0 2 0,0 2 0,0-2 0,0 2 0,0 0 0,0-1 0,0-1 0,0 0 0,0 0 0,0 5 0,0 3 0,0 3 0,0 2 0,0-1 0,0 1 0,0-4 0,0-2 0,0-1 0,0-1 0,0-3 0,0-4 0,0-1 0,0-3 0,0 1 0,0 0 0,0 0 0,0 2 0,0 1 0,0 2 0,0 1 0,0 6 0,0 1 0,0 3 0,0 1 0,0 1 0,0-1 0,0 1 0,0 0 0,0-1 0,0 1 0,0-1 0,0 1 0,0-4 0,0-4 0,0-2 0,0-3 0,0 3 0,0-2 0,0-1 0,1 2 0,2 0 0,0 4 0,1 3 0,0 1 0,0 7 0,1 5 0,-2 3 0,1-2 0,0-1 0,1-3 0,-2 0 0,0-5 0,1-9 0,0-4 0,-1-4 0,0 0 0,2 1 0,-1-1 0,3 1 0,-4-1 0,1 0 0,-1 1 0,-1 0 0,1 4 0,1-1 0,-1 0 0,-2 2 0,-1-1 0,0 2 0,0 4 0,3 1 0,1 3 0,3 1 0,0-4 0,-3-4 0,3-5 0,-3-1 0,1-1 0,-2 0 0,-3 0 0,0 3 0,3 5 0,1 4 0,4 2 0,0 6 0,0 18 0,1 21 0,1 19 0,-4-43 0,0 1 0,0-1 0,-1-2 0,4 38 0,0-16 0,-4-19 0,-1-13 0,0-8 0,0-6 0,0-4 0,-1-3 0,-2-2 0,-1-1 0,0 1 0,0-2 0,0 1 0,0 0 0,0 3 0,0 1 0,0 0 0,0-2 0,4-3 0,0-2 0,1 0 0,1 1 0,-2 5 0,2 1 0,1 3 0,-1 1 0,0 0 0,-1 0 0,-2-5 0,1-3 0,-1-5 0,1 0 0,-1 2 0,-2 2 0,-1 4 0,0 14 0,0 28 0,0 19 0,0 9 0,0-9 0,0-21 0,0-17 0,0-12 0,0-9 0,0-4 0,0-9 0,-11-49 0,3-28 0,-1 5 0,-1-5 0,2 1 0,1 2 0,1 9 0,0 3 0,-4-26 0,2 41 0,0 4 0,-6-1 0,-5 1 0,1 5 0,-1 5 0,3 3 0,2 4 0,-2 0 0,1 0 0,-2-5 0,5-3 0,1-1 0,3 2 0,4-4 0,-3-1 0,3-2 0,-3 4 0,0 8 0,1 7 0,-1 8 0,2 25 0,1 11 0,4 24 0,0 4 0,0 11 0,0 6 0,0-2 0,0-1 0,0-14 0,0-7 0,0-6 0,0-5 0,0 0 0,0 1 0,0 2 0,0 1 0,0 13 0,0 16 0,0 11 0,0 3 0,0-13 0,0-20 0,0-12 0,0-14 0,0-6 0,2-8 0,2-4 0,-1 4 0,0 2 0,-3 11 0,0 4 0,0 0 0,0-4 0,0-6 0,0-4 0,0-1 0,0 1 0,0-1 0,0 3 0,0-1 0,2-2 0,1-1 0,0-2 0,0 3 0,2 2 0,0 3 0,3 9 0,3 5 0,1 6 0,-1 0 0,-1-5 0,0-5 0,-3-8 0,3-5 0,-3-3 0,1-1 0,1 2 0,-2 3 0,0 3 0,0 4 0,0 2 0,1 3 0,2 0 0,-2 4 0,2 1 0,-2 1 0,-3-2 0,2 1 0,2 0 0,0 5 0,-1 0 0,-1-4 0,-3-2 0,0-4 0,0 0 0,-1-4 0,1-1 0,0-3 0,0-3 0,-3 0 0,2-1 0,1 3 0,3 1 0,-2 1 0,-1 2 0,2 1 0,-1 4 0,3-1 0,-1 1 0,0-1 0,0 1 0,-3 0 0,3-1 0,-2 6 0,-1 0 0,0 1 0,-1-4 0,1-9 0,0-5 0,-1-4 0,-3 1 0,3 1 0,0 0 0,1 1 0,-1-3 0,-2 1 0,-1-5-246,1-38 0,-1 20 0,0-28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18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0 24575,'0'50'0,"0"8"0,0 3 0,0 12 0,0 8 0,0-1 0,0-14 0,0-13 0,0-18 0,0-4 0,0-1 0,0 0 0,0 0 0,0-4 0,4-4 0,0 0 0,1 0 0,1 2 0,-3 2 0,3-4 0,0 2 0,-2 5 0,3 3 0,-2 12 0,2 6 0,1 3 0,-1 3 0,1-3 0,-3 4 0,2 2 0,-1 3 0,-2 0 0,3 1 0,-2 0 0,0-5 0,-1-2 0,-4-4 0,0 0 0,0 6 0,0 5 0,0 6 0,0 6 0,1 7 0,4 7 0,-2-39 0,0 1 0,0 2 0,-1 2 0,2-2 0,-1 0 0,2 41 0,0-21 0,-1-24 0,-2-22 0,2-15 0,1-9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26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40 1 24575,'0'56'0,"0"6"0,0-2 0,0 22 0,0-22 0,0 4 0,0 6 0,0 0 0,2 1 0,0-2 0,0-8 0,1-6 0,2 18 0,-1-20 0,-4-15 0,2-6 0,2-8 0,2-4 0,1-6 0,0-5 0,1 1 0,0 1 0,3 1 0,-4 3 0,2-5 0,-2 2 0,-1 0 0,0 0 0,-3 5 0,3-1 0,-2 2 0,1 2 0,-1 2 0,1 5 0,0 4 0,3 5 0,0 5 0,-3 5 0,1 0 0,-1 0 0,-1-5 0,-1-4 0,-3-3 0,0-9 0,0-5 0,0-5 0,0-2 0,0 1 0,0 0 0,0 0 0,0-1 0,0 4 0,0-1 0,0 3 0,0-1 0,0-3 0,0 2 0,0 0 0,0 0 0,0 1 0,0-3 0,0 3 0,0 0 0,0 3 0,0 0 0,0-2 0,0 0 0,0-4 0,0 0 0,0-1 0,0 2 0,0 2 0,0 0 0,0 4 0,0-3 0,0 2 0,0 1 0,0-3 0,0-1 0,0 0 0,0-2 0,0 2 0,0 3 0,0 4 0,0 4 0,0 2 0,0-1 0,0 1 0,0-1 0,0 1 0,0 0 0,0-1 0,0 1 0,0 0 0,0 0 0,0 6 0,0 11 0,0 9 0,0 2 0,0-4 0,0-10 0,0-7 0,0 1 0,0-3 0,0 5 0,0-2 0,0-2 0,0-2 0,0-5 0,0 1 0,0 0 0,0 0 0,0-1 0,0-1 0,0-5 0,0-4 0,0-3 0,0-1 0,0 5 0,0 4 0,0 2 0,0 9 0,0 11 0,0 11 0,0 11 0,0 0 0,0-3 0,0-9 0,0-11 0,0-8 0,-3-7 0,-1-4 0,0-4 0,0-6 0,4-4 0,0-1 0,-1 0 0,1 1 0,0-1 0,0 4 0,0 4 0,-3 5 0,-2 4 0,1 2 0,-3 0 0,2 0 0,-2-1 0,-1 1 0,3 0 0,-2-1 0,0 0 0,-1 0 0,1-4 0,4-3 0,3-2 0,0 0 0,0 5 0,0 3 0,0 1 0,-4 0 0,0 6 0,0 5 0,-3 4 0,2 1 0,1-4 0,1-7 0,3-2 0,0-4 0,0-2 0,0-3 0,-3-1 0,-2 0 0,1 4 0,-3 1 0,-1 3 0,0 0 0,0-1 0,1-2 0,3-2 0,-1-3 0,1-1 0,1 4 0,-2 1 0,-3 4 0,1 0 0,3-1 0,1-3 0,3-3 0,0-6 0,0-3 0,0-2 0,3-2 0,2-4 0,7-4 0,3-3 0,3 0 0,-5 4 0,-1 7 0,-2 8 0,-2 5 0,2 1 0,2 6 0,-1 9 0,2 15 0,-3 7 0,-1 3 0,-3-4 0,-2-7 0,-2-3 0,-2-4 0,0 0 0,0-1 0,0 0 0,0 3 0,0 1 0,0-3 0,0-6 0,0-9 0,0-8 0,0-8 0,0-3 0,0-1 0,0 1 0,0 2 0,0 0 0,0 4 0,0 6 0,0 2 0,3 4 0,3-1 0,3 3 0,5 10 0,1 9 0,2 6 0,-2 2 0,-3-11 0,-3-8 0,-4-7 0,-1-7 0,-3-6 0,-1-5 0,0-1 0,0-2 0,0 1 0,0 1 0,0-2 0,0 2 0,0 1 0,0 2 0,0 6 0,0 9 0,0 15 0,0 7 0,0 7 0,0-7 0,0-10 0,0-7 0,0-9 0,0-5 0,0-17 0,0-7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7T02:21:29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128 0 24575,'0'84'0,"-5"4"0,-2-1 0,-5 8 0,-2-1 0,1-12 0,1-16 0,6-17 0,0-10 0,2-5 0,0-5 0,0-5 0,3-4 0,1-3 0,0-1 0,0 5 0,0 4 0,0 2 0,0 3 0,0 5 0,0 1 0,0 5 0,0 10 0,0 7 0,0 11 0,0 3 0,0-4 0,0-6 0,0-6 0,0-3 0,0 0 0,0 7 0,0 10 0,0 15 0,0-35 0,0 2 0,0 6 0,0 2 0,0 7 0,0 2 0,0 4 0,0 2 0,-1 2 0,-1 0 0,0-6 0,-1-2 0,-2-9 0,0-4 0,-6 29 0,4-30 0,3-20 0,4-15 0,0-7 0,0-2 0,0 1 0,0 1 0,0 7 0,0 9 0,0 22 0,0 15 0,0 16 0,0 0 0,0-12 0,0-14 0,0-15 0,0-6 0,0-5 0,0 1 0,0 1 0,0 6 0,0 6 0,0 8 0,0 5 0,0 6 0,0 5 0,0-2 0,3 2 0,1-4 0,1-1 0,-1 1 0,-2-1 0,1-5 0,1-5 0,1-2 0,2 1 0,-2 5 0,4 5 0,-1 0 0,1 1 0,4 5 0,-3 2 0,3 5 0,0-11 0,-4-11 0,-1-14 0,-1-8 0,-3-1 0,1 3 0,2 2 0,-2 4 0,0 2 0,-3-2 0,-2-3 0,0 3 0,0 0 0,0 5 0,0 10 0,3 7 0,2 12 0,3 11 0,5 15 0,-5-38 0,1 4 0,2 10 0,-1 3 0,1 10 0,-2 2 0,-2 1 0,-1-2 0,-2-9 0,-1-3 0,-3-15 0,0-4 0,0 21 0,0-28 0,0-21 0,0-9 0,-2-7 0,-1-7 0,-11-28 0,5 11 0,-6-23 0,7 11 0,4 9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80EBD-822D-6E48-AF1F-40418DFB1874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E59B8-C333-E141-BAEB-1310302C1E4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E59B8-C333-E141-BAEB-1310302C1E4C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E59B8-C333-E141-BAEB-1310302C1E4C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ankinfosecurity.com/mobile-ransomware-targets-android-users-through-sms-a-12864?utm_source=chatgpt.co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9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8.xml"/><Relationship Id="rId11" Type="http://schemas.openxmlformats.org/officeDocument/2006/relationships/image" Target="../media/image8.png"/><Relationship Id="rId5" Type="http://schemas.openxmlformats.org/officeDocument/2006/relationships/image" Target="../media/image5.png"/><Relationship Id="rId10" Type="http://schemas.openxmlformats.org/officeDocument/2006/relationships/customXml" Target="../ink/ink10.xml"/><Relationship Id="rId4" Type="http://schemas.openxmlformats.org/officeDocument/2006/relationships/customXml" Target="../ink/ink7.xml"/><Relationship Id="rId9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4.xml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3.xml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customXml" Target="../ink/ink12.xml"/><Relationship Id="rId9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subhajournal/android-ransomware-detectio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56987" y="9656653"/>
            <a:ext cx="14392154" cy="1086941"/>
            <a:chOff x="0" y="0"/>
            <a:chExt cx="3790526" cy="2862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790526" cy="286273"/>
            </a:xfrm>
            <a:custGeom>
              <a:avLst/>
              <a:gdLst/>
              <a:ahLst/>
              <a:cxnLst/>
              <a:rect l="l" t="t" r="r" b="b"/>
              <a:pathLst>
                <a:path w="3790526" h="286273">
                  <a:moveTo>
                    <a:pt x="0" y="0"/>
                  </a:moveTo>
                  <a:lnTo>
                    <a:pt x="3790526" y="0"/>
                  </a:lnTo>
                  <a:lnTo>
                    <a:pt x="3790526" y="286273"/>
                  </a:lnTo>
                  <a:lnTo>
                    <a:pt x="0" y="28627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3790526" cy="352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735168" y="9656653"/>
            <a:ext cx="5068612" cy="1086941"/>
            <a:chOff x="0" y="0"/>
            <a:chExt cx="1334943" cy="28627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34943" cy="286273"/>
            </a:xfrm>
            <a:custGeom>
              <a:avLst/>
              <a:gdLst/>
              <a:ahLst/>
              <a:cxnLst/>
              <a:rect l="l" t="t" r="r" b="b"/>
              <a:pathLst>
                <a:path w="1334943" h="286273">
                  <a:moveTo>
                    <a:pt x="0" y="0"/>
                  </a:moveTo>
                  <a:lnTo>
                    <a:pt x="1334943" y="0"/>
                  </a:lnTo>
                  <a:lnTo>
                    <a:pt x="1334943" y="286273"/>
                  </a:lnTo>
                  <a:lnTo>
                    <a:pt x="0" y="286273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334943" cy="3529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65661" y="527793"/>
            <a:ext cx="3970874" cy="3970874"/>
          </a:xfrm>
          <a:custGeom>
            <a:avLst/>
            <a:gdLst/>
            <a:ahLst/>
            <a:cxnLst/>
            <a:rect l="l" t="t" r="r" b="b"/>
            <a:pathLst>
              <a:path w="3970874" h="3970874">
                <a:moveTo>
                  <a:pt x="0" y="0"/>
                </a:moveTo>
                <a:lnTo>
                  <a:pt x="3970874" y="0"/>
                </a:lnTo>
                <a:lnTo>
                  <a:pt x="3970874" y="3970874"/>
                </a:lnTo>
                <a:lnTo>
                  <a:pt x="0" y="397087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65813" y="6995808"/>
            <a:ext cx="16756526" cy="2291067"/>
            <a:chOff x="0" y="-337542"/>
            <a:chExt cx="19248179" cy="350240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-337542"/>
              <a:ext cx="19063923" cy="3259172"/>
              <a:chOff x="0" y="-66675"/>
              <a:chExt cx="3765713" cy="64378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3765713" cy="577112"/>
              </a:xfrm>
              <a:custGeom>
                <a:avLst/>
                <a:gdLst/>
                <a:ahLst/>
                <a:cxnLst/>
                <a:rect l="l" t="t" r="r" b="b"/>
                <a:pathLst>
                  <a:path w="3765713" h="577112">
                    <a:moveTo>
                      <a:pt x="0" y="0"/>
                    </a:moveTo>
                    <a:lnTo>
                      <a:pt x="3765713" y="0"/>
                    </a:lnTo>
                    <a:lnTo>
                      <a:pt x="3765713" y="577112"/>
                    </a:lnTo>
                    <a:lnTo>
                      <a:pt x="0" y="577112"/>
                    </a:lnTo>
                    <a:close/>
                  </a:path>
                </a:pathLst>
              </a:custGeom>
              <a:solidFill>
                <a:srgbClr val="FED101">
                  <a:alpha val="84706"/>
                </a:srgbClr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0" y="-66675"/>
                <a:ext cx="3765713" cy="64378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800"/>
                  </a:lnSpc>
                </a:pPr>
                <a:endParaRPr/>
              </a:p>
            </p:txBody>
          </p:sp>
        </p:grpSp>
        <p:grpSp>
          <p:nvGrpSpPr>
            <p:cNvPr id="13" name="Group 13"/>
            <p:cNvGrpSpPr/>
            <p:nvPr/>
          </p:nvGrpSpPr>
          <p:grpSpPr>
            <a:xfrm>
              <a:off x="184256" y="155187"/>
              <a:ext cx="19063923" cy="3009671"/>
              <a:chOff x="0" y="-9525"/>
              <a:chExt cx="5142197" cy="811812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0" y="0"/>
                <a:ext cx="5142197" cy="802287"/>
              </a:xfrm>
              <a:custGeom>
                <a:avLst/>
                <a:gdLst/>
                <a:ahLst/>
                <a:cxnLst/>
                <a:rect l="l" t="t" r="r" b="b"/>
                <a:pathLst>
                  <a:path w="5142197" h="802287">
                    <a:moveTo>
                      <a:pt x="0" y="0"/>
                    </a:moveTo>
                    <a:lnTo>
                      <a:pt x="5142197" y="0"/>
                    </a:lnTo>
                    <a:lnTo>
                      <a:pt x="5142197" y="802287"/>
                    </a:lnTo>
                    <a:lnTo>
                      <a:pt x="0" y="802287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0" y="-9525"/>
                <a:ext cx="5142197" cy="811812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16" name="TextBox 16"/>
          <p:cNvSpPr txBox="1"/>
          <p:nvPr/>
        </p:nvSpPr>
        <p:spPr>
          <a:xfrm>
            <a:off x="3772863" y="765196"/>
            <a:ext cx="14515137" cy="2810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</a:pPr>
            <a:r>
              <a:rPr lang="en-US" sz="5935" spc="178">
                <a:solidFill>
                  <a:srgbClr val="000000"/>
                </a:solidFill>
                <a:latin typeface="Alice Bold"/>
              </a:rPr>
              <a:t>Bangladesh Army University of </a:t>
            </a:r>
          </a:p>
          <a:p>
            <a:pPr algn="ctr">
              <a:lnSpc>
                <a:spcPts val="7420"/>
              </a:lnSpc>
            </a:pPr>
            <a:r>
              <a:rPr lang="en-US" sz="5935" spc="178">
                <a:solidFill>
                  <a:srgbClr val="000000"/>
                </a:solidFill>
                <a:latin typeface="Alice Bold"/>
              </a:rPr>
              <a:t>Science and Technology</a:t>
            </a:r>
          </a:p>
          <a:p>
            <a:pPr algn="ctr">
              <a:lnSpc>
                <a:spcPts val="7420"/>
              </a:lnSpc>
            </a:pPr>
            <a:r>
              <a:rPr lang="en-US" sz="5935" spc="178">
                <a:solidFill>
                  <a:srgbClr val="000000"/>
                </a:solidFill>
                <a:latin typeface="Alice Bold"/>
              </a:rPr>
              <a:t>(BAUST)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113703" y="9642593"/>
            <a:ext cx="3259788" cy="4632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20"/>
              </a:lnSpc>
            </a:pPr>
            <a:r>
              <a:rPr lang="en-US" sz="2800" dirty="0">
                <a:solidFill>
                  <a:srgbClr val="000000"/>
                </a:solidFill>
                <a:latin typeface="Alice Bold"/>
              </a:rPr>
              <a:t>25 Nov 2025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772863" y="3483137"/>
            <a:ext cx="14515137" cy="730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65"/>
              </a:lnSpc>
            </a:pPr>
            <a:r>
              <a:rPr lang="en-US" sz="3940" spc="118">
                <a:solidFill>
                  <a:srgbClr val="000000"/>
                </a:solidFill>
                <a:latin typeface="Alice Bold"/>
              </a:rPr>
              <a:t>Department of Computer Science and Engineering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19200" y="7529265"/>
            <a:ext cx="16040100" cy="2995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spc="462" dirty="0">
                <a:solidFill>
                  <a:srgbClr val="000000"/>
                </a:solidFill>
                <a:latin typeface="Alice Bold"/>
              </a:rPr>
              <a:t>Multi-Class Android Ransomware Detection Based </a:t>
            </a:r>
          </a:p>
          <a:p>
            <a:r>
              <a:rPr lang="en-US" sz="4000" spc="462" dirty="0">
                <a:solidFill>
                  <a:srgbClr val="000000"/>
                </a:solidFill>
                <a:latin typeface="Alice Bold"/>
              </a:rPr>
              <a:t>on </a:t>
            </a:r>
            <a:r>
              <a:rPr lang="en-US" sz="4000" spc="462" dirty="0" err="1">
                <a:solidFill>
                  <a:srgbClr val="000000"/>
                </a:solidFill>
                <a:latin typeface="Alice Bold"/>
              </a:rPr>
              <a:t>Behavioural</a:t>
            </a:r>
            <a:r>
              <a:rPr lang="en-US" sz="4000" spc="462" dirty="0">
                <a:solidFill>
                  <a:srgbClr val="000000"/>
                </a:solidFill>
                <a:latin typeface="Alice Bold"/>
              </a:rPr>
              <a:t> Analysis for Smarter Mobile Security </a:t>
            </a:r>
          </a:p>
          <a:p>
            <a:pPr algn="ctr">
              <a:lnSpc>
                <a:spcPts val="7280"/>
              </a:lnSpc>
            </a:pPr>
            <a:endParaRPr lang="en-US" sz="4000" spc="462" dirty="0">
              <a:solidFill>
                <a:srgbClr val="000000"/>
              </a:solidFill>
              <a:latin typeface="Alice Bold"/>
            </a:endParaRPr>
          </a:p>
          <a:p>
            <a:pPr algn="ctr">
              <a:lnSpc>
                <a:spcPts val="7280"/>
              </a:lnSpc>
            </a:pPr>
            <a:endParaRPr lang="en-US" sz="4000" spc="462" dirty="0">
              <a:solidFill>
                <a:srgbClr val="000000"/>
              </a:solidFill>
              <a:latin typeface="Alice Bold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1028700" y="4398631"/>
            <a:ext cx="16230600" cy="1905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diamond" w="lg" len="lg"/>
            <a:tailEnd type="diamond" w="lg" len="lg"/>
          </a:ln>
        </p:spPr>
      </p:sp>
      <p:sp>
        <p:nvSpPr>
          <p:cNvPr id="21" name="AutoShape 21"/>
          <p:cNvSpPr/>
          <p:nvPr/>
        </p:nvSpPr>
        <p:spPr>
          <a:xfrm>
            <a:off x="9277350" y="4909807"/>
            <a:ext cx="0" cy="1165785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oval" w="lg" len="lg"/>
            <a:tailEnd type="oval" w="lg" len="lg"/>
          </a:ln>
        </p:spPr>
      </p:sp>
      <p:sp>
        <p:nvSpPr>
          <p:cNvPr id="22" name="TextBox 22"/>
          <p:cNvSpPr txBox="1"/>
          <p:nvPr/>
        </p:nvSpPr>
        <p:spPr>
          <a:xfrm>
            <a:off x="994064" y="4574482"/>
            <a:ext cx="8115300" cy="103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Course Code: CSE4140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 Title: Machine Learning Sessional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27317" y="4461176"/>
            <a:ext cx="7195022" cy="25759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Teacher: Engr. </a:t>
            </a:r>
            <a:r>
              <a:rPr lang="en-US" sz="3000" dirty="0" err="1">
                <a:solidFill>
                  <a:srgbClr val="000000"/>
                </a:solidFill>
                <a:latin typeface="Alice" panose="00000500000000000000"/>
              </a:rPr>
              <a:t>Rohul</a:t>
            </a: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 Amin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Designation: Lecturer</a:t>
            </a:r>
          </a:p>
          <a:p>
            <a:endParaRPr lang="en-US" sz="3000" dirty="0">
              <a:solidFill>
                <a:srgbClr val="000000"/>
              </a:solidFill>
              <a:latin typeface="Alice" panose="00000500000000000000"/>
            </a:endParaRP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Teacher: Nadim Reza</a:t>
            </a:r>
          </a:p>
          <a:p>
            <a:pPr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Designation: Lecturer</a:t>
            </a:r>
          </a:p>
        </p:txBody>
      </p:sp>
      <p:sp>
        <p:nvSpPr>
          <p:cNvPr id="24" name="TextBox 22"/>
          <p:cNvSpPr txBox="1"/>
          <p:nvPr/>
        </p:nvSpPr>
        <p:spPr>
          <a:xfrm>
            <a:off x="1078057" y="6017161"/>
            <a:ext cx="8115300" cy="10370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Name : Md. Ariful Islam</a:t>
            </a:r>
          </a:p>
          <a:p>
            <a:pPr algn="ctr">
              <a:lnSpc>
                <a:spcPts val="4200"/>
              </a:lnSpc>
            </a:pPr>
            <a:r>
              <a:rPr lang="en-US" sz="3000" dirty="0">
                <a:solidFill>
                  <a:srgbClr val="000000"/>
                </a:solidFill>
                <a:latin typeface="Alice" panose="00000500000000000000"/>
              </a:rPr>
              <a:t>Id: 220201010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321813" y="1028700"/>
            <a:ext cx="5644375" cy="1872744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229084"/>
              <a:ext cx="7274833" cy="2267908"/>
              <a:chOff x="0" y="0"/>
              <a:chExt cx="1962273" cy="6117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1000" y="788453"/>
              <a:ext cx="7274833" cy="13430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>
                  <a:solidFill>
                    <a:srgbClr val="000000"/>
                  </a:solidFill>
                  <a:latin typeface="Alice Bold"/>
                </a:rPr>
                <a:t>Contents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02715" y="3274418"/>
            <a:ext cx="3352200" cy="7471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Introduction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Objective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Dataset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Methodology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Result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XAI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Conclusion</a:t>
            </a: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36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22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  <p:pic>
        <p:nvPicPr>
          <p:cNvPr id="25" name="Picture 24" descr="A cell phone with a skull on it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1522" y="3492500"/>
            <a:ext cx="6605133" cy="46228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51522" y="8350639"/>
            <a:ext cx="72124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Fig. 1.</a:t>
            </a:r>
            <a:r>
              <a:rPr lang="en-US" dirty="0"/>
              <a:t> Screenshot of Android mobile ransomware ransom note. [Online].</a:t>
            </a:r>
            <a:br>
              <a:rPr lang="en-US" dirty="0"/>
            </a:br>
            <a:r>
              <a:rPr lang="en-US" dirty="0"/>
              <a:t>Available: </a:t>
            </a:r>
            <a:r>
              <a:rPr lang="en-US" dirty="0">
                <a:hlinkClick r:id="rId3"/>
              </a:rPr>
              <a:t>https://www.bankinfosecurity.com/mobile-ransomware-targets-android-users-through-sms-a-12864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4400" y="263415"/>
            <a:ext cx="8305800" cy="1420177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1000" y="306591"/>
              <a:ext cx="7274833" cy="1752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000000"/>
                  </a:solidFill>
                  <a:latin typeface="Alice Bold"/>
                </a:rPr>
                <a:t>Introduction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4684" y="2106608"/>
            <a:ext cx="15727916" cy="586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Android phones are often attacked by different types of ransomware.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Most of the Research only tell if an app is good or bad, but they cannot tell </a:t>
            </a:r>
            <a:r>
              <a:rPr lang="en-US" sz="3200" i="1" dirty="0"/>
              <a:t>which type</a:t>
            </a:r>
            <a:r>
              <a:rPr lang="en-US" sz="3200" dirty="0"/>
              <a:t> of ransomware it is.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So, we created a model that can detect five different types of ransomware, not just one.</a:t>
            </a:r>
          </a:p>
          <a:p>
            <a:pPr marL="457200" indent="-4572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3200" dirty="0"/>
              <a:t>Our model works well, and some algorithms reached very high accuracy for identifying ransomware types.</a:t>
            </a:r>
          </a:p>
        </p:txBody>
      </p:sp>
      <p:sp>
        <p:nvSpPr>
          <p:cNvPr id="19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4400" y="263415"/>
            <a:ext cx="8305800" cy="1420177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1000" y="407737"/>
              <a:ext cx="7274833" cy="1752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000000"/>
                  </a:solidFill>
                  <a:latin typeface="Alice Bold"/>
                </a:rPr>
                <a:t>Objective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3</a:t>
            </a:r>
          </a:p>
        </p:txBody>
      </p:sp>
      <p:sp>
        <p:nvSpPr>
          <p:cNvPr id="23" name="Rectangle 4"/>
          <p:cNvSpPr>
            <a:spLocks noChangeArrowheads="1"/>
          </p:cNvSpPr>
          <p:nvPr/>
        </p:nvSpPr>
        <p:spPr bwMode="auto">
          <a:xfrm rot="10800000" flipV="1">
            <a:off x="1371600" y="2026937"/>
            <a:ext cx="15887700" cy="487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457200" marR="0" lvl="0" indent="-45720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dirty="0"/>
              <a:t>To detect different types of Android ransomware, not just “malicious or not.”</a:t>
            </a:r>
          </a:p>
          <a:p>
            <a:pPr marL="457200" marR="0" lvl="0" indent="-45720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dirty="0"/>
              <a:t>To build a model that can classify five ransomware categories.</a:t>
            </a:r>
          </a:p>
          <a:p>
            <a:pPr marL="457200" marR="0" lvl="0" indent="-45720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dirty="0"/>
              <a:t>To compare different machine learning algorithms to find the best one.</a:t>
            </a:r>
          </a:p>
          <a:p>
            <a:pPr marL="457200" marR="0" lvl="0" indent="-457200" algn="just" fontAlgn="base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200" dirty="0"/>
              <a:t>To help improve mobile security by giving more detailed and useful ransomware information.</a:t>
            </a:r>
          </a:p>
        </p:txBody>
      </p:sp>
      <p:sp>
        <p:nvSpPr>
          <p:cNvPr id="24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4400" y="263415"/>
            <a:ext cx="8305800" cy="1420177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0999" y="495672"/>
              <a:ext cx="7274833" cy="1772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000000"/>
                  </a:solidFill>
                  <a:latin typeface="Alice Bold"/>
                </a:rPr>
                <a:t>Related Work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7791" y="61423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5281106"/>
              </p:ext>
            </p:extLst>
          </p:nvPr>
        </p:nvGraphicFramePr>
        <p:xfrm>
          <a:off x="1219200" y="2464736"/>
          <a:ext cx="16040100" cy="688918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32080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80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80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80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80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0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Study</a:t>
                      </a:r>
                      <a:endParaRPr lang="en-US" sz="24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Method Used</a:t>
                      </a:r>
                      <a:endParaRPr lang="en-US" sz="24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Target / Focus</a:t>
                      </a:r>
                      <a:endParaRPr lang="en-US" sz="24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Type</a:t>
                      </a:r>
                      <a:endParaRPr lang="en-US" sz="24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Key Findings</a:t>
                      </a:r>
                      <a:endParaRPr lang="en-US" sz="2400"/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Arp et al., 2014 [1]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Static analysis (permissions, API calls)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General Android malware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Binary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High accuracy (~98%), but cannot detect ransomware types.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2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 err="1"/>
                        <a:t>Narudin</a:t>
                      </a:r>
                      <a:r>
                        <a:rPr lang="en-US" sz="2400" dirty="0"/>
                        <a:t> et al., 2015 [2]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Machine learning with static features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Malware detection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Binary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Good performance, but limited behavioural understanding.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2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Slates, 2019 [3]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Dynamic behaviour analysis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Locker ransomware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Binary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Very accurate for locker malware, but only one ransomware type.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2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Yerima et al., 2016 [4]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Multi-class ML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Malware families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Multi-class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65–72% accuracy; multi-class is harder due to similar behaviours.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220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Our Work, 2025</a:t>
                      </a:r>
                      <a:endParaRPr lang="en-US" sz="2400"/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Behaviour-based ML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Android ransomware (5 types)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Five-class</a:t>
                      </a:r>
                    </a:p>
                  </a:txBody>
                  <a:tcPr marL="48666" marR="48666" marT="24333" marB="2433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99.73% accuracy; gives detailed ransomware type information.</a:t>
                      </a:r>
                    </a:p>
                  </a:txBody>
                  <a:tcPr marL="48666" marR="48666" marT="24333" marB="2433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1421" y="1975899"/>
            <a:ext cx="15863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Table 01: Related 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4400" y="263415"/>
            <a:ext cx="8305800" cy="1420177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0999" y="495672"/>
              <a:ext cx="7274833" cy="1772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000000"/>
                  </a:solidFill>
                  <a:latin typeface="Alice Bold"/>
                </a:rPr>
                <a:t>Dataset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57791" y="614238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990600" y="1936749"/>
            <a:ext cx="107442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Our dataset has 203,556 rows and 85 columns.</a:t>
            </a:r>
            <a:br>
              <a:rPr lang="en-US" sz="2800" dirty="0"/>
            </a:br>
            <a:r>
              <a:rPr lang="en-US" sz="2800" dirty="0"/>
              <a:t>It includes 10 types of Android ransomware and benign (normal) traffic.</a:t>
            </a:r>
            <a:br>
              <a:rPr lang="en-US" sz="2800" dirty="0"/>
            </a:br>
            <a:r>
              <a:rPr lang="en-US" sz="2800" dirty="0"/>
              <a:t>Each ransomware type has a different number of records.</a:t>
            </a:r>
          </a:p>
          <a:p>
            <a:endParaRPr lang="en-US" sz="2800" dirty="0"/>
          </a:p>
          <a:p>
            <a:r>
              <a:rPr lang="en-US" sz="2800" dirty="0"/>
              <a:t>Here is the data distribution:</a:t>
            </a:r>
          </a:p>
          <a:p>
            <a:r>
              <a:rPr lang="en-US" sz="2800" dirty="0" err="1"/>
              <a:t>SVpeng</a:t>
            </a:r>
            <a:r>
              <a:rPr lang="en-US" sz="2800" dirty="0"/>
              <a:t>: 54,161 records</a:t>
            </a:r>
          </a:p>
          <a:p>
            <a:r>
              <a:rPr lang="en-US" sz="2800" dirty="0" err="1"/>
              <a:t>PornDroid</a:t>
            </a:r>
            <a:r>
              <a:rPr lang="en-US" sz="2800" dirty="0"/>
              <a:t>: 46,082 records</a:t>
            </a:r>
          </a:p>
          <a:p>
            <a:r>
              <a:rPr lang="en-US" sz="2800" dirty="0"/>
              <a:t>Koler: 44,555 records</a:t>
            </a:r>
          </a:p>
          <a:p>
            <a:r>
              <a:rPr lang="en-US" sz="2800" dirty="0"/>
              <a:t>Benign: 43,091 records</a:t>
            </a:r>
          </a:p>
          <a:p>
            <a:r>
              <a:rPr lang="en-US" sz="2800" dirty="0" err="1"/>
              <a:t>RansomBO</a:t>
            </a:r>
            <a:r>
              <a:rPr lang="en-US" sz="2800" dirty="0"/>
              <a:t>: 39,859 records</a:t>
            </a:r>
          </a:p>
          <a:p>
            <a:r>
              <a:rPr lang="en-US" sz="2800" dirty="0"/>
              <a:t>Charger: 39,551 records</a:t>
            </a:r>
          </a:p>
          <a:p>
            <a:r>
              <a:rPr lang="en-US" sz="2800" dirty="0" err="1"/>
              <a:t>Simplocker</a:t>
            </a:r>
            <a:r>
              <a:rPr lang="en-US" sz="2800" dirty="0"/>
              <a:t>: 36,340 records</a:t>
            </a:r>
          </a:p>
          <a:p>
            <a:r>
              <a:rPr lang="en-US" sz="2800" dirty="0" err="1"/>
              <a:t>WannaLocker</a:t>
            </a:r>
            <a:r>
              <a:rPr lang="en-US" sz="2800" dirty="0"/>
              <a:t>: 32,701 records</a:t>
            </a:r>
          </a:p>
          <a:p>
            <a:r>
              <a:rPr lang="en-US" sz="2800" dirty="0" err="1"/>
              <a:t>Jisut</a:t>
            </a:r>
            <a:r>
              <a:rPr lang="en-US" sz="2800" dirty="0"/>
              <a:t>: 25,672 records</a:t>
            </a:r>
          </a:p>
          <a:p>
            <a:r>
              <a:rPr lang="en-US" sz="2800" dirty="0" err="1"/>
              <a:t>Lockerpin</a:t>
            </a:r>
            <a:r>
              <a:rPr lang="en-US" sz="2800" dirty="0"/>
              <a:t>: 25,307 records</a:t>
            </a:r>
          </a:p>
          <a:p>
            <a:r>
              <a:rPr lang="en-US" sz="2800" dirty="0" err="1"/>
              <a:t>Pletor</a:t>
            </a:r>
            <a:r>
              <a:rPr lang="en-US" sz="2800" dirty="0"/>
              <a:t>: 4,715 records</a:t>
            </a:r>
          </a:p>
        </p:txBody>
      </p:sp>
      <p:pic>
        <p:nvPicPr>
          <p:cNvPr id="22" name="Picture 21" descr="A screenshot of a graph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3543300"/>
            <a:ext cx="10267699" cy="5402171"/>
          </a:xfrm>
          <a:prstGeom prst="rect">
            <a:avLst/>
          </a:prstGeom>
        </p:spPr>
      </p:pic>
      <p:sp>
        <p:nvSpPr>
          <p:cNvPr id="23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F8D5EC-5F9C-97CC-67E7-889C4CCE8588}"/>
              </a:ext>
            </a:extLst>
          </p:cNvPr>
          <p:cNvSpPr txBox="1"/>
          <p:nvPr/>
        </p:nvSpPr>
        <p:spPr>
          <a:xfrm>
            <a:off x="7578436" y="8864582"/>
            <a:ext cx="38304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2: Dataset of Android Ransomware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4400" y="263415"/>
            <a:ext cx="8305800" cy="1420177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25893" y="460972"/>
              <a:ext cx="7274833" cy="1752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000000"/>
                  </a:solidFill>
                  <a:latin typeface="Alice Bold"/>
                </a:rPr>
                <a:t>Methodology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6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6916823" y="1840414"/>
            <a:ext cx="211320" cy="4785120"/>
            <a:chOff x="16916823" y="1840414"/>
            <a:chExt cx="211320" cy="47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/>
                <p14:cNvContentPartPr/>
                <p14:nvPr/>
              </p14:nvContentPartPr>
              <p14:xfrm>
                <a:off x="16933743" y="1840414"/>
                <a:ext cx="146520" cy="2265840"/>
              </p14:xfrm>
            </p:contentPart>
          </mc:Choice>
          <mc:Fallback xmlns="">
            <p:pic>
              <p:nvPicPr>
                <p:cNvPr id="10" name="Ink 9"/>
              </p:nvPicPr>
              <p:blipFill>
                <a:blip r:embed="rId3"/>
              </p:blipFill>
              <p:spPr>
                <a:xfrm>
                  <a:off x="16933743" y="1840414"/>
                  <a:ext cx="146520" cy="22658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/>
                <p14:cNvContentPartPr/>
                <p14:nvPr/>
              </p14:nvContentPartPr>
              <p14:xfrm>
                <a:off x="17065863" y="3905014"/>
                <a:ext cx="62280" cy="999720"/>
              </p14:xfrm>
            </p:contentPart>
          </mc:Choice>
          <mc:Fallback xmlns="">
            <p:pic>
              <p:nvPicPr>
                <p:cNvPr id="17" name="Ink 16"/>
              </p:nvPicPr>
              <p:blipFill>
                <a:blip r:embed="rId5"/>
              </p:blipFill>
              <p:spPr>
                <a:xfrm>
                  <a:off x="17065863" y="3905014"/>
                  <a:ext cx="62280" cy="9997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/>
                <p14:cNvContentPartPr/>
                <p14:nvPr/>
              </p14:nvContentPartPr>
              <p14:xfrm>
                <a:off x="16916823" y="3807454"/>
                <a:ext cx="102240" cy="2818080"/>
              </p14:xfrm>
            </p:contentPart>
          </mc:Choice>
          <mc:Fallback xmlns="">
            <p:pic>
              <p:nvPicPr>
                <p:cNvPr id="23" name="Ink 22"/>
              </p:nvPicPr>
              <p:blipFill>
                <a:blip r:embed="rId7"/>
              </p:blipFill>
              <p:spPr>
                <a:xfrm>
                  <a:off x="16916823" y="3807454"/>
                  <a:ext cx="102240" cy="281808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/>
              <p14:cNvContentPartPr/>
              <p14:nvPr/>
            </p14:nvContentPartPr>
            <p14:xfrm>
              <a:off x="16972983" y="6605734"/>
              <a:ext cx="99720" cy="2523600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9"/>
            </p:blipFill>
            <p:spPr>
              <a:xfrm>
                <a:off x="16972983" y="6605734"/>
                <a:ext cx="99720" cy="2523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/>
              <p14:cNvContentPartPr/>
              <p14:nvPr/>
            </p14:nvContentPartPr>
            <p14:xfrm>
              <a:off x="16955343" y="8482054"/>
              <a:ext cx="360" cy="862200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11"/>
            </p:blipFill>
            <p:spPr>
              <a:xfrm>
                <a:off x="16955343" y="8482054"/>
                <a:ext cx="360" cy="862200"/>
              </a:xfrm>
              <a:prstGeom prst="rect"/>
            </p:spPr>
          </p:pic>
        </mc:Fallback>
      </mc:AlternateContent>
      <p:pic>
        <p:nvPicPr>
          <p:cNvPr id="28" name="Picture 27" descr="A diagram of a process&#10;&#10;AI-generated content may be incorrect.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9857" y="2393054"/>
            <a:ext cx="15782757" cy="6088999"/>
          </a:xfrm>
          <a:prstGeom prst="rect">
            <a:avLst/>
          </a:prstGeom>
        </p:spPr>
      </p:pic>
      <p:sp>
        <p:nvSpPr>
          <p:cNvPr id="29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533FE3-26B9-24B9-6289-5EEFAD9D0CC5}"/>
              </a:ext>
            </a:extLst>
          </p:cNvPr>
          <p:cNvSpPr txBox="1"/>
          <p:nvPr/>
        </p:nvSpPr>
        <p:spPr>
          <a:xfrm>
            <a:off x="1205345" y="8749145"/>
            <a:ext cx="42553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3: </a:t>
            </a:r>
            <a:r>
              <a:rPr lang="en-US" dirty="0" err="1"/>
              <a:t>Methodolgy</a:t>
            </a:r>
            <a:r>
              <a:rPr lang="en-US" dirty="0"/>
              <a:t> of Android Ransomware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4400" y="263415"/>
            <a:ext cx="8305800" cy="1420177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25893" y="460972"/>
              <a:ext cx="7274833" cy="1752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000000"/>
                  </a:solidFill>
                  <a:latin typeface="Alice Bold"/>
                </a:rPr>
                <a:t>Result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7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6916823" y="1840414"/>
            <a:ext cx="211320" cy="4785120"/>
            <a:chOff x="16916823" y="1840414"/>
            <a:chExt cx="211320" cy="47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/>
                <p14:cNvContentPartPr/>
                <p14:nvPr/>
              </p14:nvContentPartPr>
              <p14:xfrm>
                <a:off x="16933743" y="1840414"/>
                <a:ext cx="146520" cy="2265840"/>
              </p14:xfrm>
            </p:contentPart>
          </mc:Choice>
          <mc:Fallback xmlns="">
            <p:pic>
              <p:nvPicPr>
                <p:cNvPr id="10" name="Ink 9"/>
              </p:nvPicPr>
              <p:blipFill>
                <a:blip r:embed="rId3"/>
              </p:blipFill>
              <p:spPr>
                <a:xfrm>
                  <a:off x="16933743" y="1840414"/>
                  <a:ext cx="146520" cy="22658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/>
                <p14:cNvContentPartPr/>
                <p14:nvPr/>
              </p14:nvContentPartPr>
              <p14:xfrm>
                <a:off x="17065863" y="3905014"/>
                <a:ext cx="62280" cy="999720"/>
              </p14:xfrm>
            </p:contentPart>
          </mc:Choice>
          <mc:Fallback xmlns="">
            <p:pic>
              <p:nvPicPr>
                <p:cNvPr id="17" name="Ink 16"/>
              </p:nvPicPr>
              <p:blipFill>
                <a:blip r:embed="rId5"/>
              </p:blipFill>
              <p:spPr>
                <a:xfrm>
                  <a:off x="17065863" y="3905014"/>
                  <a:ext cx="62280" cy="9997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/>
                <p14:cNvContentPartPr/>
                <p14:nvPr/>
              </p14:nvContentPartPr>
              <p14:xfrm>
                <a:off x="16916823" y="3807454"/>
                <a:ext cx="102240" cy="2818080"/>
              </p14:xfrm>
            </p:contentPart>
          </mc:Choice>
          <mc:Fallback xmlns="">
            <p:pic>
              <p:nvPicPr>
                <p:cNvPr id="23" name="Ink 22"/>
              </p:nvPicPr>
              <p:blipFill>
                <a:blip r:embed="rId7"/>
              </p:blipFill>
              <p:spPr>
                <a:xfrm>
                  <a:off x="16916823" y="3807454"/>
                  <a:ext cx="102240" cy="281808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/>
              <p14:cNvContentPartPr/>
              <p14:nvPr/>
            </p14:nvContentPartPr>
            <p14:xfrm>
              <a:off x="16972983" y="6605734"/>
              <a:ext cx="99720" cy="2523600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9"/>
            </p:blipFill>
            <p:spPr>
              <a:xfrm>
                <a:off x="16972983" y="6605734"/>
                <a:ext cx="99720" cy="2523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7" name="Ink 26"/>
              <p14:cNvContentPartPr/>
              <p14:nvPr/>
            </p14:nvContentPartPr>
            <p14:xfrm>
              <a:off x="16955343" y="8482054"/>
              <a:ext cx="360" cy="862200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11"/>
            </p:blipFill>
            <p:spPr>
              <a:xfrm>
                <a:off x="16955343" y="8482054"/>
                <a:ext cx="360" cy="862200"/>
              </a:xfrm>
              <a:prstGeom prst="rect"/>
            </p:spPr>
          </p:pic>
        </mc:Fallback>
      </mc:AlternateContent>
      <p:sp>
        <p:nvSpPr>
          <p:cNvPr id="29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475663"/>
              </p:ext>
            </p:extLst>
          </p:nvPr>
        </p:nvGraphicFramePr>
        <p:xfrm>
          <a:off x="1621357" y="2863946"/>
          <a:ext cx="15625675" cy="6019797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312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51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51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25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251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0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Algorithm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Accuracy</a:t>
                      </a:r>
                      <a:endParaRPr lang="en-US" dirty="0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Precision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Recall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F1-Score</a:t>
                      </a:r>
                      <a:endParaRPr lang="en-US"/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389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Logistic Regression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71%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71%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70%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70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K-Nearest Neighbors (KNN)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84%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84%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84%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84%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99.76%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99.7%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99.7%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99.7%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LightGBM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99.78%</a:t>
                      </a:r>
                      <a:r>
                        <a:rPr lang="en-US"/>
                        <a:t> (Best)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99.8%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08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CatBoost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99.56%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99.6%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99.6%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066E007-549F-FB5F-728D-7F19175E6BDA}"/>
              </a:ext>
            </a:extLst>
          </p:cNvPr>
          <p:cNvSpPr txBox="1"/>
          <p:nvPr/>
        </p:nvSpPr>
        <p:spPr>
          <a:xfrm>
            <a:off x="1502468" y="2205465"/>
            <a:ext cx="158634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Table 01: Five-Class Model Results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24400" y="263415"/>
            <a:ext cx="8305800" cy="1420177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25893" y="460972"/>
              <a:ext cx="7274833" cy="17528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6000" dirty="0">
                  <a:solidFill>
                    <a:srgbClr val="000000"/>
                  </a:solidFill>
                  <a:latin typeface="Alice Bold"/>
                </a:rPr>
                <a:t>Result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8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16916823" y="1840414"/>
            <a:ext cx="211320" cy="4785120"/>
            <a:chOff x="16916823" y="1840414"/>
            <a:chExt cx="211320" cy="478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0" name="Ink 9"/>
                <p14:cNvContentPartPr/>
                <p14:nvPr/>
              </p14:nvContentPartPr>
              <p14:xfrm>
                <a:off x="16933743" y="1840414"/>
                <a:ext cx="146520" cy="2265840"/>
              </p14:xfrm>
            </p:contentPart>
          </mc:Choice>
          <mc:Fallback xmlns="">
            <p:pic>
              <p:nvPicPr>
                <p:cNvPr id="10" name="Ink 9"/>
              </p:nvPicPr>
              <p:blipFill>
                <a:blip r:embed="rId3"/>
              </p:blipFill>
              <p:spPr>
                <a:xfrm>
                  <a:off x="16933743" y="1840414"/>
                  <a:ext cx="146520" cy="226584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/>
                <p14:cNvContentPartPr/>
                <p14:nvPr/>
              </p14:nvContentPartPr>
              <p14:xfrm>
                <a:off x="17065863" y="3905014"/>
                <a:ext cx="62280" cy="999720"/>
              </p14:xfrm>
            </p:contentPart>
          </mc:Choice>
          <mc:Fallback xmlns="">
            <p:pic>
              <p:nvPicPr>
                <p:cNvPr id="17" name="Ink 16"/>
              </p:nvPicPr>
              <p:blipFill>
                <a:blip r:embed="rId5"/>
              </p:blipFill>
              <p:spPr>
                <a:xfrm>
                  <a:off x="17065863" y="3905014"/>
                  <a:ext cx="62280" cy="999720"/>
                </a:xfrm>
                <a:prstGeom prst="rect"/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/>
                <p14:cNvContentPartPr/>
                <p14:nvPr/>
              </p14:nvContentPartPr>
              <p14:xfrm>
                <a:off x="16916823" y="3807454"/>
                <a:ext cx="102240" cy="2818080"/>
              </p14:xfrm>
            </p:contentPart>
          </mc:Choice>
          <mc:Fallback xmlns="">
            <p:pic>
              <p:nvPicPr>
                <p:cNvPr id="23" name="Ink 22"/>
              </p:nvPicPr>
              <p:blipFill>
                <a:blip r:embed="rId7"/>
              </p:blipFill>
              <p:spPr>
                <a:xfrm>
                  <a:off x="16916823" y="3807454"/>
                  <a:ext cx="102240" cy="2818080"/>
                </a:xfrm>
                <a:prstGeom prst="rect"/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6" name="Ink 25"/>
              <p14:cNvContentPartPr/>
              <p14:nvPr/>
            </p14:nvContentPartPr>
            <p14:xfrm>
              <a:off x="16972983" y="6605734"/>
              <a:ext cx="99720" cy="2523600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9"/>
            </p:blipFill>
            <p:spPr>
              <a:xfrm>
                <a:off x="16972983" y="6605734"/>
                <a:ext cx="99720" cy="2523600"/>
              </a:xfrm>
              <a:prstGeom prst="rect"/>
            </p:spPr>
          </p:pic>
        </mc:Fallback>
      </mc:AlternateContent>
      <p:sp>
        <p:nvSpPr>
          <p:cNvPr id="29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  <p:pic>
        <p:nvPicPr>
          <p:cNvPr id="21" name="Picture 20" descr="A graph of a function&#10;&#10;AI-generated content may be incorrect.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155329"/>
            <a:ext cx="8031884" cy="6326725"/>
          </a:xfrm>
          <a:prstGeom prst="rect">
            <a:avLst/>
          </a:prstGeom>
        </p:spPr>
      </p:pic>
      <p:pic>
        <p:nvPicPr>
          <p:cNvPr id="24" name="Picture 23" descr="A graph with a line&#10;&#10;AI-generated content may be incorrect.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0724" y="2145318"/>
            <a:ext cx="7880594" cy="618495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7A010B1-97A7-5961-9D2E-B88244EE6037}"/>
              </a:ext>
            </a:extLst>
          </p:cNvPr>
          <p:cNvSpPr txBox="1"/>
          <p:nvPr/>
        </p:nvSpPr>
        <p:spPr>
          <a:xfrm>
            <a:off x="1454727" y="8645236"/>
            <a:ext cx="31702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4: ROC Curve of KNN Model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23652A-E9D6-3EC3-9F58-EA5274B24616}"/>
              </a:ext>
            </a:extLst>
          </p:cNvPr>
          <p:cNvSpPr txBox="1"/>
          <p:nvPr/>
        </p:nvSpPr>
        <p:spPr>
          <a:xfrm>
            <a:off x="10820400" y="8460570"/>
            <a:ext cx="3676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5: ROC Curve of </a:t>
            </a:r>
            <a:r>
              <a:rPr lang="en-US" dirty="0" err="1"/>
              <a:t>LightGBM</a:t>
            </a:r>
            <a:r>
              <a:rPr lang="en-US" dirty="0"/>
              <a:t>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257800" y="164625"/>
            <a:ext cx="9485712" cy="1440260"/>
            <a:chOff x="0" y="-35312"/>
            <a:chExt cx="8836498" cy="2532304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561665" y="-35312"/>
              <a:ext cx="7274833" cy="21434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6000" b="1" dirty="0">
                  <a:latin typeface="Times New Roman" panose="02020503050405090304" pitchFamily="18" charset="0"/>
                  <a:cs typeface="Times New Roman" panose="02020503050405090304" pitchFamily="18" charset="0"/>
                </a:rPr>
                <a:t>Explainable AI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346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9</a:t>
            </a:r>
          </a:p>
        </p:txBody>
      </p:sp>
      <p:sp>
        <p:nvSpPr>
          <p:cNvPr id="17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  <p:pic>
        <p:nvPicPr>
          <p:cNvPr id="21" name="Picture 20" descr="A white background with black text and numbers&#10;&#10;AI-generated content may be incorrect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65" y="2315478"/>
            <a:ext cx="10529854" cy="5876022"/>
          </a:xfrm>
          <a:prstGeom prst="rect">
            <a:avLst/>
          </a:prstGeom>
        </p:spPr>
      </p:pic>
      <p:pic>
        <p:nvPicPr>
          <p:cNvPr id="23" name="Picture 22" descr="A graph with colorful bars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84307" y="1824274"/>
            <a:ext cx="5803900" cy="61580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4DF422-B000-1A4D-1D53-2BCA342D20CE}"/>
              </a:ext>
            </a:extLst>
          </p:cNvPr>
          <p:cNvSpPr txBox="1"/>
          <p:nvPr/>
        </p:nvSpPr>
        <p:spPr>
          <a:xfrm>
            <a:off x="1517073" y="8582891"/>
            <a:ext cx="31449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6: LIME of </a:t>
            </a:r>
            <a:r>
              <a:rPr lang="en-US" dirty="0" err="1"/>
              <a:t>LightGBM</a:t>
            </a:r>
            <a:r>
              <a:rPr lang="en-US" dirty="0"/>
              <a:t> Model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302D9D-937B-57F4-9476-2B2356D3D048}"/>
              </a:ext>
            </a:extLst>
          </p:cNvPr>
          <p:cNvSpPr txBox="1"/>
          <p:nvPr/>
        </p:nvSpPr>
        <p:spPr>
          <a:xfrm>
            <a:off x="12723129" y="8539410"/>
            <a:ext cx="31817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Fig. 7: SHAP of </a:t>
            </a:r>
            <a:r>
              <a:rPr lang="en-US" dirty="0" err="1"/>
              <a:t>LightGBM</a:t>
            </a:r>
            <a:r>
              <a:rPr lang="en-US" dirty="0"/>
              <a:t>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0249" y="353008"/>
            <a:ext cx="7907501" cy="1420176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1000" y="229083"/>
              <a:ext cx="7274833" cy="1719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5400" b="1" dirty="0">
                  <a:solidFill>
                    <a:srgbClr val="000000"/>
                  </a:solidFill>
                  <a:latin typeface="Alice Bold"/>
                </a:rPr>
                <a:t>Conclusion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10</a:t>
            </a:r>
          </a:p>
          <a:p>
            <a:pPr algn="r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Poppins Bold" panose="00000800000000000000"/>
            </a:endParaRPr>
          </a:p>
        </p:txBody>
      </p:sp>
      <p:sp>
        <p:nvSpPr>
          <p:cNvPr id="20" name="Rectangle 1"/>
          <p:cNvSpPr>
            <a:spLocks noChangeArrowheads="1"/>
          </p:cNvSpPr>
          <p:nvPr/>
        </p:nvSpPr>
        <p:spPr bwMode="auto">
          <a:xfrm>
            <a:off x="742816" y="2681077"/>
            <a:ext cx="16538637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514350" indent="-5143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Android ransomware is becoming more advanced, and different types behave in different ways.</a:t>
            </a:r>
          </a:p>
          <a:p>
            <a:pPr marL="514350" indent="-5143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Most existing research only detect whether an app is malicious, but they cannot identify the ransomware type.</a:t>
            </a:r>
          </a:p>
          <a:p>
            <a:pPr marL="514350" indent="-5143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Our work provides a five-class model that can detect and separate different ransomware </a:t>
            </a:r>
            <a:r>
              <a:rPr lang="en-US" altLang="en-US" sz="2800" dirty="0" err="1"/>
              <a:t>behaviours</a:t>
            </a:r>
            <a:r>
              <a:rPr lang="en-US" altLang="en-US" sz="2800" dirty="0"/>
              <a:t>.</a:t>
            </a:r>
          </a:p>
          <a:p>
            <a:pPr marL="514350" indent="-5143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Advanced algorithms like </a:t>
            </a:r>
            <a:r>
              <a:rPr lang="en-US" altLang="en-US" sz="2800" dirty="0" err="1"/>
              <a:t>LightGBM</a:t>
            </a:r>
            <a:r>
              <a:rPr lang="en-US" altLang="en-US" sz="2800" dirty="0"/>
              <a:t> and </a:t>
            </a:r>
            <a:r>
              <a:rPr lang="en-US" altLang="en-US" sz="2800" dirty="0" err="1"/>
              <a:t>XGBoost</a:t>
            </a:r>
            <a:r>
              <a:rPr lang="en-US" altLang="en-US" sz="2800" dirty="0"/>
              <a:t> gave very high accuracy in multi-class detection.</a:t>
            </a:r>
          </a:p>
          <a:p>
            <a:pPr marL="514350" indent="-514350" algn="just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800" dirty="0"/>
              <a:t>This approach can help improve mobile security by giving more detailed and useful information for real-world protection.</a:t>
            </a:r>
          </a:p>
        </p:txBody>
      </p:sp>
      <p:sp>
        <p:nvSpPr>
          <p:cNvPr id="21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190249" y="353008"/>
            <a:ext cx="7907501" cy="1420176"/>
            <a:chOff x="0" y="0"/>
            <a:chExt cx="7525833" cy="2496992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7274833" cy="226790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251000" y="193771"/>
              <a:ext cx="7274833" cy="2303221"/>
              <a:chOff x="0" y="-9525"/>
              <a:chExt cx="1962273" cy="621258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51000" y="229083"/>
              <a:ext cx="7274833" cy="17195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 algn="ctr">
                <a:lnSpc>
                  <a:spcPts val="8400"/>
                </a:lnSpc>
                <a:spcBef>
                  <a:spcPct val="0"/>
                </a:spcBef>
              </a:pPr>
              <a:r>
                <a:rPr lang="en-US" sz="5400" b="1" dirty="0">
                  <a:solidFill>
                    <a:srgbClr val="000000"/>
                  </a:solidFill>
                  <a:latin typeface="Alice Bold"/>
                </a:rPr>
                <a:t>References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-626899" y="9656653"/>
            <a:ext cx="15727916" cy="1076719"/>
            <a:chOff x="0" y="0"/>
            <a:chExt cx="4142332" cy="2835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42332" cy="283580"/>
            </a:xfrm>
            <a:custGeom>
              <a:avLst/>
              <a:gdLst/>
              <a:ahLst/>
              <a:cxnLst/>
              <a:rect l="l" t="t" r="r" b="b"/>
              <a:pathLst>
                <a:path w="4142332" h="283580">
                  <a:moveTo>
                    <a:pt x="0" y="0"/>
                  </a:moveTo>
                  <a:lnTo>
                    <a:pt x="4142332" y="0"/>
                  </a:lnTo>
                  <a:lnTo>
                    <a:pt x="4142332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4142332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5101017" y="9656653"/>
            <a:ext cx="3687719" cy="1076719"/>
            <a:chOff x="0" y="0"/>
            <a:chExt cx="971251" cy="2835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71251" cy="283580"/>
            </a:xfrm>
            <a:custGeom>
              <a:avLst/>
              <a:gdLst/>
              <a:ahLst/>
              <a:cxnLst/>
              <a:rect l="l" t="t" r="r" b="b"/>
              <a:pathLst>
                <a:path w="971251" h="283580">
                  <a:moveTo>
                    <a:pt x="0" y="0"/>
                  </a:moveTo>
                  <a:lnTo>
                    <a:pt x="971251" y="0"/>
                  </a:lnTo>
                  <a:lnTo>
                    <a:pt x="971251" y="283580"/>
                  </a:lnTo>
                  <a:lnTo>
                    <a:pt x="0" y="283580"/>
                  </a:lnTo>
                  <a:close/>
                </a:path>
              </a:pathLst>
            </a:custGeom>
            <a:solidFill>
              <a:srgbClr val="FED101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971251" cy="3502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5874956" y="9730581"/>
            <a:ext cx="1384344" cy="7053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sz="2000" dirty="0">
                <a:solidFill>
                  <a:srgbClr val="000000"/>
                </a:solidFill>
                <a:latin typeface="Poppins Bold" panose="00000800000000000000"/>
              </a:rPr>
              <a:t>Page 11</a:t>
            </a:r>
          </a:p>
          <a:p>
            <a:pPr algn="r">
              <a:lnSpc>
                <a:spcPts val="2800"/>
              </a:lnSpc>
            </a:pPr>
            <a:endParaRPr lang="en-US" sz="2000" dirty="0">
              <a:solidFill>
                <a:srgbClr val="000000"/>
              </a:solidFill>
              <a:latin typeface="Poppins Bold" panose="0000080000000000000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628900"/>
            <a:ext cx="15727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sz="3600" b="1" dirty="0"/>
          </a:p>
          <a:p>
            <a:endParaRPr lang="en-GB" sz="3600" dirty="0"/>
          </a:p>
        </p:txBody>
      </p:sp>
      <p:sp>
        <p:nvSpPr>
          <p:cNvPr id="23" name="Rectangle 3"/>
          <p:cNvSpPr>
            <a:spLocks noChangeArrowheads="1"/>
          </p:cNvSpPr>
          <p:nvPr/>
        </p:nvSpPr>
        <p:spPr bwMode="auto">
          <a:xfrm>
            <a:off x="1071085" y="2495136"/>
            <a:ext cx="16145830" cy="584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/>
              <a:t>Arp, D. et al. (2014) – “Drebin: Efficient Android Malware Detection Using Static Analysis.”</a:t>
            </a:r>
          </a:p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 err="1"/>
              <a:t>Narudin</a:t>
            </a:r>
            <a:r>
              <a:rPr lang="en-US" altLang="en-US" sz="2800" dirty="0"/>
              <a:t>, N. et al. (2015) – “Evaluation of Machine Learning Classifiers for Mobile Malware Detection.”</a:t>
            </a:r>
          </a:p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/>
              <a:t>Slates, R. (2019) – “Dynamic Analysis of Android Locker Ransomware.”</a:t>
            </a:r>
          </a:p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/>
              <a:t>Yerima, S. et al. (2016) – “High-Accuracy Android Malware Detection Using Multi-Class Machine Learning.”</a:t>
            </a:r>
          </a:p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/>
              <a:t>Koler / </a:t>
            </a:r>
            <a:r>
              <a:rPr lang="en-US" altLang="en-US" sz="2800" dirty="0" err="1"/>
              <a:t>Simplocker</a:t>
            </a:r>
            <a:r>
              <a:rPr lang="en-US" altLang="en-US" sz="2800" dirty="0"/>
              <a:t> Dataset Studies – Android ransomware </a:t>
            </a:r>
            <a:r>
              <a:rPr lang="en-US" altLang="en-US" sz="2800" dirty="0" err="1"/>
              <a:t>behavioural</a:t>
            </a:r>
            <a:r>
              <a:rPr lang="en-US" altLang="en-US" sz="2800" dirty="0"/>
              <a:t> research.</a:t>
            </a:r>
          </a:p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 err="1"/>
              <a:t>Svpeng</a:t>
            </a:r>
            <a:r>
              <a:rPr lang="en-US" altLang="en-US" sz="2800" dirty="0"/>
              <a:t> Banking Malware Analysis – Financial data–stealing ransomware </a:t>
            </a:r>
            <a:r>
              <a:rPr lang="en-US" altLang="en-US" sz="2800" dirty="0" err="1"/>
              <a:t>behaviour</a:t>
            </a:r>
            <a:r>
              <a:rPr lang="en-US" altLang="en-US" sz="2800" dirty="0"/>
              <a:t>.</a:t>
            </a:r>
          </a:p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 err="1"/>
              <a:t>PornDroid</a:t>
            </a:r>
            <a:r>
              <a:rPr lang="en-US" altLang="en-US" sz="2800" dirty="0"/>
              <a:t> / Adult-Themed Malware Reports – Social-engineering–based ransomware families.</a:t>
            </a:r>
          </a:p>
          <a:p>
            <a:pPr marL="514350" marR="0" lvl="0" indent="-5143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altLang="en-US" sz="2800" dirty="0"/>
              <a:t>Kaggle Dataset (2025) – “Android Ransomware Detection Dataset.”</a:t>
            </a:r>
            <a:br>
              <a:rPr lang="en-US" altLang="en-US" sz="2800" dirty="0"/>
            </a:br>
            <a:r>
              <a:rPr lang="en-US" altLang="en-US" sz="2800" dirty="0"/>
              <a:t>(</a:t>
            </a:r>
            <a:r>
              <a:rPr lang="en-US" altLang="en-US" sz="2800" dirty="0">
                <a:hlinkClick r:id="rId3"/>
              </a:rPr>
              <a:t>https://www.kaggle.com/datasets/subhajournal/android-ransomware-detection</a:t>
            </a:r>
            <a:r>
              <a:rPr lang="en-US" altLang="en-US" sz="2800" dirty="0"/>
              <a:t>)</a:t>
            </a:r>
          </a:p>
        </p:txBody>
      </p:sp>
      <p:sp>
        <p:nvSpPr>
          <p:cNvPr id="24" name="TextBox 77"/>
          <p:cNvSpPr txBox="1"/>
          <p:nvPr/>
        </p:nvSpPr>
        <p:spPr>
          <a:xfrm>
            <a:off x="3021668" y="9482153"/>
            <a:ext cx="9779932" cy="7902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80"/>
              </a:lnSpc>
            </a:pPr>
            <a:r>
              <a:rPr lang="en-US" sz="2800" spc="462" dirty="0">
                <a:solidFill>
                  <a:schemeClr val="bg1"/>
                </a:solidFill>
                <a:latin typeface="Alice Bold"/>
              </a:rPr>
              <a:t>Multi-Class Android Ransomware Detection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7713" y="5899515"/>
            <a:ext cx="8672575" cy="2877469"/>
            <a:chOff x="0" y="0"/>
            <a:chExt cx="11563433" cy="3836625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11177771" cy="3484638"/>
              <a:chOff x="0" y="0"/>
              <a:chExt cx="1962273" cy="611733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ED101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6" name="Group 6"/>
            <p:cNvGrpSpPr/>
            <p:nvPr/>
          </p:nvGrpSpPr>
          <p:grpSpPr>
            <a:xfrm>
              <a:off x="385662" y="351987"/>
              <a:ext cx="11177771" cy="3484638"/>
              <a:chOff x="0" y="0"/>
              <a:chExt cx="1962273" cy="61173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1962273" cy="611733"/>
              </a:xfrm>
              <a:custGeom>
                <a:avLst/>
                <a:gdLst/>
                <a:ahLst/>
                <a:cxnLst/>
                <a:rect l="l" t="t" r="r" b="b"/>
                <a:pathLst>
                  <a:path w="1962273" h="611733">
                    <a:moveTo>
                      <a:pt x="0" y="0"/>
                    </a:moveTo>
                    <a:lnTo>
                      <a:pt x="1962273" y="0"/>
                    </a:lnTo>
                    <a:lnTo>
                      <a:pt x="1962273" y="611733"/>
                    </a:lnTo>
                    <a:lnTo>
                      <a:pt x="0" y="611733"/>
                    </a:lnTo>
                    <a:close/>
                  </a:path>
                </a:pathLst>
              </a:custGeom>
              <a:solidFill>
                <a:srgbClr val="FFFFFF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0" y="-9525"/>
                <a:ext cx="1962273" cy="621258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0" lvl="0" indent="0" algn="ctr">
                  <a:lnSpc>
                    <a:spcPts val="70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85662" y="1220738"/>
              <a:ext cx="11177771" cy="20354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2880"/>
                </a:lnSpc>
                <a:spcBef>
                  <a:spcPct val="0"/>
                </a:spcBef>
              </a:pPr>
              <a:r>
                <a:rPr lang="en-US" sz="9200">
                  <a:solidFill>
                    <a:srgbClr val="000000"/>
                  </a:solidFill>
                  <a:latin typeface="Alice Bold"/>
                </a:rPr>
                <a:t>Thank You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2733954" y="2321279"/>
            <a:ext cx="12820091" cy="1305318"/>
          </a:xfrm>
          <a:custGeom>
            <a:avLst/>
            <a:gdLst/>
            <a:ahLst/>
            <a:cxnLst/>
            <a:rect l="l" t="t" r="r" b="b"/>
            <a:pathLst>
              <a:path w="12820091" h="1305318">
                <a:moveTo>
                  <a:pt x="0" y="0"/>
                </a:moveTo>
                <a:lnTo>
                  <a:pt x="12820092" y="0"/>
                </a:lnTo>
                <a:lnTo>
                  <a:pt x="12820092" y="1305318"/>
                </a:lnTo>
                <a:lnTo>
                  <a:pt x="0" y="13053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w="85725" cap="rnd">
            <a:solidFill>
              <a:srgbClr val="000000"/>
            </a:solidFill>
            <a:prstDash val="solid"/>
            <a:round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Box 11"/>
          <p:cNvSpPr txBox="1"/>
          <p:nvPr/>
        </p:nvSpPr>
        <p:spPr>
          <a:xfrm>
            <a:off x="4080759" y="2355130"/>
            <a:ext cx="11305865" cy="1104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960"/>
              </a:lnSpc>
            </a:pPr>
            <a:r>
              <a:rPr lang="en-US" sz="6400">
                <a:solidFill>
                  <a:srgbClr val="000000"/>
                </a:solidFill>
                <a:latin typeface="Alice Bold"/>
              </a:rPr>
              <a:t>Do you have any questions?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329994" y="9663642"/>
            <a:ext cx="8585802" cy="531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15"/>
              </a:lnSpc>
              <a:spcBef>
                <a:spcPct val="0"/>
              </a:spcBef>
            </a:pPr>
            <a:r>
              <a:rPr lang="en-US" sz="3080">
                <a:solidFill>
                  <a:srgbClr val="FFFEF7"/>
                </a:solidFill>
                <a:latin typeface="Alice Bold"/>
              </a:rPr>
              <a:t>University Management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746</TotalTime>
  <Words>891</Words>
  <Application>Microsoft Macintosh PowerPoint</Application>
  <PresentationFormat>Custom</PresentationFormat>
  <Paragraphs>170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Aptos</vt:lpstr>
      <vt:lpstr>Alice</vt:lpstr>
      <vt:lpstr>Times New Roman</vt:lpstr>
      <vt:lpstr>Wingdings</vt:lpstr>
      <vt:lpstr>Alice Bold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manager</dc:title>
  <dc:creator/>
  <cp:lastModifiedBy>Md Ariful Arif</cp:lastModifiedBy>
  <cp:revision>278</cp:revision>
  <dcterms:created xsi:type="dcterms:W3CDTF">2025-11-24T13:38:54Z</dcterms:created>
  <dcterms:modified xsi:type="dcterms:W3CDTF">2025-12-02T13:40:23Z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1033-6.10.2.8397</vt:lpwstr>
  </property>
  <property fmtid="{D5CDD505-2E9C-101B-9397-08002B2CF9AE}" pid="3" name="ICV">
    <vt:lpwstr>06CD50D1F728C42EEE5F246978CE5750_42</vt:lpwstr>
  </property>
</Properties>
</file>