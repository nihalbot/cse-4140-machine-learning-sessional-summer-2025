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  <p:sldMasterId id="2147483936" r:id="rId2"/>
    <p:sldMasterId id="2147483955" r:id="rId3"/>
  </p:sldMasterIdLst>
  <p:sldIdLst>
    <p:sldId id="293" r:id="rId4"/>
    <p:sldId id="275" r:id="rId5"/>
    <p:sldId id="277" r:id="rId6"/>
    <p:sldId id="278" r:id="rId7"/>
    <p:sldId id="256" r:id="rId8"/>
    <p:sldId id="280" r:id="rId9"/>
    <p:sldId id="282" r:id="rId10"/>
    <p:sldId id="279" r:id="rId11"/>
    <p:sldId id="257" r:id="rId12"/>
    <p:sldId id="297" r:id="rId13"/>
    <p:sldId id="295" r:id="rId14"/>
    <p:sldId id="296" r:id="rId15"/>
    <p:sldId id="298" r:id="rId16"/>
    <p:sldId id="259" r:id="rId17"/>
    <p:sldId id="299" r:id="rId18"/>
    <p:sldId id="300" r:id="rId19"/>
    <p:sldId id="302" r:id="rId20"/>
    <p:sldId id="303" r:id="rId21"/>
    <p:sldId id="301" r:id="rId22"/>
    <p:sldId id="304" r:id="rId23"/>
    <p:sldId id="305" r:id="rId24"/>
    <p:sldId id="306" r:id="rId25"/>
    <p:sldId id="28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6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9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5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0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9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3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2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9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5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6079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13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9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33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59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23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-607386" y="6488695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17 November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556" y="6492874"/>
            <a:ext cx="6672887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Repository Design Pattern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8226" y="6488694"/>
            <a:ext cx="764215" cy="365125"/>
          </a:xfrm>
        </p:spPr>
        <p:txBody>
          <a:bodyPr/>
          <a:lstStyle/>
          <a:p>
            <a:fld id="{56CA2477-17E7-490A-AD4E-CAC98460B3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03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6798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710029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6947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44864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5126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22610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348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627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2169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9083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5541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1972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3870894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7560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7957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74932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0423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183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5F0C3-B3EC-438E-B5C9-E58EF299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947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17 November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B5B9-ED6C-4D00-A551-48F27C99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Repository Design Pattern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C58A8-FBA4-4DD3-A892-D80869B0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311" y="6356349"/>
            <a:ext cx="729792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799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59B3-49C1-4F83-8E7B-741EFFCF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C8477-F20A-4E57-B065-BDAD6E31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7355-C46D-4A43-85A0-37DAB837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EF1A-4C48-422A-86A7-361F49D4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C47D5-34E8-472B-ABCE-BC05BFC7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651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5554-2983-4944-8E0E-2F869213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0179-FABC-4787-84BA-99543AA13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28BDF-67AC-485A-89D2-23DDB58A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ADA9-9E80-4EDA-8312-D2AE5521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6BCD0-D8FB-4B23-A20B-49D52B87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756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7016-295A-43E8-81B0-F6C08F3E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AE96-4405-456C-8FC5-14CDBD982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EE901-5CDB-463B-A1AE-B9C1A101B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D5FEE-6929-4E6A-A4C0-9AAD14CB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89622-1446-4B0C-8715-94202E1E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2BE9C-6040-4709-A243-FBA122B2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008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9020-B50F-448B-988D-193E53DB6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D06A7-5042-4FC4-9793-6F6C1600C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FEC5D-7153-43C6-A115-4385793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78CCD-BE65-41F1-BE7D-4BC87A031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DC6B3E-E125-4ABF-979D-CB964CEEF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8EE3B-A7ED-4242-ACC1-60603FAA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D3C23-E733-44B6-9EA5-326C11CE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7F29F-1B5D-46C2-B269-DBF517ED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254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E686-745B-4B09-952D-696D0A21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13BEB-A46E-43E9-AEA9-8D53B0B0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7A6C0-AD11-4E95-A143-83E99117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7E469-25D6-46DA-B581-95AFC6B3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110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E61DC-4556-42FD-B2D6-8670CA82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256DF-FE93-4817-BF9B-BCD06E52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096D-901A-467C-AE7F-35EAE13D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18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A5D1-B92A-420A-9DFF-CA20C699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6B6F-BDB3-4321-8F19-20E996107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E2177-CDE7-4A36-A172-81AC4CA23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4B702-E043-482F-B24C-3F399212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976DE-4398-42A7-AB5B-A7B3648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B9FB-E34B-410E-9C30-B72973F6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795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B007-706A-4BFA-8A72-2665E332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40C541-FA75-4C12-BF1C-8E2D2DF13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8103-5DA1-4441-BE99-EA76C6AB6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7A116-8C37-43F8-A2F6-6F4699D2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D0A81-8D25-44F8-9F6E-5BB96809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94EE5-09A7-4F75-971A-775E7244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306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F039-DA5C-4010-B4DD-7D9AAA51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CA330-865E-4B1D-9627-8A4056C6F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E31DD-A08D-4413-A6C1-F489552B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C7B6E-A2F1-4A4E-B0CF-300B9F19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CF463-742A-4543-BEF3-B93E8A60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41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D495-4B7D-41A6-AD5A-4D0064B9B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190FF-F446-46C4-9F20-9C7AB3EF5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BEEF-56BC-4FD4-AE89-44DC225C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FA829F-2E60-4335-9FAD-646354A16EA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DDB2C-DA52-4F8E-A665-C64DD0E9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64027-F9FA-4AC3-ACDF-278BC2CC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EF91DB-DA0F-44A6-9E4C-FF0295BD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5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7090AA9-9F74-4113-9FCA-80461DCE97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6CA2477-17E7-490A-AD4E-CAC98460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8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  <p:sldLayoutId id="214748393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694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  <p:sldLayoutId id="214748395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15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C668B5-2EDA-479A-B877-45FDB8FBB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311" y="322083"/>
            <a:ext cx="9656913" cy="358218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  <a:t>BANGLADESH ARMY UNIVERSITY OF SCIENCE &amp; TECHNOLOGY(BAUST)       </a:t>
            </a:r>
            <a:b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</a:br>
            <a:b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  <a:t>Department of Computer Science and Engineering (CSE)</a:t>
            </a:r>
            <a:b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</a:br>
            <a:br>
              <a:rPr lang="en-US" sz="2400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  <a:t>Course Title: Object Machine Learning Sessional</a:t>
            </a:r>
            <a:br>
              <a:rPr lang="en-US" sz="2000" b="1" dirty="0">
                <a:solidFill>
                  <a:schemeClr val="bg1"/>
                </a:solidFill>
                <a:ea typeface="+mj-lt"/>
                <a:cs typeface="+mj-lt"/>
              </a:rPr>
            </a:br>
            <a:br>
              <a:rPr lang="en-US" sz="20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400" b="1" dirty="0">
                <a:solidFill>
                  <a:schemeClr val="bg1"/>
                </a:solidFill>
                <a:ea typeface="+mj-lt"/>
                <a:cs typeface="+mj-lt"/>
              </a:rPr>
              <a:t>Title: Employee Churn Prediction</a:t>
            </a:r>
            <a:br>
              <a:rPr lang="fr-FR" sz="2000" b="1" dirty="0">
                <a:solidFill>
                  <a:schemeClr val="bg1"/>
                </a:solidFill>
                <a:ea typeface="+mj-lt"/>
                <a:cs typeface="+mj-lt"/>
              </a:rPr>
            </a:br>
            <a:br>
              <a:rPr lang="en-US" sz="2000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400" dirty="0">
                <a:solidFill>
                  <a:schemeClr val="bg1"/>
                </a:solidFill>
                <a:ea typeface="+mj-lt"/>
                <a:cs typeface="+mj-lt"/>
              </a:rPr>
              <a:t>Course Code: CSE 4142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  <a:ea typeface="+mj-lt"/>
              <a:cs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E381C-F854-4700-BDC1-83382936C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83" y="647712"/>
            <a:ext cx="2095165" cy="204000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73D0FC4-2BAA-4A48-8278-F22A4C96C1B5}"/>
              </a:ext>
            </a:extLst>
          </p:cNvPr>
          <p:cNvSpPr txBox="1">
            <a:spLocks/>
          </p:cNvSpPr>
          <p:nvPr/>
        </p:nvSpPr>
        <p:spPr>
          <a:xfrm>
            <a:off x="1365678" y="3965543"/>
            <a:ext cx="4252697" cy="280076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lt"/>
                <a:cs typeface="Arial" panose="020B0604020202020204" pitchFamily="34" charset="0"/>
              </a:rPr>
              <a:t>PRESENTED TO: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3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lt"/>
                <a:cs typeface="Arial" panose="020B0604020202020204" pitchFamily="34" charset="0"/>
              </a:rPr>
              <a:t>Engr. Rohul Amin</a:t>
            </a:r>
            <a:br>
              <a:rPr kumimoji="0" lang="sv-SE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lt"/>
                <a:cs typeface="Arial" panose="020B0604020202020204" pitchFamily="34" charset="0"/>
              </a:rPr>
            </a:b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lt"/>
                <a:cs typeface="Arial" panose="020B0604020202020204" pitchFamily="34" charset="0"/>
              </a:rPr>
              <a:t>LECTURER, CSE, BAUST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lt"/>
                <a:cs typeface="Arial" panose="020B0604020202020204" pitchFamily="34" charset="0"/>
              </a:rPr>
              <a:t>Nadim Reza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LECTURER, CSE, BAUST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61E7E-C8AD-4209-B355-508B9B54FA0D}"/>
              </a:ext>
            </a:extLst>
          </p:cNvPr>
          <p:cNvSpPr txBox="1"/>
          <p:nvPr/>
        </p:nvSpPr>
        <p:spPr>
          <a:xfrm>
            <a:off x="6375663" y="3904269"/>
            <a:ext cx="52676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PRESENTED BY: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ARIFUL ISLAM NOBIN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FFFFFF"/>
                </a:solidFill>
                <a:latin typeface="Trebuchet MS"/>
                <a:cs typeface="Arial" panose="020B0604020202020204" pitchFamily="34" charset="0"/>
              </a:rPr>
              <a:t>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ID: 220201077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AEF1D7-2300-48A4-8FB8-7BCBF1C63EE5}"/>
              </a:ext>
            </a:extLst>
          </p:cNvPr>
          <p:cNvCxnSpPr>
            <a:cxnSpLocks/>
          </p:cNvCxnSpPr>
          <p:nvPr/>
        </p:nvCxnSpPr>
        <p:spPr>
          <a:xfrm>
            <a:off x="5816338" y="3667027"/>
            <a:ext cx="0" cy="296001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1579F5-13C8-4929-B80A-FC5DB3107F6C}"/>
              </a:ext>
            </a:extLst>
          </p:cNvPr>
          <p:cNvCxnSpPr>
            <a:cxnSpLocks/>
          </p:cNvCxnSpPr>
          <p:nvPr/>
        </p:nvCxnSpPr>
        <p:spPr>
          <a:xfrm>
            <a:off x="5968738" y="3970256"/>
            <a:ext cx="0" cy="236455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A01B60-B466-44B9-9150-276B62ADBA34}"/>
              </a:ext>
            </a:extLst>
          </p:cNvPr>
          <p:cNvCxnSpPr>
            <a:cxnSpLocks/>
          </p:cNvCxnSpPr>
          <p:nvPr/>
        </p:nvCxnSpPr>
        <p:spPr>
          <a:xfrm>
            <a:off x="5659224" y="3979682"/>
            <a:ext cx="0" cy="236455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95494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965E-3BF8-41C4-8410-EEFAFFAE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07" y="1356802"/>
            <a:ext cx="11310986" cy="4144395"/>
          </a:xfrm>
        </p:spPr>
        <p:txBody>
          <a:bodyPr>
            <a:normAutofit/>
          </a:bodyPr>
          <a:lstStyle/>
          <a:p>
            <a:pPr algn="ctr"/>
            <a:r>
              <a:rPr lang="en-US" sz="53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Churn Prediction Using Machine Learning </a:t>
            </a:r>
            <a:br>
              <a:rPr lang="en-US" sz="5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Comprehensive Comparative Analysis</a:t>
            </a:r>
            <a:endParaRPr lang="en-US" sz="5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44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5A10-A985-4EDE-A8F2-3AFAD6BC7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203" y="179111"/>
            <a:ext cx="10364451" cy="8949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📋 Key 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0B7A4-7729-45B6-8CEA-B4FB8002CDA3}"/>
              </a:ext>
            </a:extLst>
          </p:cNvPr>
          <p:cNvSpPr txBox="1"/>
          <p:nvPr/>
        </p:nvSpPr>
        <p:spPr>
          <a:xfrm>
            <a:off x="975673" y="1861693"/>
            <a:ext cx="96671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Summary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algn="l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l">
              <a:buFont typeface="+mj-lt"/>
              <a:buAutoNum type="arabicPeriod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2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130F-73FB-433C-A716-9633C184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26243"/>
            <a:ext cx="10364451" cy="9709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🎯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97D52-CDCE-4000-B00B-49685AA67E23}"/>
              </a:ext>
            </a:extLst>
          </p:cNvPr>
          <p:cNvSpPr txBox="1"/>
          <p:nvPr/>
        </p:nvSpPr>
        <p:spPr>
          <a:xfrm>
            <a:off x="913773" y="2213282"/>
            <a:ext cx="10364451" cy="24314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Definition</a:t>
            </a:r>
          </a:p>
          <a:p>
            <a:endParaRPr lang="en-US" sz="2400" dirty="0"/>
          </a:p>
          <a:p>
            <a:r>
              <a:rPr lang="en-US" sz="2400" dirty="0"/>
              <a:t>Employee turnover, the process by which employees leave an organization, is a critical issue that impacts productivity, morale, and organizational costs. High turnover rates lead to increased recruitment and training expenses and can disrupt workflow and business continuity.</a:t>
            </a:r>
          </a:p>
        </p:txBody>
      </p:sp>
    </p:spTree>
    <p:extLst>
      <p:ext uri="{BB962C8B-B14F-4D97-AF65-F5344CB8AC3E}">
        <p14:creationId xmlns:p14="http://schemas.microsoft.com/office/powerpoint/2010/main" val="153915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0E43ED-8E31-41F1-8F19-37F4AB9E37E7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094F2-01D0-4FC1-B545-26A3A588E969}"/>
              </a:ext>
            </a:extLst>
          </p:cNvPr>
          <p:cNvSpPr txBox="1"/>
          <p:nvPr/>
        </p:nvSpPr>
        <p:spPr>
          <a:xfrm>
            <a:off x="913774" y="2284384"/>
            <a:ext cx="101055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turnover costs organizations 50%-200% of annual salary per employee</a:t>
            </a:r>
          </a:p>
          <a:p>
            <a:pPr marL="514350" indent="-514350">
              <a:buFont typeface="+mj-lt"/>
              <a:buAutoNum type="arabicPeriod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decreased productivity, knowledge loss, and reduced morale</a:t>
            </a:r>
          </a:p>
        </p:txBody>
      </p:sp>
    </p:spTree>
    <p:extLst>
      <p:ext uri="{BB962C8B-B14F-4D97-AF65-F5344CB8AC3E}">
        <p14:creationId xmlns:p14="http://schemas.microsoft.com/office/powerpoint/2010/main" val="223340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0E43ED-8E31-41F1-8F19-37F4AB9E37E7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Research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54214-A5EE-4ECE-8BCB-AEA80B28DEE7}"/>
              </a:ext>
            </a:extLst>
          </p:cNvPr>
          <p:cNvSpPr txBox="1"/>
          <p:nvPr/>
        </p:nvSpPr>
        <p:spPr>
          <a:xfrm>
            <a:off x="1504980" y="1672714"/>
            <a:ext cx="977324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Comprehensive ML Framework</a:t>
            </a:r>
          </a:p>
          <a:p>
            <a:pPr lvl="1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severe class imbalance (4.79:1 ratio)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Balancing Techniques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Classification Algorithms (5 models)</a:t>
            </a:r>
          </a:p>
          <a:p>
            <a:pPr marL="457200" indent="-45720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Optimal Combination</a:t>
            </a:r>
          </a:p>
          <a:p>
            <a:pPr algn="l"/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Maximize F1-Score and Recall</a:t>
            </a:r>
          </a:p>
          <a:p>
            <a:pPr algn="l"/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catching employees who will quit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32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02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0E43ED-8E31-41F1-8F19-37F4AB9E37E7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Related 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562AB6-8B27-4BBE-BD39-6ED8B1B82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511879"/>
              </p:ext>
            </p:extLst>
          </p:nvPr>
        </p:nvGraphicFramePr>
        <p:xfrm>
          <a:off x="697516" y="1498511"/>
          <a:ext cx="10796965" cy="488174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159393">
                  <a:extLst>
                    <a:ext uri="{9D8B030D-6E8A-4147-A177-3AD203B41FA5}">
                      <a16:colId xmlns:a16="http://schemas.microsoft.com/office/drawing/2014/main" val="2083395129"/>
                    </a:ext>
                  </a:extLst>
                </a:gridCol>
                <a:gridCol w="2159393">
                  <a:extLst>
                    <a:ext uri="{9D8B030D-6E8A-4147-A177-3AD203B41FA5}">
                      <a16:colId xmlns:a16="http://schemas.microsoft.com/office/drawing/2014/main" val="1389323833"/>
                    </a:ext>
                  </a:extLst>
                </a:gridCol>
                <a:gridCol w="2159393">
                  <a:extLst>
                    <a:ext uri="{9D8B030D-6E8A-4147-A177-3AD203B41FA5}">
                      <a16:colId xmlns:a16="http://schemas.microsoft.com/office/drawing/2014/main" val="4280203835"/>
                    </a:ext>
                  </a:extLst>
                </a:gridCol>
                <a:gridCol w="2159393">
                  <a:extLst>
                    <a:ext uri="{9D8B030D-6E8A-4147-A177-3AD203B41FA5}">
                      <a16:colId xmlns:a16="http://schemas.microsoft.com/office/drawing/2014/main" val="4262248889"/>
                    </a:ext>
                  </a:extLst>
                </a:gridCol>
                <a:gridCol w="2159393">
                  <a:extLst>
                    <a:ext uri="{9D8B030D-6E8A-4147-A177-3AD203B41FA5}">
                      <a16:colId xmlns:a16="http://schemas.microsoft.com/office/drawing/2014/main" val="3093545763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Study</a:t>
                      </a:r>
                      <a:endParaRPr lang="en-US" sz="2400" b="0">
                        <a:effectLst/>
                      </a:endParaRPr>
                    </a:p>
                  </a:txBody>
                  <a:tcPr marL="39817" marR="39817" marT="19908" marB="19908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Dataset Size</a:t>
                      </a:r>
                      <a:endParaRPr lang="en-US" sz="2400" b="0">
                        <a:effectLst/>
                      </a:endParaRPr>
                    </a:p>
                  </a:txBody>
                  <a:tcPr marL="39817" marR="39817" marT="19908" marB="19908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Algorithms</a:t>
                      </a:r>
                      <a:endParaRPr lang="en-US" sz="2400" b="0">
                        <a:effectLst/>
                      </a:endParaRPr>
                    </a:p>
                  </a:txBody>
                  <a:tcPr marL="39817" marR="39817" marT="19908" marB="19908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Balancing</a:t>
                      </a:r>
                      <a:endParaRPr lang="en-US" sz="2400" b="0">
                        <a:effectLst/>
                      </a:endParaRPr>
                    </a:p>
                  </a:txBody>
                  <a:tcPr marL="39817" marR="39817" marT="19908" marB="19908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Best F1/Accuracy</a:t>
                      </a:r>
                      <a:endParaRPr lang="en-US" sz="2400" b="0">
                        <a:effectLst/>
                      </a:endParaRPr>
                    </a:p>
                  </a:txBody>
                  <a:tcPr marL="39817" marR="39817" marT="19908" marB="19908"/>
                </a:tc>
                <a:extLst>
                  <a:ext uri="{0D108BD9-81ED-4DB2-BD59-A6C34878D82A}">
                    <a16:rowId xmlns:a16="http://schemas.microsoft.com/office/drawing/2014/main" val="4115568987"/>
                  </a:ext>
                </a:extLst>
              </a:tr>
              <a:tr h="1201071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dirty="0" err="1">
                          <a:effectLst/>
                        </a:rPr>
                        <a:t>Musanga</a:t>
                      </a:r>
                      <a:r>
                        <a:rPr lang="en-US" sz="2400" dirty="0">
                          <a:effectLst/>
                        </a:rPr>
                        <a:t> &amp; </a:t>
                      </a:r>
                      <a:r>
                        <a:rPr lang="en-US" sz="2400" dirty="0" err="1">
                          <a:effectLst/>
                        </a:rPr>
                        <a:t>Chibaya</a:t>
                      </a:r>
                      <a:r>
                        <a:rPr lang="en-US" sz="2400" dirty="0">
                          <a:effectLst/>
                        </a:rPr>
                        <a:t> (2023)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IBM HR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RF, GB, DT, LR, KNN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SMOTE, Oversampling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92.57% accuracy</a:t>
                      </a:r>
                    </a:p>
                  </a:txBody>
                  <a:tcPr marL="39817" marR="39817" marT="19908" marB="19908" anchor="ctr"/>
                </a:tc>
                <a:extLst>
                  <a:ext uri="{0D108BD9-81ED-4DB2-BD59-A6C34878D82A}">
                    <a16:rowId xmlns:a16="http://schemas.microsoft.com/office/drawing/2014/main" val="684176296"/>
                  </a:ext>
                </a:extLst>
              </a:tr>
              <a:tr h="814733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Klop (2021)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Financial data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XGBoost, RF, GB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dirty="0">
                          <a:effectLst/>
                        </a:rPr>
                        <a:t>N/A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XGBoost best</a:t>
                      </a:r>
                    </a:p>
                  </a:txBody>
                  <a:tcPr marL="39817" marR="39817" marT="19908" marB="19908" anchor="ctr"/>
                </a:tc>
                <a:extLst>
                  <a:ext uri="{0D108BD9-81ED-4DB2-BD59-A6C34878D82A}">
                    <a16:rowId xmlns:a16="http://schemas.microsoft.com/office/drawing/2014/main" val="1620035995"/>
                  </a:ext>
                </a:extLst>
              </a:tr>
              <a:tr h="1201071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Fekete &amp; Rozenberg (2014)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Manufacturing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dirty="0">
                          <a:effectLst/>
                        </a:rPr>
                        <a:t>Performance model, GB, RF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N/A</a:t>
                      </a: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Evaluation framework</a:t>
                      </a:r>
                    </a:p>
                  </a:txBody>
                  <a:tcPr marL="39817" marR="39817" marT="19908" marB="19908" anchor="ctr"/>
                </a:tc>
                <a:extLst>
                  <a:ext uri="{0D108BD9-81ED-4DB2-BD59-A6C34878D82A}">
                    <a16:rowId xmlns:a16="http://schemas.microsoft.com/office/drawing/2014/main" val="1122308682"/>
                  </a:ext>
                </a:extLst>
              </a:tr>
              <a:tr h="79571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This Study</a:t>
                      </a:r>
                      <a:endParaRPr lang="en-US" sz="2400">
                        <a:effectLst/>
                      </a:endParaRP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11,582 employees</a:t>
                      </a:r>
                      <a:endParaRPr lang="en-US" sz="2400">
                        <a:effectLst/>
                      </a:endParaRP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 dirty="0">
                          <a:effectLst/>
                        </a:rPr>
                        <a:t>RF, GB, DT, LR, KNN</a:t>
                      </a:r>
                      <a:endParaRPr lang="en-US" sz="2400" dirty="0">
                        <a:effectLst/>
                      </a:endParaRP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4 methods tested</a:t>
                      </a:r>
                      <a:endParaRPr lang="en-US" sz="2400">
                        <a:effectLst/>
                      </a:endParaRPr>
                    </a:p>
                  </a:txBody>
                  <a:tcPr marL="39817" marR="39817" marT="19908" marB="1990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 dirty="0">
                          <a:effectLst/>
                        </a:rPr>
                        <a:t>F1: 0.9508 (98.45%)</a:t>
                      </a:r>
                      <a:endParaRPr lang="en-US" sz="2400" dirty="0">
                        <a:effectLst/>
                      </a:endParaRPr>
                    </a:p>
                  </a:txBody>
                  <a:tcPr marL="39817" marR="39817" marT="19908" marB="19908" anchor="ctr"/>
                </a:tc>
                <a:extLst>
                  <a:ext uri="{0D108BD9-81ED-4DB2-BD59-A6C34878D82A}">
                    <a16:rowId xmlns:a16="http://schemas.microsoft.com/office/drawing/2014/main" val="28056963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E01D3B5-A620-40C7-BFEF-7AE48A4F804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73674" y="2033318"/>
            <a:ext cx="41906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39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64B934D-42A9-4E2D-9172-E25CFCD985E7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DATASET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B1A6CA-83C8-467E-8447-3AEF1F244831}"/>
              </a:ext>
            </a:extLst>
          </p:cNvPr>
          <p:cNvSpPr txBox="1"/>
          <p:nvPr/>
        </p:nvSpPr>
        <p:spPr>
          <a:xfrm>
            <a:off x="913773" y="1463388"/>
            <a:ext cx="6257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Total Records:</a:t>
            </a:r>
            <a:r>
              <a:rPr lang="en-US" sz="2400" b="0" i="0" dirty="0">
                <a:effectLst/>
                <a:latin typeface="fkGroteskNeue"/>
              </a:rPr>
              <a:t> 11,582 employees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Features:</a:t>
            </a:r>
            <a:r>
              <a:rPr lang="en-US" sz="2400" b="0" i="0" dirty="0">
                <a:effectLst/>
                <a:latin typeface="fkGroteskNeue"/>
              </a:rPr>
              <a:t> 10 input features → 17 after encoding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056170-52F5-4F64-BC13-51EE7D438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977843"/>
              </p:ext>
            </p:extLst>
          </p:nvPr>
        </p:nvGraphicFramePr>
        <p:xfrm>
          <a:off x="352926" y="2414968"/>
          <a:ext cx="11486148" cy="4297296"/>
        </p:xfrm>
        <a:graphic>
          <a:graphicData uri="http://schemas.openxmlformats.org/drawingml/2006/table">
            <a:tbl>
              <a:tblPr/>
              <a:tblGrid>
                <a:gridCol w="3828716">
                  <a:extLst>
                    <a:ext uri="{9D8B030D-6E8A-4147-A177-3AD203B41FA5}">
                      <a16:colId xmlns:a16="http://schemas.microsoft.com/office/drawing/2014/main" val="2627207341"/>
                    </a:ext>
                  </a:extLst>
                </a:gridCol>
                <a:gridCol w="3828716">
                  <a:extLst>
                    <a:ext uri="{9D8B030D-6E8A-4147-A177-3AD203B41FA5}">
                      <a16:colId xmlns:a16="http://schemas.microsoft.com/office/drawing/2014/main" val="1278213464"/>
                    </a:ext>
                  </a:extLst>
                </a:gridCol>
                <a:gridCol w="3828716">
                  <a:extLst>
                    <a:ext uri="{9D8B030D-6E8A-4147-A177-3AD203B41FA5}">
                      <a16:colId xmlns:a16="http://schemas.microsoft.com/office/drawing/2014/main" val="3216294499"/>
                    </a:ext>
                  </a:extLst>
                </a:gridCol>
              </a:tblGrid>
              <a:tr h="36906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Category</a:t>
                      </a:r>
                      <a:endParaRPr lang="en-US" sz="2400" b="0">
                        <a:effectLst/>
                      </a:endParaRPr>
                    </a:p>
                  </a:txBody>
                  <a:tcPr marL="45656" marR="45656" marT="22828" marB="22828">
                    <a:lnL w="6350" cap="flat" cmpd="sng" algn="ctr">
                      <a:solidFill>
                        <a:srgbClr val="E04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4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4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Features</a:t>
                      </a:r>
                      <a:endParaRPr lang="en-US" sz="2400" b="0">
                        <a:effectLst/>
                      </a:endParaRPr>
                    </a:p>
                  </a:txBody>
                  <a:tcPr marL="45656" marR="45656" marT="22828" marB="22828">
                    <a:lnL w="6350" cap="flat" cmpd="sng" algn="ctr">
                      <a:solidFill>
                        <a:srgbClr val="A04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4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1">
                          <a:effectLst/>
                        </a:rPr>
                        <a:t>Type</a:t>
                      </a:r>
                      <a:endParaRPr lang="en-US" sz="2400" b="0">
                        <a:effectLst/>
                      </a:endParaRPr>
                    </a:p>
                  </a:txBody>
                  <a:tcPr marL="45656" marR="45656" marT="22828" marB="22828">
                    <a:lnL w="6350" cap="flat" cmpd="sng" algn="ctr">
                      <a:solidFill>
                        <a:srgbClr val="C0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603479"/>
                  </a:ext>
                </a:extLst>
              </a:tr>
              <a:tr h="6971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Performance</a:t>
                      </a:r>
                      <a:endParaRPr lang="en-US" sz="2400">
                        <a:effectLst/>
                      </a:endParaRP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satisfaction_level, last_evaluation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405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Continuous (0-1)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176106"/>
                  </a:ext>
                </a:extLst>
              </a:tr>
              <a:tr h="6971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Workload</a:t>
                      </a:r>
                      <a:endParaRPr lang="en-US" sz="2400">
                        <a:effectLst/>
                      </a:endParaRP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2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number_project, average_monthly_hours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Numeric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505017"/>
                  </a:ext>
                </a:extLst>
              </a:tr>
              <a:tr h="369063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Tenure</a:t>
                      </a:r>
                      <a:endParaRPr lang="en-US" sz="2400">
                        <a:effectLst/>
                      </a:endParaRP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4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time_spend_company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C05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5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Years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0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695519"/>
                  </a:ext>
                </a:extLst>
              </a:tr>
              <a:tr h="6971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Career</a:t>
                      </a:r>
                      <a:endParaRPr lang="en-US" sz="2400">
                        <a:effectLst/>
                      </a:endParaRP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A04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Work_accident, promotion_last_5years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Binary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A05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5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331860"/>
                  </a:ext>
                </a:extLst>
              </a:tr>
              <a:tr h="1025278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b="1">
                          <a:effectLst/>
                        </a:rPr>
                        <a:t>Demographics</a:t>
                      </a:r>
                      <a:endParaRPr lang="en-US" sz="2400">
                        <a:effectLst/>
                      </a:endParaRP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4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>
                          <a:effectLst/>
                        </a:rPr>
                        <a:t>department (10 categories), salary (3 levels)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C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4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400" dirty="0">
                          <a:effectLst/>
                        </a:rPr>
                        <a:t>Categorical</a:t>
                      </a:r>
                    </a:p>
                  </a:txBody>
                  <a:tcPr marL="45656" marR="45656" marT="22828" marB="22828" anchor="ctr">
                    <a:lnL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9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17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2A6DF1-540B-4056-8A1F-5287583FE942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Data description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20B54-FCF0-41B5-8568-1C8BD26B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7" y="1878813"/>
            <a:ext cx="11079725" cy="44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9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2A6DF1-540B-4056-8A1F-5287583FE942}"/>
              </a:ext>
            </a:extLst>
          </p:cNvPr>
          <p:cNvSpPr txBox="1">
            <a:spLocks/>
          </p:cNvSpPr>
          <p:nvPr/>
        </p:nvSpPr>
        <p:spPr>
          <a:xfrm>
            <a:off x="913772" y="137888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A1F83-7BA5-4333-B72A-61DC7503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7" b="13115"/>
          <a:stretch/>
        </p:blipFill>
        <p:spPr>
          <a:xfrm>
            <a:off x="3244533" y="1285911"/>
            <a:ext cx="5702927" cy="543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9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2A6DF1-540B-4056-8A1F-5287583FE942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CLASS Balancing - THE CORE CHALLENGE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02AC1-C966-4B6B-9726-5CFD60D34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1447048"/>
            <a:ext cx="8505825" cy="2295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E502C0-D0C7-4B63-80AE-B84896DCE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9" y="3945282"/>
            <a:ext cx="8496300" cy="800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84CAA9-F96B-46D6-BDD9-1B26E90EC637}"/>
              </a:ext>
            </a:extLst>
          </p:cNvPr>
          <p:cNvSpPr txBox="1"/>
          <p:nvPr/>
        </p:nvSpPr>
        <p:spPr>
          <a:xfrm>
            <a:off x="913774" y="4939171"/>
            <a:ext cx="106840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"always predict Stay" → 82.73% accuracy without learning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accuracy metric is misleading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balanced metrics: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</a:t>
            </a:r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a quitter (False Negative) &gt; False alarm (False Positive)</a:t>
            </a:r>
          </a:p>
        </p:txBody>
      </p:sp>
    </p:spTree>
    <p:extLst>
      <p:ext uri="{BB962C8B-B14F-4D97-AF65-F5344CB8AC3E}">
        <p14:creationId xmlns:p14="http://schemas.microsoft.com/office/powerpoint/2010/main" val="351243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2A6DF1-540B-4056-8A1F-5287583FE942}"/>
              </a:ext>
            </a:extLst>
          </p:cNvPr>
          <p:cNvSpPr txBox="1">
            <a:spLocks/>
          </p:cNvSpPr>
          <p:nvPr/>
        </p:nvSpPr>
        <p:spPr>
          <a:xfrm>
            <a:off x="913774" y="339366"/>
            <a:ext cx="10364451" cy="904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BALANCING TECHNIQUES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71816-CB8C-4FC5-A403-A1A5F556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22" y="1952122"/>
            <a:ext cx="10531452" cy="359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BALANCING TECHNIQUES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CDB44-75D1-475C-99D6-8755EA3CD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5" y="2150334"/>
            <a:ext cx="5264880" cy="3478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76A1EA-13AA-45FE-A990-38D9CB25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225" y="2284557"/>
            <a:ext cx="65817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After BALANCING TECHNIQUES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90CE0-008D-4C56-9AF7-539705D20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5619422"/>
            <a:ext cx="5362575" cy="1009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EBDFD-0E1D-48C2-8A74-6197ECCE2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828" y="1522143"/>
            <a:ext cx="4488279" cy="39868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39EB28-086F-4301-A29E-782BDAA1C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" y="1736859"/>
            <a:ext cx="52959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After training With different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6736E-1342-4612-8CC2-922180FE0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720572"/>
            <a:ext cx="4597146" cy="4587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CF145-5718-414B-A5C9-56E57181D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2084"/>
            <a:ext cx="4142703" cy="3192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BAB84-036E-4A8B-AA28-11746DDDF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861284"/>
            <a:ext cx="53435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3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After training With different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DB6A61-F171-46CA-B72A-237089415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35" y="1763534"/>
            <a:ext cx="11195330" cy="475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503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After training With different models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69C3F26-8AFC-48C9-972F-7060ABA29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705" y="1573060"/>
            <a:ext cx="9966589" cy="494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30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Confusion matrix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B16D73-6DCC-4163-B9D3-899F04606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4" y="1652223"/>
            <a:ext cx="7511162" cy="500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C382D-B79F-48CC-AD50-5D2FDBB8D97C}"/>
              </a:ext>
            </a:extLst>
          </p:cNvPr>
          <p:cNvSpPr txBox="1"/>
          <p:nvPr/>
        </p:nvSpPr>
        <p:spPr>
          <a:xfrm>
            <a:off x="8288532" y="1652223"/>
            <a:ext cx="330501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TN (True Negative): Correctly predicted STAY FP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(False Positive): Predicted QUIT but actually STAY (false alarm) </a:t>
            </a:r>
          </a:p>
          <a:p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 (False Negative): Predicted STAY but actually QUIT (missed quitter)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 (True Positive): Correctly predicted QUIT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93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After training With different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DB6A61-F171-46CA-B72A-237089415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35" y="1763534"/>
            <a:ext cx="11195330" cy="475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458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Classification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0DF43-047C-4519-BF33-AE233452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74" y="1581150"/>
            <a:ext cx="6200775" cy="5276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FA319-F200-4F96-9495-DAA6CFFE11C4}"/>
              </a:ext>
            </a:extLst>
          </p:cNvPr>
          <p:cNvSpPr txBox="1"/>
          <p:nvPr/>
        </p:nvSpPr>
        <p:spPr>
          <a:xfrm>
            <a:off x="7935132" y="3105834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</p:txBody>
      </p:sp>
    </p:spTree>
    <p:extLst>
      <p:ext uri="{BB962C8B-B14F-4D97-AF65-F5344CB8AC3E}">
        <p14:creationId xmlns:p14="http://schemas.microsoft.com/office/powerpoint/2010/main" val="4152705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0FA319-F200-4F96-9495-DAA6CFFE11C4}"/>
              </a:ext>
            </a:extLst>
          </p:cNvPr>
          <p:cNvSpPr txBox="1"/>
          <p:nvPr/>
        </p:nvSpPr>
        <p:spPr>
          <a:xfrm>
            <a:off x="929898" y="1997839"/>
            <a:ext cx="100859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(add domain-specific features)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Multi-dataset validation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&amp; ROI measurement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 &amp; bias analysis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85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433BA-C052-459C-98F7-385062E1590F}"/>
              </a:ext>
            </a:extLst>
          </p:cNvPr>
          <p:cNvSpPr txBox="1">
            <a:spLocks/>
          </p:cNvSpPr>
          <p:nvPr/>
        </p:nvSpPr>
        <p:spPr>
          <a:xfrm>
            <a:off x="427974" y="339366"/>
            <a:ext cx="11346104" cy="1072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DDFD3-4E05-415A-BC9F-3FFED96505AA}"/>
              </a:ext>
            </a:extLst>
          </p:cNvPr>
          <p:cNvSpPr txBox="1"/>
          <p:nvPr/>
        </p:nvSpPr>
        <p:spPr>
          <a:xfrm>
            <a:off x="1081006" y="1840818"/>
            <a:ext cx="96128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Musanga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Chibaya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predictive model to forecast employee churn for HR analytics,” in DigitalSkills2023,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in Education Science, vol. 5, 2023, pp. 17-30.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“Predicting employee turnover and reducing turnover costs using machine learning techniques,” M.S. thesis, Eindhoven University of Technology, Netherlands, 2021.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Fekete and I.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Rozenberg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practical model of employee performance evaluation,” Management, vol. 14, no. 2, pp. 141-158, 2014.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V. Chawla, K. W. Bowyer, L. O. Hall, and W. P.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Kegelmeyer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“SMOTE: synthetic minority over-sampling technique,” Journal of Artificial Intelligence Research, vol. 16, pp. 321-357, 2002.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He and E. A. Garcia, “Learning from imbalanced data,” IEEE Transactions on Knowledge and Data Engineering, vol. 21, no. 9, pp. 1263-1284, 2009.</a:t>
            </a:r>
          </a:p>
        </p:txBody>
      </p:sp>
    </p:spTree>
    <p:extLst>
      <p:ext uri="{BB962C8B-B14F-4D97-AF65-F5344CB8AC3E}">
        <p14:creationId xmlns:p14="http://schemas.microsoft.com/office/powerpoint/2010/main" val="103409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4F66-CD31-4FE2-992F-F685F6B34C8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5400" b="1" dirty="0"/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F4B50-091A-46CE-8232-95AEEED38EFB}"/>
              </a:ext>
            </a:extLst>
          </p:cNvPr>
          <p:cNvSpPr txBox="1"/>
          <p:nvPr/>
        </p:nvSpPr>
        <p:spPr>
          <a:xfrm>
            <a:off x="3735764" y="3042798"/>
            <a:ext cx="472047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22537413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740</TotalTime>
  <Words>728</Words>
  <Application>Microsoft Office PowerPoint</Application>
  <PresentationFormat>Widescreen</PresentationFormat>
  <Paragraphs>128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fkGroteskNeue</vt:lpstr>
      <vt:lpstr>Times New Roman</vt:lpstr>
      <vt:lpstr>Trade Gothic LT Pro</vt:lpstr>
      <vt:lpstr>Trebuchet MS</vt:lpstr>
      <vt:lpstr>Wingdings</vt:lpstr>
      <vt:lpstr>Droplet</vt:lpstr>
      <vt:lpstr>Office Theme</vt:lpstr>
      <vt:lpstr>Custom Design</vt:lpstr>
      <vt:lpstr>BANGLADESH ARMY UNIVERSITY OF SCIENCE &amp; TECHNOLOGY(BAUST)         Department of Computer Science and Engineering (CSE)  Course Title: Object Machine Learning Sessional  Title: Employee Churn Prediction  Course Code: CSE 4142 </vt:lpstr>
      <vt:lpstr>Employee Churn Prediction Using Machine Learning  A Comprehensive Comparative Analysis</vt:lpstr>
      <vt:lpstr>📋 Key concepts</vt:lpstr>
      <vt:lpstr>🎯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51</cp:revision>
  <dcterms:created xsi:type="dcterms:W3CDTF">2025-11-17T16:09:32Z</dcterms:created>
  <dcterms:modified xsi:type="dcterms:W3CDTF">2025-11-25T04:36:20Z</dcterms:modified>
</cp:coreProperties>
</file>