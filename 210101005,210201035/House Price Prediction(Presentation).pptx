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93" r:id="rId3"/>
    <p:sldId id="295" r:id="rId4"/>
    <p:sldId id="305" r:id="rId5"/>
    <p:sldId id="306" r:id="rId6"/>
    <p:sldId id="307" r:id="rId7"/>
    <p:sldId id="308" r:id="rId8"/>
    <p:sldId id="309" r:id="rId9"/>
    <p:sldId id="296" r:id="rId10"/>
    <p:sldId id="310" r:id="rId11"/>
    <p:sldId id="311" r:id="rId12"/>
    <p:sldId id="314" r:id="rId13"/>
    <p:sldId id="312" r:id="rId14"/>
    <p:sldId id="315" r:id="rId15"/>
    <p:sldId id="313" r:id="rId16"/>
    <p:sldId id="302" r:id="rId17"/>
    <p:sldId id="30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9DC385-8AE5-4E77-9E53-41B434B7544A}">
          <p14:sldIdLst>
            <p14:sldId id="256"/>
            <p14:sldId id="293"/>
            <p14:sldId id="295"/>
            <p14:sldId id="305"/>
            <p14:sldId id="306"/>
            <p14:sldId id="307"/>
            <p14:sldId id="308"/>
            <p14:sldId id="309"/>
            <p14:sldId id="296"/>
            <p14:sldId id="310"/>
            <p14:sldId id="311"/>
            <p14:sldId id="314"/>
            <p14:sldId id="312"/>
            <p14:sldId id="315"/>
          </p14:sldIdLst>
        </p14:section>
        <p14:section name="Untitled Section" id="{6B374CD1-501D-4ECF-B7AE-DA4F8F0C1BAA}">
          <p14:sldIdLst>
            <p14:sldId id="313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3BB76-642D-4642-B54A-4B37ECC306F7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13B1C-AFAE-476C-8550-AC94E2C2C1DF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13B1C-AFAE-476C-8550-AC94E2C2C1DF}" type="slidenum">
              <a:rPr lang="en-ID" smtClean="0"/>
              <a:t>1</a:t>
            </a:fld>
            <a:endParaRPr lang="en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9EE8E-F5AC-4FAE-9C49-F1FC52C11AD3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96FA-C36D-4BAF-BE6B-4F7B7271A2B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CEEE-8EF5-4EE4-B723-0F4227E80A7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F62B-F3A6-4A57-964E-C835967FD96A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AC9AA-DEE0-4B04-84AD-1398241A8ADD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5C406-B577-4ADA-8B30-90DF7142A52B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AB79-9DD1-434F-ADE0-7B1FAD642B10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EFB62-154C-46D9-8AE6-F0A1D1C100E9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264E-8B3F-4202-B706-CD7CB7E79BA7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4B04-B646-4314-A1EC-77A5F939557B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E30F-1709-42F1-9774-92FBFC15EC6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/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/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/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/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/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/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EF8D7-CEB0-445C-A6F7-D9A7A4A1E9B3}" type="datetime1">
              <a:rPr lang="en-US" smtClean="0"/>
              <a:t>12/2/2025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000"/>
              <a:t>House Price Prediction Using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t>‹#›</a:t>
            </a:fld>
            <a:endParaRPr lang="en-US" sz="10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A blue abstract watercolor pattern on a white background"/>
          <p:cNvPicPr>
            <a:picLocks noChangeAspect="1"/>
          </p:cNvPicPr>
          <p:nvPr/>
        </p:nvPicPr>
        <p:blipFill>
          <a:blip r:embed="rId3">
            <a:alphaModFix amt="40000"/>
          </a:blip>
          <a:srcRect t="14634" r="-1" b="1074"/>
          <a:stretch>
            <a:fillRect/>
          </a:stretch>
        </p:blipFill>
        <p:spPr>
          <a:xfrm>
            <a:off x="47369" y="80968"/>
            <a:ext cx="12188951" cy="6857990"/>
          </a:xfrm>
          <a:prstGeom prst="rect">
            <a:avLst/>
          </a:prstGeom>
        </p:spPr>
      </p:pic>
      <p:grpSp>
        <p:nvGrpSpPr>
          <p:cNvPr id="13" name="decorative circle"/>
          <p:cNvGrpSpPr>
            <a:grpSpLocks noGrp="1" noUngrp="1" noRot="1" noChangeAspect="1" noMove="1" noResize="1"/>
          </p:cNvGrpSpPr>
          <p:nvPr/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/>
            <p:cNvSpPr/>
            <p:nvPr/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236220"/>
            <a:ext cx="9847580" cy="132207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SCIENCE AND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" y="1657350"/>
            <a:ext cx="12235180" cy="5200015"/>
          </a:xfrm>
        </p:spPr>
        <p:txBody>
          <a:bodyPr>
            <a:normAutofit fontScale="90000" lnSpcReduction="20000"/>
          </a:bodyPr>
          <a:lstStyle/>
          <a:p>
            <a:endParaRPr lang="en-US" sz="311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1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Prediction Using ML</a:t>
            </a:r>
          </a:p>
          <a:p>
            <a:r>
              <a:rPr lang="en-US" sz="311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Machine Learning Sessional</a:t>
            </a:r>
          </a:p>
          <a:p>
            <a:r>
              <a:rPr lang="en-US" sz="311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 4140</a:t>
            </a:r>
          </a:p>
          <a:p>
            <a:endParaRPr lang="en-US" sz="2800" dirty="0">
              <a:solidFill>
                <a:schemeClr val="bg1"/>
              </a:solidFill>
              <a:sym typeface="+mn-ea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sym typeface="+mn-ea"/>
              </a:rPr>
              <a:t>          </a:t>
            </a: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    </a:t>
            </a:r>
            <a:r>
              <a:rPr lang="en-US" sz="2800" b="1" u="sng" dirty="0">
                <a:solidFill>
                  <a:schemeClr val="bg1"/>
                </a:solidFill>
                <a:sym typeface="+mn-ea"/>
              </a:rPr>
              <a:t>Presented To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:                                                                      </a:t>
            </a:r>
            <a:r>
              <a:rPr lang="en-US" sz="2800" b="1" u="sng" dirty="0">
                <a:solidFill>
                  <a:schemeClr val="bg1"/>
                </a:solidFill>
                <a:sym typeface="+mn-ea"/>
              </a:rPr>
              <a:t>presented By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 Engr. </a:t>
            </a:r>
            <a:r>
              <a:rPr lang="en-US" sz="2800" b="1" dirty="0" err="1">
                <a:solidFill>
                  <a:schemeClr val="bg1"/>
                </a:solidFill>
                <a:sym typeface="+mn-ea"/>
              </a:rPr>
              <a:t>Rohul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 Amin                                                          Rownak E Ikram(210201035)</a:t>
            </a: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Lecturer, CSE, BAUST                              </a:t>
            </a: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 Nadim Reza                                                                   G M </a:t>
            </a:r>
            <a:r>
              <a:rPr lang="en-US" sz="2800" b="1" dirty="0" err="1">
                <a:solidFill>
                  <a:schemeClr val="bg1"/>
                </a:solidFill>
                <a:sym typeface="+mn-ea"/>
              </a:rPr>
              <a:t>Fakhrul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 Islam (210101005)</a:t>
            </a: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 Lecturer, CSE, BAUST                              </a:t>
            </a:r>
          </a:p>
          <a:p>
            <a:pPr algn="l"/>
            <a:r>
              <a:rPr lang="en-US" sz="2800" b="1" dirty="0">
                <a:solidFill>
                  <a:schemeClr val="bg1"/>
                </a:solidFill>
                <a:sym typeface="+mn-ea"/>
              </a:rPr>
              <a:t>                                                                                     </a:t>
            </a:r>
            <a:r>
              <a:rPr lang="en-US" sz="2800" dirty="0">
                <a:solidFill>
                  <a:schemeClr val="bg1"/>
                </a:solidFill>
                <a:sym typeface="+mn-ea"/>
              </a:rPr>
              <a:t>                                                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2FCAF-BFC0-1E0D-6640-D2C408EA746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15" y="475558"/>
            <a:ext cx="1385758" cy="13220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B0C922-0768-5B55-5B49-63937C6A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6A39E-8899-4767-A55D-720D3C68B50C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514B01-3512-99AA-CA25-9DF89688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44AA44-BDCA-2A75-E35A-25E06C78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879" y="1462425"/>
            <a:ext cx="10659110" cy="469519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73B54-6FAF-89C4-024A-6E54E468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78A34-F153-428B-862E-C82C18B28AA8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734EB-B537-3C93-BD92-AB029313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E1C37-98A3-C687-912B-CFC4E414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925564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8EC5C37-F994-E753-B089-E7E68F4D3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2212609"/>
            <a:ext cx="9989083" cy="2432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price prediction is very important in real estate.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change based on many factors like location, area, and rooms.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price estimation is slow and not accurate.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to predict prices faster and more accurately.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B6A1B-233C-12FE-6091-3F5D35A5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59A-DD79-45F1-BBF6-2851F3A94CA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D839E-7E6B-9508-DD82-28902727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6BF5A-1E48-36E0-04B9-052505CD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BD4A-2FBC-2B85-6922-D2499AE7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63982-3F2B-8606-857E-848BF772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925564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6C1AB8-B64A-0ABD-6553-CFB3499E6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866937"/>
            <a:ext cx="9989083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predict house prices using machine learning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key features that affect the price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ML algorithms for price prediction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 performance using R² score and accuracy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7CFAB-E130-E33B-A79D-779500E9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076D-D5B5-49EF-8A37-5562AB7A2B6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A822B-B784-824C-CFFE-1A90B65D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48FFD-95B8-A9BC-CD05-37BD74E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0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726C5-0D57-EB89-DC90-D0AE3C20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037D-7A05-671A-7813-3E7A379E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28919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Related works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6929BD-AFFC-17DF-DCC0-CFDB643D2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477023"/>
            <a:ext cx="998908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[1], Mallick et al., 2021 proposed a “House Price Prediction System Using ML Models.”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Shortcomings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preprocessing only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handling was limited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Fewer evaluation metrics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3A2CE-BA86-C7B2-A8BE-1A123F09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ED3C-942E-4731-83FE-AA32697A815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8CDC-783A-3B91-E4DB-C8668FE1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BF20D-1574-0737-2068-30571C44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1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2B9C7-4700-A499-D64E-FE1ACA52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4849-60D4-5990-56C8-3E9F1C9D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28919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Related Works (Cont.)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43985D-8976-D4FA-7523-BB50E5ECE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532881"/>
            <a:ext cx="998908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[2], Panda et al., 2021 developed a “Multiple Regression Model for Housing Price.”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Shortcomings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advanced ML models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size</a:t>
            </a:r>
          </a:p>
          <a:p>
            <a:pPr lvl="0" eaLnBrk="0" fontAlgn="base" hangingPunct="0">
              <a:lnSpc>
                <a:spcPct val="15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not discussed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2B593-4343-3984-DCA8-31C1E33C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4B281-5CEF-4316-B06F-DE92F89DB32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12063-5F4C-8995-C77F-2B16D096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B3AA6-F9C1-0B18-F8C8-39343CE6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4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A191-FB2A-9A5D-2068-897014D3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BD6D-3829-7EDD-F2A9-3AE1B379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520621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B538C9-E86F-C0FD-F96F-DB59257C6E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636063"/>
            <a:ext cx="9989083" cy="44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Bengaluru House Price Dataset (Kaggle)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Samples: 13,320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lvl="0" eaLnBrk="0" fontAlgn="base" hangingPunct="0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Square Feet</a:t>
            </a:r>
          </a:p>
          <a:p>
            <a:pPr lvl="0" eaLnBrk="0" fontAlgn="base" hangingPunct="0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BHK</a:t>
            </a:r>
          </a:p>
          <a:p>
            <a:pPr lvl="0" eaLnBrk="0" fontAlgn="base" hangingPunct="0">
              <a:lnSpc>
                <a:spcPct val="100000"/>
              </a:lnSpc>
              <a:spcBef>
                <a:spcPts val="0"/>
              </a:spcBef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Bathrooms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required cleaning because of missing values and mixed formats.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65019-B060-B205-2122-BD75046D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8D76D-F7C5-4BDC-8733-843FE941682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E66B6-5BD2-7B02-DD09-C97CFE08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C05EA-6F6C-9F12-088D-7519FDEC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7F5147-75B5-6770-F047-9B26733BE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082" y="1394974"/>
            <a:ext cx="6643658" cy="4068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EDE067-7291-C3A7-0DF2-9172AD2B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097" y="4789702"/>
            <a:ext cx="2368103" cy="51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0452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8A68D-6677-4994-C953-C8A484A9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7D02-E19A-3559-81B3-96B74E40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520621"/>
            <a:ext cx="10659110" cy="80396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3502D7-009E-ABA6-7992-1DEDE5ADE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4437" y="1324583"/>
            <a:ext cx="6481354" cy="49775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CE1D9C-0FD3-7211-00DC-4BF4E4D7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69A7-CB4A-4CD1-B8DE-09511B927DF5}" type="datetime1">
              <a:rPr lang="en-US" smtClean="0"/>
              <a:t>12/2/2025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72CB9A-DAF7-0EF6-2BBF-90600569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0701D-1DE8-9933-0D5D-B6D9CECB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2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C6F6F53-B70B-F2B2-B450-EC5B9D545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330960"/>
            <a:ext cx="2821222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634F4-6DC5-03BC-3AB8-00E404F5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0679-86EC-42F5-B116-D104A1B425FF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02F0C-CFC9-B4E6-2171-A5BF7C59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A98E8-D190-B786-A4C5-A7FB3718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FE5E0-249D-6C21-EB1E-4C8ECB74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C46A-0818-A891-39CC-8FBD00DC8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2CC9AC-6DCF-679E-2C35-6EC800903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2438" y="2190671"/>
            <a:ext cx="4503810" cy="3157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6D7B62-B31B-6912-A119-5716C062A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506" y="2190671"/>
            <a:ext cx="5065056" cy="29454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4C2B2C-65AA-B994-AD21-AC9B29528A12}"/>
              </a:ext>
            </a:extLst>
          </p:cNvPr>
          <p:cNvSpPr txBox="1"/>
          <p:nvPr/>
        </p:nvSpPr>
        <p:spPr>
          <a:xfrm>
            <a:off x="1137920" y="1375387"/>
            <a:ext cx="2883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/>
              <a:t>Linear Regression model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AE934F3-6D07-54E9-4A23-76BA46F6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0524-E951-45AE-BA17-0CB8E53847AA}" type="datetime1">
              <a:rPr lang="en-US" smtClean="0"/>
              <a:t>12/2/2025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929416-6404-168F-3531-C9440CCC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19E484-5C8B-B421-57BB-11301C99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28329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056A-F117-3938-293D-7231A495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4331-C02A-4F5A-EE9B-24DD5BBE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C97D6F-A47F-9F49-5932-00A836A50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33040" y="1888261"/>
            <a:ext cx="6070600" cy="4262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27585F-D553-3B02-7CA4-D8F7A32AF0F3}"/>
              </a:ext>
            </a:extLst>
          </p:cNvPr>
          <p:cNvSpPr txBox="1"/>
          <p:nvPr/>
        </p:nvSpPr>
        <p:spPr>
          <a:xfrm>
            <a:off x="1137920" y="1375387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model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B81A7-3420-0660-1750-13256698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D42E9-E9A6-4D33-A750-A8D22129677F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6F48BA-24E4-75AE-40F4-B66484A9C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13E445-98C1-2795-38DF-1422A2D6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3120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EF771-60BA-5CD9-1917-0C04AFE3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5A39-A9E1-3276-C246-EADD4BEF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47A9C-3B87-445B-FCFF-9B2E995E1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08617" y="1789146"/>
            <a:ext cx="6374765" cy="44648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075350-1601-63FE-B040-38DFAD2EA071}"/>
              </a:ext>
            </a:extLst>
          </p:cNvPr>
          <p:cNvSpPr txBox="1"/>
          <p:nvPr/>
        </p:nvSpPr>
        <p:spPr>
          <a:xfrm>
            <a:off x="1137920" y="1375387"/>
            <a:ext cx="1935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98ECA-FA92-EF23-2750-BEB0631F2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C444-D09A-4AB9-8676-4490C9D91EEC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557F1-5DAE-454F-DC85-7700808B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80654-892C-B50F-A4A7-E1DD69636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8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B4AA-524A-2A95-5E9D-1C4F4CFB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F620-B1FB-8A5A-FD1F-7FD7D7B2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372761-5E13-4460-F549-8AB99A398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240" y="1886959"/>
            <a:ext cx="4919378" cy="3363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626EE0-0ECC-1E52-B742-FBC054E30E4A}"/>
              </a:ext>
            </a:extLst>
          </p:cNvPr>
          <p:cNvSpPr txBox="1"/>
          <p:nvPr/>
        </p:nvSpPr>
        <p:spPr>
          <a:xfrm>
            <a:off x="1137920" y="137538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129CABF-A5E3-2F1E-F6BE-48F518ADC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898" y="1886959"/>
            <a:ext cx="5881805" cy="36400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429481-F72A-611D-455E-123C2E9A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E7456-9254-439F-88AD-B4C3861F6CF5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00859-07A1-1726-7F5D-A842F777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12E85-4F92-98B7-3E61-38656CC6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634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2C88-A86E-CE65-D96E-B5C6AD6E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FFBB-2F5D-9AEE-F2FA-A265F7E31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Used(Cont.)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8FB7E376-B39D-BE1E-C91B-7E27B85E3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419225"/>
            <a:ext cx="2148840" cy="1553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FC0BD82-03DB-4529-7A08-444CB4729876}"/>
              </a:ext>
            </a:extLst>
          </p:cNvPr>
          <p:cNvSpPr txBox="1"/>
          <p:nvPr/>
        </p:nvSpPr>
        <p:spPr>
          <a:xfrm>
            <a:off x="1049196" y="3061426"/>
            <a:ext cx="1819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:Total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Histogram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E695043-FD31-17B0-9CA4-054F5654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380" y="1357371"/>
            <a:ext cx="4328921" cy="1069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76D4ACA-0C66-D2CC-38DB-718B3900FD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714" y="1383847"/>
            <a:ext cx="2001457" cy="2839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8E1BDC2-F84A-365E-8875-DADBE9D6E8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3777529"/>
            <a:ext cx="2666398" cy="141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1B69E09-E1E6-B45E-AE67-FD1FA5BCFA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691" y="3518981"/>
            <a:ext cx="1886150" cy="1785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A3586A0-B472-2C86-5A4C-C42E184C8CF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414" y="3620581"/>
            <a:ext cx="1862925" cy="1209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35C61AC-2D5E-C3FB-6673-591B9EE90A76}"/>
              </a:ext>
            </a:extLst>
          </p:cNvPr>
          <p:cNvSpPr txBox="1"/>
          <p:nvPr/>
        </p:nvSpPr>
        <p:spPr>
          <a:xfrm>
            <a:off x="4671260" y="2842356"/>
            <a:ext cx="1391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:Dataset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Snapshot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A9DFA5-F39A-3C99-42AB-78F82628F29E}"/>
              </a:ext>
            </a:extLst>
          </p:cNvPr>
          <p:cNvSpPr txBox="1"/>
          <p:nvPr/>
        </p:nvSpPr>
        <p:spPr>
          <a:xfrm>
            <a:off x="1049195" y="5307970"/>
            <a:ext cx="18197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:Price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Histogram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BC7E89-4142-9BBC-FC21-0615297FBF9F}"/>
              </a:ext>
            </a:extLst>
          </p:cNvPr>
          <p:cNvSpPr txBox="1"/>
          <p:nvPr/>
        </p:nvSpPr>
        <p:spPr>
          <a:xfrm>
            <a:off x="4086302" y="5420446"/>
            <a:ext cx="1236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:Top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B057BE-E1E6-DA5B-90D3-7B6669775C1E}"/>
              </a:ext>
            </a:extLst>
          </p:cNvPr>
          <p:cNvSpPr txBox="1"/>
          <p:nvPr/>
        </p:nvSpPr>
        <p:spPr>
          <a:xfrm>
            <a:off x="1049196" y="3061426"/>
            <a:ext cx="16049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:Total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Histogram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E21A6A-5CF6-FBA5-F6E9-92CBE426A399}"/>
              </a:ext>
            </a:extLst>
          </p:cNvPr>
          <p:cNvSpPr txBox="1"/>
          <p:nvPr/>
        </p:nvSpPr>
        <p:spPr>
          <a:xfrm>
            <a:off x="6651412" y="4964796"/>
            <a:ext cx="17876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:Scatter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 For Outliers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C837BC-74FA-CABC-CED5-6BC70A94601A}"/>
              </a:ext>
            </a:extLst>
          </p:cNvPr>
          <p:cNvSpPr txBox="1"/>
          <p:nvPr/>
        </p:nvSpPr>
        <p:spPr>
          <a:xfrm>
            <a:off x="9580944" y="4411759"/>
            <a:ext cx="1486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:BHK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Distributions</a:t>
            </a:r>
          </a:p>
        </p:txBody>
      </p:sp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D02E804D-04E2-4CE4-D5D7-133788C04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3C97A-6994-4BC2-98B0-EFA271055B59}" type="datetime1">
              <a:rPr lang="en-US" smtClean="0"/>
              <a:t>12/2/2025</a:t>
            </a:fld>
            <a:endParaRPr lang="en-US"/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3737880F-297A-37A3-E0F1-C1640862A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2ECC962B-B0AE-4857-D8F8-7135D4D6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6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9873-0B3A-170B-5EA0-513EB18D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EF50-886A-D2AE-6A09-A6CA8789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6583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2A8439F-030A-93A3-BD23-D277CCD14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53494"/>
              </p:ext>
            </p:extLst>
          </p:nvPr>
        </p:nvGraphicFramePr>
        <p:xfrm>
          <a:off x="952045" y="1736338"/>
          <a:ext cx="10314669" cy="3760947"/>
        </p:xfrm>
        <a:graphic>
          <a:graphicData uri="http://schemas.openxmlformats.org/drawingml/2006/table">
            <a:tbl>
              <a:tblPr/>
              <a:tblGrid>
                <a:gridCol w="3438223">
                  <a:extLst>
                    <a:ext uri="{9D8B030D-6E8A-4147-A177-3AD203B41FA5}">
                      <a16:colId xmlns:a16="http://schemas.microsoft.com/office/drawing/2014/main" val="3007694425"/>
                    </a:ext>
                  </a:extLst>
                </a:gridCol>
                <a:gridCol w="3438223">
                  <a:extLst>
                    <a:ext uri="{9D8B030D-6E8A-4147-A177-3AD203B41FA5}">
                      <a16:colId xmlns:a16="http://schemas.microsoft.com/office/drawing/2014/main" val="3272413249"/>
                    </a:ext>
                  </a:extLst>
                </a:gridCol>
                <a:gridCol w="3438223">
                  <a:extLst>
                    <a:ext uri="{9D8B030D-6E8A-4147-A177-3AD203B41FA5}">
                      <a16:colId xmlns:a16="http://schemas.microsoft.com/office/drawing/2014/main" val="2436057049"/>
                    </a:ext>
                  </a:extLst>
                </a:gridCol>
              </a:tblGrid>
              <a:tr h="57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Model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Accuracy (0–1)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Accuracy (%)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19927"/>
                  </a:ext>
                </a:extLst>
              </a:tr>
              <a:tr h="57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Linear Regression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0.4508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84.78%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060824"/>
                  </a:ext>
                </a:extLst>
              </a:tr>
              <a:tr h="57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Lasso Regression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0.3267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72.67%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723795"/>
                  </a:ext>
                </a:extLst>
              </a:tr>
              <a:tr h="101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Decision Tree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0.4161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71.61%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7684"/>
                  </a:ext>
                </a:extLst>
              </a:tr>
              <a:tr h="1012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Random Forest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0.6543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88.25%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44428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F017EB6-D0F5-85FB-D496-7BB4614F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0AA6-145D-4652-9FF8-DB17E4AA29BA}" type="datetime1">
              <a:rPr lang="en-US" smtClean="0"/>
              <a:t>12/2/2025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C76796F-0EA3-E985-7728-69A50AC6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E7AC76D-FD1C-38D3-E432-599630C4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3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DEC31-CB86-A3D4-C98D-195557E13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4600-D49A-8855-634B-64D22924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99070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563C9A-0DA3-6DE5-649D-5F7BA51401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718012"/>
            <a:ext cx="943356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gave the best performance in our dataset.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removing outliers improved accuracy a lot.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predict house prices using location,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BHK, and bathroom features.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help in real-estate decision making.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C46D0-0CCE-24D0-C1C6-4BA85F9B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8691-C7E2-4817-A0C7-41278F41FCCD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12109-A978-4023-FB39-DD2E6307F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F2774-8C88-4AF7-CF53-1EB7CCA2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0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4F91-16FC-B944-5C10-DE08DB7B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60F89-D53A-2DF8-6415-C9EBBCE7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329" y="2431691"/>
            <a:ext cx="9713779" cy="1994617"/>
          </a:xfrm>
        </p:spPr>
        <p:txBody>
          <a:bodyPr>
            <a:normAutofit fontScale="90000"/>
          </a:bodyPr>
          <a:lstStyle/>
          <a:p>
            <a:r>
              <a:rPr lang="en-ID" sz="7200" dirty="0"/>
              <a:t>                 </a:t>
            </a:r>
            <a:br>
              <a:rPr lang="en-ID" sz="7200" dirty="0"/>
            </a:br>
            <a:r>
              <a:rPr lang="en-ID" sz="7200" dirty="0"/>
              <a:t>            Thank You</a:t>
            </a:r>
            <a:br>
              <a:rPr lang="en-ID" sz="7200" dirty="0"/>
            </a:br>
            <a:br>
              <a:rPr lang="en-ID" sz="7200" dirty="0"/>
            </a:br>
            <a:endParaRPr lang="en-ID" sz="7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E703A-97B3-E8F8-2494-90A5C654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2DCB7-0ED4-4E63-90F0-2E437612FF6D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DFAFC-CC22-CD4B-91AC-929C5596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House Price Prediction Using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487B6-8DAB-F811-1ED9-05A53EFE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1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Confetti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457</TotalTime>
  <Words>544</Words>
  <Application>Microsoft Office PowerPoint</Application>
  <PresentationFormat>Widescreen</PresentationFormat>
  <Paragraphs>151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Gill Sans Nova</vt:lpstr>
      <vt:lpstr>Times New Roman</vt:lpstr>
      <vt:lpstr>Wingdings</vt:lpstr>
      <vt:lpstr>ConfettiVTI</vt:lpstr>
      <vt:lpstr>BANGLADESH ARMY UNIVERSITY OF SCIENCE AND TECHNOLOGY</vt:lpstr>
      <vt:lpstr> Outlines</vt:lpstr>
      <vt:lpstr>Introduction</vt:lpstr>
      <vt:lpstr>Objectives</vt:lpstr>
      <vt:lpstr>Related works</vt:lpstr>
      <vt:lpstr>Related Works (Cont.)</vt:lpstr>
      <vt:lpstr>Dataset</vt:lpstr>
      <vt:lpstr>Methodology</vt:lpstr>
      <vt:lpstr>Model Used</vt:lpstr>
      <vt:lpstr>Model Used (Cont.)</vt:lpstr>
      <vt:lpstr>Model Used(Cont.)</vt:lpstr>
      <vt:lpstr>Model Used(Cont.)</vt:lpstr>
      <vt:lpstr>Model Used(Cont.)</vt:lpstr>
      <vt:lpstr>Model Used(Cont.)</vt:lpstr>
      <vt:lpstr>Comparison Table</vt:lpstr>
      <vt:lpstr>Conclusion</vt:lpstr>
      <vt:lpstr>                              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siam ahmed</cp:lastModifiedBy>
  <cp:revision>23</cp:revision>
  <dcterms:created xsi:type="dcterms:W3CDTF">2024-09-07T15:59:00Z</dcterms:created>
  <dcterms:modified xsi:type="dcterms:W3CDTF">2025-12-02T12:51:38Z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B4A8134E22784812B07A848667F73C31_12</vt:lpwstr>
  </property>
  <property fmtid="{D5CDD505-2E9C-101B-9397-08002B2CF9AE}" pid="3" name="KSOProductBuildVer">
    <vt:lpwstr>1033-12.2.0.17562</vt:lpwstr>
  </property>
</Properties>
</file>