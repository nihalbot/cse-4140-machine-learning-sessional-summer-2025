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85" r:id="rId1"/>
  </p:sldMasterIdLst>
  <p:notesMasterIdLst>
    <p:notesMasterId r:id="rId15"/>
  </p:notesMasterIdLst>
  <p:handoutMasterIdLst>
    <p:handoutMasterId r:id="rId16"/>
  </p:handoutMasterIdLst>
  <p:sldIdLst>
    <p:sldId id="322" r:id="rId2"/>
    <p:sldId id="399" r:id="rId3"/>
    <p:sldId id="400" r:id="rId4"/>
    <p:sldId id="398" r:id="rId5"/>
    <p:sldId id="402" r:id="rId6"/>
    <p:sldId id="386" r:id="rId7"/>
    <p:sldId id="385" r:id="rId8"/>
    <p:sldId id="353" r:id="rId9"/>
    <p:sldId id="372" r:id="rId10"/>
    <p:sldId id="392" r:id="rId11"/>
    <p:sldId id="395" r:id="rId12"/>
    <p:sldId id="397" r:id="rId13"/>
    <p:sldId id="35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D9B5F5-085F-4179-9A6F-44C567014C1E}">
          <p14:sldIdLst>
            <p14:sldId id="322"/>
            <p14:sldId id="399"/>
            <p14:sldId id="400"/>
            <p14:sldId id="398"/>
            <p14:sldId id="402"/>
            <p14:sldId id="386"/>
            <p14:sldId id="385"/>
            <p14:sldId id="353"/>
            <p14:sldId id="372"/>
            <p14:sldId id="392"/>
            <p14:sldId id="395"/>
          </p14:sldIdLst>
        </p14:section>
        <p14:section name="Untitled Section" id="{1079CEA4-7D6C-45FF-806B-DC5BFDCE68B9}">
          <p14:sldIdLst>
            <p14:sldId id="397"/>
            <p14:sldId id="352"/>
          </p14:sldIdLst>
        </p14:section>
      </p14:sectionLst>
    </p:ext>
    <p:ext uri="{EFAFB233-063F-42B5-8137-9DF3F51BA10A}">
      <p15:sldGuideLst xmlns:p15="http://schemas.microsoft.com/office/powerpoint/2012/main">
        <p15:guide id="1" pos="312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DA38"/>
    <a:srgbClr val="63A537"/>
    <a:srgbClr val="D6D232"/>
    <a:srgbClr val="FF7C80"/>
    <a:srgbClr val="32B832"/>
    <a:srgbClr val="99CB38"/>
    <a:srgbClr val="C76809"/>
    <a:srgbClr val="CA4306"/>
    <a:srgbClr val="0F56F5"/>
    <a:srgbClr val="DEA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5256" autoAdjust="0"/>
  </p:normalViewPr>
  <p:slideViewPr>
    <p:cSldViewPr snapToGrid="0">
      <p:cViewPr varScale="1">
        <p:scale>
          <a:sx n="85" d="100"/>
          <a:sy n="85" d="100"/>
        </p:scale>
        <p:origin x="821" y="67"/>
      </p:cViewPr>
      <p:guideLst>
        <p:guide pos="31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0" d="100"/>
          <a:sy n="40" d="100"/>
        </p:scale>
        <p:origin x="2462" y="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F9A86B-22B4-85EA-B717-F45C86AA93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412F7F-9259-7E80-A34A-4D45C08720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740312-8359-4C54-9214-909AF7E2AD3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054921-3A2B-2034-20FB-3E35558465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31E56E-CB02-54CD-AC4A-280ECCE901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05D1C-85BC-41B8-A74B-80A263814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649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E1A88-1C66-44FB-B040-5154F4B4EC7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2E900-57F7-4903-9502-21E685559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293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01D8-1D77-46A8-B3EF-1DEE2848E921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Drivers Real time Drowsiness, Attention Detection and Alarm System using Eye Aspect Ratio(EAR) Analysis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26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EDEF1-197D-41C8-94EA-BFFDFDC5BE64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Drivers Real time Drowsiness, Attention Detection and Alarm System using Eye Aspect Ratio(EAR) Analysis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874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277F1-5FD4-453F-BB3B-8BC81AFCA99C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Drivers Real time Drowsiness, Attention Detection and Alarm System using Eye Aspect Ratio(EAR) Analysis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204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B881E-B24A-4EC9-AD89-EF3A55A7DD65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Drivers Real time Drowsiness, Attention Detection and Alarm System using Eye Aspect Ratio(EAR) Analysis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16DBD-7A8F-4234-AFCD-2DD272403FA5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Drivers Real time Drowsiness, Attention Detection and Alarm System using Eye Aspect Ratio(EAR) Analysis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554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69AA-A5A1-4F75-BDF5-2879ACF4D5B1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Drivers Real time Drowsiness, Attention Detection and Alarm System using Eye Aspect Ratio(EAR) Analysis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8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54FAD-FF47-4B6D-8C84-94FBC44BE0E7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>
                <a:latin typeface="Palatino Linotype" panose="02040502050505030304" pitchFamily="18" charset="0"/>
                <a:cs typeface="Times New Roman" panose="02020603050405020304" pitchFamily="18" charset="0"/>
              </a:rPr>
              <a:t>Drivers Real time Drowsiness, Attention Detection and Alarm System using Eye Aspect Ratio(EAR) Analysis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038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DFC5B5-D0EB-492E-9F03-C119995D3E0D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Drivers Real time Drowsiness, Attention Detection and Alarm System using Eye Aspect Ratio(EAR) Analysis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183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F17CD-741B-458B-A7F4-7E5EA3C75B46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Drivers Real time Drowsiness, Attention Detection and Alarm System using Eye Aspect Ratio(EAR) Analysis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61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6648-DE26-4E49-9670-687268835421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Drivers Real time Drowsiness, Attention Detection and Alarm System using Eye Aspect Ratio(EAR) Analysis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45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32BD-8CCD-488F-98A1-E22ADCD54B4E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Drivers Real time Drowsiness, Attention Detection and Alarm System using Eye Aspect Ratio(EAR) Analysis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E4E0494-DFDD-46A8-927B-518C2A6B68AE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Drivers Real time Drowsiness, Attention Detection and Alarm System using Eye Aspect Ratio(EAR) Analysis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297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1693DC-0946-4E6E-A987-ECCF41061D99}"/>
              </a:ext>
            </a:extLst>
          </p:cNvPr>
          <p:cNvSpPr/>
          <p:nvPr/>
        </p:nvSpPr>
        <p:spPr>
          <a:xfrm>
            <a:off x="2352" y="-601263"/>
            <a:ext cx="12189648" cy="7243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Mahe Shahriar Shan</a:t>
            </a:r>
            <a:br>
              <a:rPr lang="en-US" sz="2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Department of Electrical and Electronic Engineering</a:t>
            </a:r>
            <a:br>
              <a:rPr lang="en-US" sz="2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Bangladesh Army University of Science and Technology</a:t>
            </a:r>
            <a:br>
              <a:rPr lang="en-US" sz="2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Dhaka, Bangladesh</a:t>
            </a:r>
            <a:br>
              <a:rPr lang="en-US" sz="2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shahriar.eee2023@gmail.com 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F20160-2462-C422-07B2-06CD9887858D}"/>
              </a:ext>
            </a:extLst>
          </p:cNvPr>
          <p:cNvSpPr/>
          <p:nvPr/>
        </p:nvSpPr>
        <p:spPr>
          <a:xfrm>
            <a:off x="0" y="6437729"/>
            <a:ext cx="12192000" cy="505586"/>
          </a:xfrm>
          <a:prstGeom prst="rect">
            <a:avLst/>
          </a:prstGeom>
          <a:solidFill>
            <a:srgbClr val="63A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dirty="0">
              <a:latin typeface="Palatino Linotype" panose="0204050205050503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AB4877-2BCF-6A1C-61A1-B8159C6C1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944" y="-695739"/>
            <a:ext cx="2677886" cy="172904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E67CD-0313-4A97-A973-C451ECF6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Emotion </a:t>
            </a:r>
            <a:r>
              <a:rPr lang="en-US" dirty="0" err="1">
                <a:latin typeface="Palatino Linotype" panose="02040502050505030304" pitchFamily="18" charset="0"/>
                <a:cs typeface="Times New Roman" panose="02020603050405020304" pitchFamily="18" charset="0"/>
              </a:rPr>
              <a:t>dection</a:t>
            </a:r>
            <a:r>
              <a:rPr lang="en-US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 from text using machine </a:t>
            </a:r>
            <a:r>
              <a:rPr lang="en-US" dirty="0" err="1">
                <a:latin typeface="Palatino Linotype" panose="02040502050505030304" pitchFamily="18" charset="0"/>
                <a:cs typeface="Times New Roman" panose="02020603050405020304" pitchFamily="18" charset="0"/>
              </a:rPr>
              <a:t>larning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27613-DEA8-412C-B315-2B8C272A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6919D8-17E1-83D6-4C11-538F7864D8C9}"/>
              </a:ext>
            </a:extLst>
          </p:cNvPr>
          <p:cNvSpPr/>
          <p:nvPr/>
        </p:nvSpPr>
        <p:spPr>
          <a:xfrm>
            <a:off x="1278958" y="837110"/>
            <a:ext cx="9837082" cy="22452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Bangladesh Army University  of Science &amp;Technology</a:t>
            </a:r>
          </a:p>
          <a:p>
            <a:pPr algn="ctr"/>
            <a:r>
              <a:rPr lang="en-US" sz="3600" b="1">
                <a:solidFill>
                  <a:schemeClr val="tx1"/>
                </a:solidFill>
              </a:rPr>
              <a:t>Course Title : Machine </a:t>
            </a:r>
            <a:r>
              <a:rPr lang="en-US" sz="3600" b="1" dirty="0">
                <a:solidFill>
                  <a:schemeClr val="tx1"/>
                </a:solidFill>
              </a:rPr>
              <a:t>Learning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</a:rPr>
              <a:t>Course code: 4140</a:t>
            </a:r>
            <a:endParaRPr lang="en-SG" sz="36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49F8B9-0CE5-8BE3-0393-ABB1D1395736}"/>
              </a:ext>
            </a:extLst>
          </p:cNvPr>
          <p:cNvSpPr/>
          <p:nvPr/>
        </p:nvSpPr>
        <p:spPr>
          <a:xfrm>
            <a:off x="6027576" y="3368350"/>
            <a:ext cx="4963885" cy="2332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 By: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Nibadita Roy Nipa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Id:220201024</a:t>
            </a:r>
            <a:endParaRPr lang="en-SG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87A1A19-1BB2-BF0D-4BA0-B43FE2D1C2F0}"/>
              </a:ext>
            </a:extLst>
          </p:cNvPr>
          <p:cNvSpPr/>
          <p:nvPr/>
        </p:nvSpPr>
        <p:spPr>
          <a:xfrm>
            <a:off x="1352938" y="3383281"/>
            <a:ext cx="4556249" cy="2317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</a:p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Rohul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Amin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CSE,BAUST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Nadim Reza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CSE,BAUST</a:t>
            </a:r>
            <a:endParaRPr lang="en-SG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986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C733-1379-B8A6-9D4D-A1F410429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SG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DADAC-807E-384B-CFCF-CF7FC01E2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Why Emotion Detection From Text?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1.Emotion play a key role in human communication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1.sentiment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ananlysis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customer reviews.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2.Mental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3.Social media analysis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Automacally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classify text into emotions.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S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3A898-7E6C-F471-ABC7-48EA96797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Emotion Detection From Text  using Machine Larning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133ED-33DB-1E63-6E16-CE1B9F27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94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AEE1-5382-8B06-226B-837088CD5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SG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E63F3-5EE5-CE94-E5BD-D21553B9D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.To build an accurate emotion classifier from textual data.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2.To compare classical ML vs Deep Learning approaches.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3.To achieve real-time or near real –time performance.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4.To deploy a working prototyping.</a:t>
            </a:r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7B8BF-98DF-894B-08BA-B44EC5FE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Emotion Detection From Text  using Machine Larning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9C5CC-DA96-23BB-967E-2CC63383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147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91F6F-D642-99DA-18A1-2F347586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SG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6D62F-F28A-247A-3338-9E90CAB0B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 </a:t>
            </a: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Dataset (from Kaggle / </a:t>
            </a:r>
            <a:r>
              <a:rPr lang="en-S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1.Total Samples: ~250+ tweets/texts.</a:t>
            </a:r>
          </a:p>
          <a:p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2.Emotions: joy, sadness, anger, fear, love, surprise.</a:t>
            </a:r>
          </a:p>
          <a:p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3.Balanced distribution.</a:t>
            </a:r>
          </a:p>
          <a:p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4.Real-world noisy text (hashtags, emojis, slang)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D30AC5-64C4-CB6F-7D41-C5FD21033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Emotion Detection From Text  using Machine Larning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7FC44-697D-6270-2874-032C8E936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757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FBE7-6966-F221-B9C4-EB158A096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SG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71EEE-8EE1-06E0-33E5-D87206990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             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input</a:t>
            </a:r>
          </a:p>
          <a:p>
            <a:endParaRPr lang="en-US" dirty="0"/>
          </a:p>
          <a:p>
            <a:r>
              <a:rPr lang="en-US" dirty="0"/>
              <a:t>             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endParaRPr lang="en-US" dirty="0"/>
          </a:p>
          <a:p>
            <a:r>
              <a:rPr lang="en-US" dirty="0"/>
              <a:t>            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</a:t>
            </a:r>
          </a:p>
          <a:p>
            <a:endParaRPr lang="en-US" dirty="0"/>
          </a:p>
          <a:p>
            <a:r>
              <a:rPr lang="en-US" dirty="0"/>
              <a:t>                    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endParaRPr lang="en-US" dirty="0"/>
          </a:p>
          <a:p>
            <a:r>
              <a:rPr lang="en-US" dirty="0"/>
              <a:t>                   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S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CD9D73-685C-798E-47B3-8AA8DA56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Emotion Detection From Text  using Machine Larning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CFA42-75E4-72BA-7FD5-4D45858E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D4ABA7C0-2E23-56EB-81F5-30D3DB1F7F11}"/>
              </a:ext>
            </a:extLst>
          </p:cNvPr>
          <p:cNvSpPr/>
          <p:nvPr/>
        </p:nvSpPr>
        <p:spPr>
          <a:xfrm>
            <a:off x="4450702" y="2276669"/>
            <a:ext cx="93306" cy="3651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93386750-8BF9-2E6A-84F4-E6E2323F9E13}"/>
              </a:ext>
            </a:extLst>
          </p:cNvPr>
          <p:cNvSpPr/>
          <p:nvPr/>
        </p:nvSpPr>
        <p:spPr>
          <a:xfrm>
            <a:off x="4544008" y="3153747"/>
            <a:ext cx="46653" cy="3651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25701E12-6D79-D5C8-ADB2-583614AC81C5}"/>
              </a:ext>
            </a:extLst>
          </p:cNvPr>
          <p:cNvSpPr/>
          <p:nvPr/>
        </p:nvSpPr>
        <p:spPr>
          <a:xfrm>
            <a:off x="4590661" y="4040155"/>
            <a:ext cx="46653" cy="4385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A7CC730-7029-78E4-880E-573B179F7100}"/>
              </a:ext>
            </a:extLst>
          </p:cNvPr>
          <p:cNvSpPr/>
          <p:nvPr/>
        </p:nvSpPr>
        <p:spPr>
          <a:xfrm>
            <a:off x="4590661" y="4954555"/>
            <a:ext cx="46653" cy="4385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7078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00CEE4-7ED5-482C-8E0D-2AF91B3A410A}"/>
              </a:ext>
            </a:extLst>
          </p:cNvPr>
          <p:cNvSpPr/>
          <p:nvPr/>
        </p:nvSpPr>
        <p:spPr>
          <a:xfrm>
            <a:off x="0" y="6702641"/>
            <a:ext cx="12192000" cy="155359"/>
          </a:xfrm>
          <a:prstGeom prst="rect">
            <a:avLst/>
          </a:prstGeom>
          <a:solidFill>
            <a:srgbClr val="63A53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B210-7307-690E-0BF1-D6F9795F4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201930" algn="ctr">
              <a:spcBef>
                <a:spcPts val="1150"/>
              </a:spcBef>
              <a:spcAft>
                <a:spcPts val="0"/>
              </a:spcAft>
            </a:pPr>
            <a:r>
              <a:rPr lang="en-US" b="1" dirty="0">
                <a:latin typeface="Palatino Linotype" panose="02040502050505030304" pitchFamily="18" charset="0"/>
              </a:rPr>
              <a:t>Emotion detection from text using machine </a:t>
            </a:r>
            <a:r>
              <a:rPr lang="en-US" b="1" dirty="0" err="1">
                <a:latin typeface="Palatino Linotype" panose="02040502050505030304" pitchFamily="18" charset="0"/>
              </a:rPr>
              <a:t>larning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DD1D7-83F7-18DE-2913-501558471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C055B-901C-5591-603F-053E025896D1}"/>
              </a:ext>
            </a:extLst>
          </p:cNvPr>
          <p:cNvSpPr txBox="1"/>
          <p:nvPr/>
        </p:nvSpPr>
        <p:spPr>
          <a:xfrm>
            <a:off x="1154544" y="507410"/>
            <a:ext cx="3238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RelatedWork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E35A1B-E3F1-0BC3-372A-78A237322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057093"/>
              </p:ext>
            </p:extLst>
          </p:nvPr>
        </p:nvGraphicFramePr>
        <p:xfrm>
          <a:off x="1401417" y="2080728"/>
          <a:ext cx="8600999" cy="3230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665">
                  <a:extLst>
                    <a:ext uri="{9D8B030D-6E8A-4147-A177-3AD203B41FA5}">
                      <a16:colId xmlns:a16="http://schemas.microsoft.com/office/drawing/2014/main" val="2968529300"/>
                    </a:ext>
                  </a:extLst>
                </a:gridCol>
                <a:gridCol w="2454778">
                  <a:extLst>
                    <a:ext uri="{9D8B030D-6E8A-4147-A177-3AD203B41FA5}">
                      <a16:colId xmlns:a16="http://schemas.microsoft.com/office/drawing/2014/main" val="3103225801"/>
                    </a:ext>
                  </a:extLst>
                </a:gridCol>
                <a:gridCol w="2454778">
                  <a:extLst>
                    <a:ext uri="{9D8B030D-6E8A-4147-A177-3AD203B41FA5}">
                      <a16:colId xmlns:a16="http://schemas.microsoft.com/office/drawing/2014/main" val="585327909"/>
                    </a:ext>
                  </a:extLst>
                </a:gridCol>
                <a:gridCol w="2454778">
                  <a:extLst>
                    <a:ext uri="{9D8B030D-6E8A-4147-A177-3AD203B41FA5}">
                      <a16:colId xmlns:a16="http://schemas.microsoft.com/office/drawing/2014/main" val="424108187"/>
                    </a:ext>
                  </a:extLst>
                </a:gridCol>
              </a:tblGrid>
              <a:tr h="772108">
                <a:tc>
                  <a:txBody>
                    <a:bodyPr/>
                    <a:lstStyle/>
                    <a:p>
                      <a:r>
                        <a:rPr lang="en-US" dirty="0"/>
                        <a:t>Refence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Method  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Accuracy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Limitations 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466308"/>
                  </a:ext>
                </a:extLst>
              </a:tr>
              <a:tr h="772108">
                <a:tc>
                  <a:txBody>
                    <a:bodyPr/>
                    <a:lstStyle/>
                    <a:p>
                      <a:r>
                        <a:rPr lang="en-US" dirty="0" err="1"/>
                        <a:t>GoEmotions</a:t>
                      </a:r>
                      <a:r>
                        <a:rPr lang="en-US" dirty="0"/>
                        <a:t>(2020)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BERT + Transformer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92%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Heavy model, needs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963452"/>
                  </a:ext>
                </a:extLst>
              </a:tr>
              <a:tr h="772108">
                <a:tc>
                  <a:txBody>
                    <a:bodyPr/>
                    <a:lstStyle/>
                    <a:p>
                      <a:r>
                        <a:rPr lang="en-US" dirty="0" err="1"/>
                        <a:t>DeepMoji</a:t>
                      </a:r>
                      <a:r>
                        <a:rPr lang="en-US" dirty="0"/>
                        <a:t>(2017)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Bi-LSTM + Emoji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89%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 inference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100400"/>
                  </a:ext>
                </a:extLst>
              </a:tr>
              <a:tr h="772108">
                <a:tc>
                  <a:txBody>
                    <a:bodyPr/>
                    <a:lstStyle/>
                    <a:p>
                      <a:r>
                        <a:rPr lang="en-US" dirty="0"/>
                        <a:t>Simple ML Baseline(2018)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TF-IDF + SVM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85%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 accuracy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917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9696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00CEE4-7ED5-482C-8E0D-2AF91B3A410A}"/>
              </a:ext>
            </a:extLst>
          </p:cNvPr>
          <p:cNvSpPr/>
          <p:nvPr/>
        </p:nvSpPr>
        <p:spPr>
          <a:xfrm>
            <a:off x="0" y="6702641"/>
            <a:ext cx="12192000" cy="155359"/>
          </a:xfrm>
          <a:prstGeom prst="rect">
            <a:avLst/>
          </a:prstGeom>
          <a:solidFill>
            <a:srgbClr val="63A53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B210-7307-690E-0BF1-D6F9795F4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201930" algn="ctr">
              <a:spcBef>
                <a:spcPts val="1150"/>
              </a:spcBef>
              <a:spcAft>
                <a:spcPts val="0"/>
              </a:spcAft>
            </a:pPr>
            <a:r>
              <a:rPr lang="en-US" b="1" dirty="0">
                <a:latin typeface="Palatino Linotype" panose="02040502050505030304" pitchFamily="18" charset="0"/>
              </a:rPr>
              <a:t>Emotion </a:t>
            </a:r>
            <a:r>
              <a:rPr lang="en-US" b="1" dirty="0" err="1">
                <a:latin typeface="Palatino Linotype" panose="02040502050505030304" pitchFamily="18" charset="0"/>
              </a:rPr>
              <a:t>dection</a:t>
            </a:r>
            <a:r>
              <a:rPr lang="en-US" b="1" dirty="0">
                <a:latin typeface="Palatino Linotype" panose="02040502050505030304" pitchFamily="18" charset="0"/>
              </a:rPr>
              <a:t> from text using machine </a:t>
            </a:r>
            <a:r>
              <a:rPr lang="en-US" b="1" dirty="0" err="1">
                <a:latin typeface="Palatino Linotype" panose="02040502050505030304" pitchFamily="18" charset="0"/>
              </a:rPr>
              <a:t>larning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DD1D7-83F7-18DE-2913-501558471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C055B-901C-5591-603F-053E025896D1}"/>
              </a:ext>
            </a:extLst>
          </p:cNvPr>
          <p:cNvSpPr txBox="1"/>
          <p:nvPr/>
        </p:nvSpPr>
        <p:spPr>
          <a:xfrm>
            <a:off x="1154544" y="507410"/>
            <a:ext cx="6254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Accueacy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5D7CB0-0AD1-8196-530F-C5125F941421}"/>
              </a:ext>
            </a:extLst>
          </p:cNvPr>
          <p:cNvCxnSpPr>
            <a:cxnSpLocks/>
          </p:cNvCxnSpPr>
          <p:nvPr/>
        </p:nvCxnSpPr>
        <p:spPr>
          <a:xfrm>
            <a:off x="1057835" y="1153741"/>
            <a:ext cx="10238238" cy="0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49AA52E-AA28-4CF6-355C-23D84A99B704}"/>
              </a:ext>
            </a:extLst>
          </p:cNvPr>
          <p:cNvSpPr txBox="1"/>
          <p:nvPr/>
        </p:nvSpPr>
        <p:spPr>
          <a:xfrm>
            <a:off x="1057836" y="1800808"/>
            <a:ext cx="8842622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Accuracy Achived:95%( real dataset ,20% test split)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889F145-E731-9CDC-4314-7225A28D0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405788"/>
              </p:ext>
            </p:extLst>
          </p:nvPr>
        </p:nvGraphicFramePr>
        <p:xfrm>
          <a:off x="2187874" y="2268356"/>
          <a:ext cx="7245376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806">
                  <a:extLst>
                    <a:ext uri="{9D8B030D-6E8A-4147-A177-3AD203B41FA5}">
                      <a16:colId xmlns:a16="http://schemas.microsoft.com/office/drawing/2014/main" val="1797216940"/>
                    </a:ext>
                  </a:extLst>
                </a:gridCol>
                <a:gridCol w="2109190">
                  <a:extLst>
                    <a:ext uri="{9D8B030D-6E8A-4147-A177-3AD203B41FA5}">
                      <a16:colId xmlns:a16="http://schemas.microsoft.com/office/drawing/2014/main" val="4187587450"/>
                    </a:ext>
                  </a:extLst>
                </a:gridCol>
                <a:gridCol w="2109190">
                  <a:extLst>
                    <a:ext uri="{9D8B030D-6E8A-4147-A177-3AD203B41FA5}">
                      <a16:colId xmlns:a16="http://schemas.microsoft.com/office/drawing/2014/main" val="218727300"/>
                    </a:ext>
                  </a:extLst>
                </a:gridCol>
                <a:gridCol w="2109190">
                  <a:extLst>
                    <a:ext uri="{9D8B030D-6E8A-4147-A177-3AD203B41FA5}">
                      <a16:colId xmlns:a16="http://schemas.microsoft.com/office/drawing/2014/main" val="1802680045"/>
                    </a:ext>
                  </a:extLst>
                </a:gridCol>
              </a:tblGrid>
              <a:tr h="589772"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Recall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Precision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F1-Score(Probably)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691514"/>
                  </a:ext>
                </a:extLst>
              </a:tr>
              <a:tr h="337012">
                <a:tc>
                  <a:txBody>
                    <a:bodyPr/>
                    <a:lstStyle/>
                    <a:p>
                      <a:r>
                        <a:rPr lang="en-US" dirty="0"/>
                        <a:t>Joy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0.98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0.98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~0.98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906496"/>
                  </a:ext>
                </a:extLst>
              </a:tr>
              <a:tr h="589772">
                <a:tc>
                  <a:txBody>
                    <a:bodyPr/>
                    <a:lstStyle/>
                    <a:p>
                      <a:r>
                        <a:rPr lang="en-US" dirty="0"/>
                        <a:t>Sadness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0.96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0.96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~0.96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032235"/>
                  </a:ext>
                </a:extLst>
              </a:tr>
              <a:tr h="337012">
                <a:tc>
                  <a:txBody>
                    <a:bodyPr/>
                    <a:lstStyle/>
                    <a:p>
                      <a:r>
                        <a:rPr lang="en-US" dirty="0"/>
                        <a:t>Anger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0.95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0.95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~0.95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8586"/>
                  </a:ext>
                </a:extLst>
              </a:tr>
              <a:tr h="337012">
                <a:tc>
                  <a:txBody>
                    <a:bodyPr/>
                    <a:lstStyle/>
                    <a:p>
                      <a:r>
                        <a:rPr lang="en-US" dirty="0"/>
                        <a:t>Fear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0.94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0.94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~0.94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673448"/>
                  </a:ext>
                </a:extLst>
              </a:tr>
              <a:tr h="589772">
                <a:tc>
                  <a:txBody>
                    <a:bodyPr/>
                    <a:lstStyle/>
                    <a:p>
                      <a:r>
                        <a:rPr lang="en-US" dirty="0" err="1"/>
                        <a:t>Surprice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0.96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0.96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~ 0.96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909057"/>
                  </a:ext>
                </a:extLst>
              </a:tr>
              <a:tr h="337012">
                <a:tc>
                  <a:txBody>
                    <a:bodyPr/>
                    <a:lstStyle/>
                    <a:p>
                      <a:r>
                        <a:rPr lang="en-US" dirty="0"/>
                        <a:t>Love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0.98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0.98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~0.98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281270"/>
                  </a:ext>
                </a:extLst>
              </a:tr>
              <a:tr h="589772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95%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302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03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00CEE4-7ED5-482C-8E0D-2AF91B3A410A}"/>
              </a:ext>
            </a:extLst>
          </p:cNvPr>
          <p:cNvSpPr/>
          <p:nvPr/>
        </p:nvSpPr>
        <p:spPr>
          <a:xfrm>
            <a:off x="0" y="6702641"/>
            <a:ext cx="12192000" cy="155359"/>
          </a:xfrm>
          <a:prstGeom prst="rect">
            <a:avLst/>
          </a:prstGeom>
          <a:solidFill>
            <a:srgbClr val="63A53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B210-7307-690E-0BF1-D6F9795F4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201930" algn="ctr">
              <a:spcBef>
                <a:spcPts val="1150"/>
              </a:spcBef>
              <a:spcAft>
                <a:spcPts val="0"/>
              </a:spcAft>
            </a:pPr>
            <a:r>
              <a:rPr lang="en-US" b="1" dirty="0">
                <a:latin typeface="Palatino Linotype" panose="02040502050505030304" pitchFamily="18" charset="0"/>
              </a:rPr>
              <a:t>Emotion </a:t>
            </a:r>
            <a:r>
              <a:rPr lang="en-US" b="1" dirty="0" err="1">
                <a:latin typeface="Palatino Linotype" panose="02040502050505030304" pitchFamily="18" charset="0"/>
              </a:rPr>
              <a:t>dection</a:t>
            </a:r>
            <a:r>
              <a:rPr lang="en-US" b="1" dirty="0">
                <a:latin typeface="Palatino Linotype" panose="02040502050505030304" pitchFamily="18" charset="0"/>
              </a:rPr>
              <a:t> from text using machine </a:t>
            </a:r>
            <a:r>
              <a:rPr lang="en-US" b="1" dirty="0" err="1">
                <a:latin typeface="Palatino Linotype" panose="02040502050505030304" pitchFamily="18" charset="0"/>
              </a:rPr>
              <a:t>larning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DD1D7-83F7-18DE-2913-501558471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0" name="Google Shape;355;p29">
            <a:extLst>
              <a:ext uri="{FF2B5EF4-FFF2-40B4-BE49-F238E27FC236}">
                <a16:creationId xmlns:a16="http://schemas.microsoft.com/office/drawing/2014/main" id="{63894303-6AE1-AF19-F29C-89D769657F11}"/>
              </a:ext>
            </a:extLst>
          </p:cNvPr>
          <p:cNvSpPr/>
          <p:nvPr/>
        </p:nvSpPr>
        <p:spPr>
          <a:xfrm rot="2700000">
            <a:off x="11381004" y="540106"/>
            <a:ext cx="155705" cy="154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55;p29">
            <a:extLst>
              <a:ext uri="{FF2B5EF4-FFF2-40B4-BE49-F238E27FC236}">
                <a16:creationId xmlns:a16="http://schemas.microsoft.com/office/drawing/2014/main" id="{39EC5ED5-4107-AE13-A64B-378ABFE06330}"/>
              </a:ext>
            </a:extLst>
          </p:cNvPr>
          <p:cNvSpPr/>
          <p:nvPr/>
        </p:nvSpPr>
        <p:spPr>
          <a:xfrm rot="2700000">
            <a:off x="714766" y="539906"/>
            <a:ext cx="155705" cy="154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55;p29">
            <a:extLst>
              <a:ext uri="{FF2B5EF4-FFF2-40B4-BE49-F238E27FC236}">
                <a16:creationId xmlns:a16="http://schemas.microsoft.com/office/drawing/2014/main" id="{1388E8BF-23EC-88A6-8179-8F49CB5EDAD6}"/>
              </a:ext>
            </a:extLst>
          </p:cNvPr>
          <p:cNvSpPr/>
          <p:nvPr/>
        </p:nvSpPr>
        <p:spPr>
          <a:xfrm rot="2700000">
            <a:off x="714765" y="5829330"/>
            <a:ext cx="155705" cy="154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55;p29">
            <a:extLst>
              <a:ext uri="{FF2B5EF4-FFF2-40B4-BE49-F238E27FC236}">
                <a16:creationId xmlns:a16="http://schemas.microsoft.com/office/drawing/2014/main" id="{C7A2EE0E-A308-533D-D00D-D4AE9A1311A3}"/>
              </a:ext>
            </a:extLst>
          </p:cNvPr>
          <p:cNvSpPr/>
          <p:nvPr/>
        </p:nvSpPr>
        <p:spPr>
          <a:xfrm rot="2700000">
            <a:off x="11385657" y="5829331"/>
            <a:ext cx="155705" cy="154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05CE36-2638-3E90-ACD9-28ECFA7FC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242" y="3387086"/>
            <a:ext cx="411516" cy="838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C3ACA9-F810-E3BE-2DA6-16830670C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840" y="1474237"/>
            <a:ext cx="8285583" cy="48612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681894-DCCD-E729-182C-E7669CC4B014}"/>
              </a:ext>
            </a:extLst>
          </p:cNvPr>
          <p:cNvSpPr txBox="1"/>
          <p:nvPr/>
        </p:nvSpPr>
        <p:spPr>
          <a:xfrm>
            <a:off x="1548882" y="597159"/>
            <a:ext cx="6960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endParaRPr lang="en-SG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543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00CEE4-7ED5-482C-8E0D-2AF91B3A410A}"/>
              </a:ext>
            </a:extLst>
          </p:cNvPr>
          <p:cNvSpPr/>
          <p:nvPr/>
        </p:nvSpPr>
        <p:spPr>
          <a:xfrm>
            <a:off x="0" y="6702641"/>
            <a:ext cx="12192000" cy="155359"/>
          </a:xfrm>
          <a:prstGeom prst="rect">
            <a:avLst/>
          </a:prstGeom>
          <a:solidFill>
            <a:srgbClr val="63A53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B210-7307-690E-0BF1-D6F9795F4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201930" algn="ctr">
              <a:spcBef>
                <a:spcPts val="1150"/>
              </a:spcBef>
              <a:spcAft>
                <a:spcPts val="0"/>
              </a:spcAft>
            </a:pPr>
            <a:r>
              <a:rPr lang="en-US" b="1" dirty="0">
                <a:latin typeface="Palatino Linotype" panose="02040502050505030304" pitchFamily="18" charset="0"/>
              </a:rPr>
              <a:t>Emotion </a:t>
            </a:r>
            <a:r>
              <a:rPr lang="en-US" b="1" dirty="0" err="1">
                <a:latin typeface="Palatino Linotype" panose="02040502050505030304" pitchFamily="18" charset="0"/>
              </a:rPr>
              <a:t>dection</a:t>
            </a:r>
            <a:r>
              <a:rPr lang="en-US" b="1" dirty="0">
                <a:latin typeface="Palatino Linotype" panose="02040502050505030304" pitchFamily="18" charset="0"/>
              </a:rPr>
              <a:t> from text from text using machine </a:t>
            </a:r>
            <a:r>
              <a:rPr lang="en-US" b="1" dirty="0" err="1">
                <a:latin typeface="Palatino Linotype" panose="02040502050505030304" pitchFamily="18" charset="0"/>
              </a:rPr>
              <a:t>larning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DD1D7-83F7-18DE-2913-501558471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E3EC5095-6F99-839E-1BBB-37D1C1FF5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545" y="1565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6E22E76-77CE-1CAA-5164-562C0906DB17}"/>
              </a:ext>
            </a:extLst>
          </p:cNvPr>
          <p:cNvCxnSpPr>
            <a:cxnSpLocks/>
          </p:cNvCxnSpPr>
          <p:nvPr/>
        </p:nvCxnSpPr>
        <p:spPr>
          <a:xfrm flipV="1">
            <a:off x="1093694" y="1225461"/>
            <a:ext cx="10202379" cy="25722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6B7FC7A-2204-011B-4B8F-5560A207E525}"/>
              </a:ext>
            </a:extLst>
          </p:cNvPr>
          <p:cNvSpPr txBox="1"/>
          <p:nvPr/>
        </p:nvSpPr>
        <p:spPr>
          <a:xfrm>
            <a:off x="1085000" y="507410"/>
            <a:ext cx="525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Result of our System</a:t>
            </a:r>
          </a:p>
        </p:txBody>
      </p:sp>
      <p:sp>
        <p:nvSpPr>
          <p:cNvPr id="14" name="Google Shape;355;p29">
            <a:extLst>
              <a:ext uri="{FF2B5EF4-FFF2-40B4-BE49-F238E27FC236}">
                <a16:creationId xmlns:a16="http://schemas.microsoft.com/office/drawing/2014/main" id="{1D7D4FF5-E98F-9205-0772-E748D2980D70}"/>
              </a:ext>
            </a:extLst>
          </p:cNvPr>
          <p:cNvSpPr/>
          <p:nvPr/>
        </p:nvSpPr>
        <p:spPr>
          <a:xfrm rot="2700000">
            <a:off x="11381004" y="540106"/>
            <a:ext cx="155705" cy="154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55;p29">
            <a:extLst>
              <a:ext uri="{FF2B5EF4-FFF2-40B4-BE49-F238E27FC236}">
                <a16:creationId xmlns:a16="http://schemas.microsoft.com/office/drawing/2014/main" id="{243A709C-85E3-8914-EAAC-50E5B766F810}"/>
              </a:ext>
            </a:extLst>
          </p:cNvPr>
          <p:cNvSpPr/>
          <p:nvPr/>
        </p:nvSpPr>
        <p:spPr>
          <a:xfrm rot="2700000">
            <a:off x="545789" y="430605"/>
            <a:ext cx="155705" cy="154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55;p29">
            <a:extLst>
              <a:ext uri="{FF2B5EF4-FFF2-40B4-BE49-F238E27FC236}">
                <a16:creationId xmlns:a16="http://schemas.microsoft.com/office/drawing/2014/main" id="{4104611B-E1C3-0AB5-D8B8-3E2EA34B01AB}"/>
              </a:ext>
            </a:extLst>
          </p:cNvPr>
          <p:cNvSpPr/>
          <p:nvPr/>
        </p:nvSpPr>
        <p:spPr>
          <a:xfrm rot="2700000">
            <a:off x="545790" y="5896415"/>
            <a:ext cx="155705" cy="154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55;p29">
            <a:extLst>
              <a:ext uri="{FF2B5EF4-FFF2-40B4-BE49-F238E27FC236}">
                <a16:creationId xmlns:a16="http://schemas.microsoft.com/office/drawing/2014/main" id="{9599664E-6BCB-C4A3-1CF4-BFA76FE138B7}"/>
              </a:ext>
            </a:extLst>
          </p:cNvPr>
          <p:cNvSpPr/>
          <p:nvPr/>
        </p:nvSpPr>
        <p:spPr>
          <a:xfrm rot="2700000">
            <a:off x="11381004" y="5890114"/>
            <a:ext cx="155705" cy="154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B43B01-AC3E-7252-59BF-E1FE8809E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39" y="1302628"/>
            <a:ext cx="11583309" cy="498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368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00CEE4-7ED5-482C-8E0D-2AF91B3A410A}"/>
              </a:ext>
            </a:extLst>
          </p:cNvPr>
          <p:cNvSpPr/>
          <p:nvPr/>
        </p:nvSpPr>
        <p:spPr>
          <a:xfrm>
            <a:off x="0" y="6702641"/>
            <a:ext cx="12192000" cy="155359"/>
          </a:xfrm>
          <a:prstGeom prst="rect">
            <a:avLst/>
          </a:prstGeom>
          <a:solidFill>
            <a:srgbClr val="63A53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B210-7307-690E-0BF1-D6F9795F4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R="201930">
              <a:spcBef>
                <a:spcPts val="1150"/>
              </a:spcBef>
            </a:pPr>
            <a:r>
              <a:rPr lang="en-US" dirty="0"/>
              <a:t>Emotion Detection From Text  using Machine Larning</a:t>
            </a:r>
          </a:p>
          <a:p>
            <a:pPr marL="0" marR="201930" algn="ctr">
              <a:spcBef>
                <a:spcPts val="115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DD1D7-83F7-18DE-2913-501558471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E3EC5095-6F99-839E-1BBB-37D1C1FF5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545" y="1565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6E22E76-77CE-1CAA-5164-562C0906DB17}"/>
              </a:ext>
            </a:extLst>
          </p:cNvPr>
          <p:cNvCxnSpPr>
            <a:cxnSpLocks/>
          </p:cNvCxnSpPr>
          <p:nvPr/>
        </p:nvCxnSpPr>
        <p:spPr>
          <a:xfrm flipV="1">
            <a:off x="1093694" y="1225461"/>
            <a:ext cx="10202379" cy="25722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6B7FC7A-2204-011B-4B8F-5560A207E525}"/>
              </a:ext>
            </a:extLst>
          </p:cNvPr>
          <p:cNvSpPr txBox="1"/>
          <p:nvPr/>
        </p:nvSpPr>
        <p:spPr>
          <a:xfrm>
            <a:off x="1085000" y="507410"/>
            <a:ext cx="6310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Other Works</a:t>
            </a:r>
          </a:p>
        </p:txBody>
      </p:sp>
      <p:sp>
        <p:nvSpPr>
          <p:cNvPr id="14" name="Google Shape;355;p29">
            <a:extLst>
              <a:ext uri="{FF2B5EF4-FFF2-40B4-BE49-F238E27FC236}">
                <a16:creationId xmlns:a16="http://schemas.microsoft.com/office/drawing/2014/main" id="{1D7D4FF5-E98F-9205-0772-E748D2980D70}"/>
              </a:ext>
            </a:extLst>
          </p:cNvPr>
          <p:cNvSpPr/>
          <p:nvPr/>
        </p:nvSpPr>
        <p:spPr>
          <a:xfrm rot="2700000">
            <a:off x="11381004" y="540106"/>
            <a:ext cx="155705" cy="154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55;p29">
            <a:extLst>
              <a:ext uri="{FF2B5EF4-FFF2-40B4-BE49-F238E27FC236}">
                <a16:creationId xmlns:a16="http://schemas.microsoft.com/office/drawing/2014/main" id="{243A709C-85E3-8914-EAAC-50E5B766F810}"/>
              </a:ext>
            </a:extLst>
          </p:cNvPr>
          <p:cNvSpPr/>
          <p:nvPr/>
        </p:nvSpPr>
        <p:spPr>
          <a:xfrm rot="2700000">
            <a:off x="545789" y="430605"/>
            <a:ext cx="155705" cy="154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55;p29">
            <a:extLst>
              <a:ext uri="{FF2B5EF4-FFF2-40B4-BE49-F238E27FC236}">
                <a16:creationId xmlns:a16="http://schemas.microsoft.com/office/drawing/2014/main" id="{4104611B-E1C3-0AB5-D8B8-3E2EA34B01AB}"/>
              </a:ext>
            </a:extLst>
          </p:cNvPr>
          <p:cNvSpPr/>
          <p:nvPr/>
        </p:nvSpPr>
        <p:spPr>
          <a:xfrm rot="2700000">
            <a:off x="545790" y="5896415"/>
            <a:ext cx="155705" cy="154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55;p29">
            <a:extLst>
              <a:ext uri="{FF2B5EF4-FFF2-40B4-BE49-F238E27FC236}">
                <a16:creationId xmlns:a16="http://schemas.microsoft.com/office/drawing/2014/main" id="{9599664E-6BCB-C4A3-1CF4-BFA76FE138B7}"/>
              </a:ext>
            </a:extLst>
          </p:cNvPr>
          <p:cNvSpPr/>
          <p:nvPr/>
        </p:nvSpPr>
        <p:spPr>
          <a:xfrm rot="2700000">
            <a:off x="11381004" y="5890114"/>
            <a:ext cx="155705" cy="154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B0F8377-69AC-ED14-0AA9-47D1A1CEC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489822"/>
              </p:ext>
            </p:extLst>
          </p:nvPr>
        </p:nvGraphicFramePr>
        <p:xfrm>
          <a:off x="1093694" y="2043905"/>
          <a:ext cx="9897765" cy="3148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553">
                  <a:extLst>
                    <a:ext uri="{9D8B030D-6E8A-4147-A177-3AD203B41FA5}">
                      <a16:colId xmlns:a16="http://schemas.microsoft.com/office/drawing/2014/main" val="2354656628"/>
                    </a:ext>
                  </a:extLst>
                </a:gridCol>
                <a:gridCol w="1979553">
                  <a:extLst>
                    <a:ext uri="{9D8B030D-6E8A-4147-A177-3AD203B41FA5}">
                      <a16:colId xmlns:a16="http://schemas.microsoft.com/office/drawing/2014/main" val="2246776547"/>
                    </a:ext>
                  </a:extLst>
                </a:gridCol>
                <a:gridCol w="1979553">
                  <a:extLst>
                    <a:ext uri="{9D8B030D-6E8A-4147-A177-3AD203B41FA5}">
                      <a16:colId xmlns:a16="http://schemas.microsoft.com/office/drawing/2014/main" val="43907188"/>
                    </a:ext>
                  </a:extLst>
                </a:gridCol>
                <a:gridCol w="1979553">
                  <a:extLst>
                    <a:ext uri="{9D8B030D-6E8A-4147-A177-3AD203B41FA5}">
                      <a16:colId xmlns:a16="http://schemas.microsoft.com/office/drawing/2014/main" val="1011527264"/>
                    </a:ext>
                  </a:extLst>
                </a:gridCol>
                <a:gridCol w="1979553">
                  <a:extLst>
                    <a:ext uri="{9D8B030D-6E8A-4147-A177-3AD203B41FA5}">
                      <a16:colId xmlns:a16="http://schemas.microsoft.com/office/drawing/2014/main" val="653596052"/>
                    </a:ext>
                  </a:extLst>
                </a:gridCol>
              </a:tblGrid>
              <a:tr h="431762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Speed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Size?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Real-Time?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683799"/>
                  </a:ext>
                </a:extLst>
              </a:tr>
              <a:tr h="431762">
                <a:tc>
                  <a:txBody>
                    <a:bodyPr/>
                    <a:lstStyle/>
                    <a:p>
                      <a:r>
                        <a:rPr lang="en-US" dirty="0"/>
                        <a:t>BERT/</a:t>
                      </a:r>
                      <a:r>
                        <a:rPr lang="en-US" dirty="0" err="1"/>
                        <a:t>RoBERTa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92-94%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Slow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&gt;400MB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No 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425484"/>
                  </a:ext>
                </a:extLst>
              </a:tr>
              <a:tr h="781287">
                <a:tc>
                  <a:txBody>
                    <a:bodyPr/>
                    <a:lstStyle/>
                    <a:p>
                      <a:r>
                        <a:rPr lang="en-US" dirty="0" err="1"/>
                        <a:t>Bi-LSTM+Attentation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90%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Medium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~100MB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No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724688"/>
                  </a:ext>
                </a:extLst>
              </a:tr>
              <a:tr h="431762">
                <a:tc>
                  <a:txBody>
                    <a:bodyPr/>
                    <a:lstStyle/>
                    <a:p>
                      <a:r>
                        <a:rPr lang="en-US" dirty="0"/>
                        <a:t>CNN Text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88-91%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Fast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~50MB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Sometimes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423679"/>
                  </a:ext>
                </a:extLst>
              </a:tr>
              <a:tr h="431762">
                <a:tc>
                  <a:txBody>
                    <a:bodyPr/>
                    <a:lstStyle/>
                    <a:p>
                      <a:r>
                        <a:rPr lang="en-US" dirty="0"/>
                        <a:t>Our Model (TF-IDF+LR)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88-91%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Very Fast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&lt;5MB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Yes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217137"/>
                  </a:ext>
                </a:extLst>
              </a:tr>
              <a:tr h="431762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128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614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F968E-8EF5-631C-EF11-A0CF055DF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8DC09F0-A5DD-89F8-7324-391DF9D70373}"/>
              </a:ext>
            </a:extLst>
          </p:cNvPr>
          <p:cNvSpPr/>
          <p:nvPr/>
        </p:nvSpPr>
        <p:spPr>
          <a:xfrm>
            <a:off x="0" y="6702641"/>
            <a:ext cx="12192000" cy="155359"/>
          </a:xfrm>
          <a:prstGeom prst="rect">
            <a:avLst/>
          </a:prstGeom>
          <a:solidFill>
            <a:srgbClr val="63A53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56D2D-B4C5-E935-1370-83597646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201930" algn="ctr">
              <a:spcBef>
                <a:spcPts val="1150"/>
              </a:spcBef>
              <a:spcAft>
                <a:spcPts val="0"/>
              </a:spcAft>
            </a:pPr>
            <a:r>
              <a:rPr lang="en-US" b="1" dirty="0">
                <a:latin typeface="Palatino Linotype" panose="02040502050505030304" pitchFamily="18" charset="0"/>
              </a:rPr>
              <a:t>Emotion </a:t>
            </a:r>
            <a:r>
              <a:rPr lang="en-US" b="1" dirty="0" err="1">
                <a:latin typeface="Palatino Linotype" panose="02040502050505030304" pitchFamily="18" charset="0"/>
              </a:rPr>
              <a:t>dection</a:t>
            </a:r>
            <a:r>
              <a:rPr lang="en-US" b="1" dirty="0">
                <a:latin typeface="Palatino Linotype" panose="02040502050505030304" pitchFamily="18" charset="0"/>
              </a:rPr>
              <a:t> from text using machine </a:t>
            </a:r>
            <a:r>
              <a:rPr lang="en-US" b="1" dirty="0" err="1">
                <a:latin typeface="Palatino Linotype" panose="02040502050505030304" pitchFamily="18" charset="0"/>
              </a:rPr>
              <a:t>larning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F0992-5D34-C858-D6DE-869E5B8FA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D0570F18-43C6-8E5F-DA39-85C401625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545" y="15653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70A09CE-6CAC-FD46-98F5-111EB8F275C8}"/>
              </a:ext>
            </a:extLst>
          </p:cNvPr>
          <p:cNvCxnSpPr>
            <a:cxnSpLocks/>
          </p:cNvCxnSpPr>
          <p:nvPr/>
        </p:nvCxnSpPr>
        <p:spPr>
          <a:xfrm>
            <a:off x="998376" y="1225461"/>
            <a:ext cx="10297697" cy="0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7C8DA69-D6D3-76AB-2EBB-F2D35DA5FC42}"/>
              </a:ext>
            </a:extLst>
          </p:cNvPr>
          <p:cNvSpPr txBox="1"/>
          <p:nvPr/>
        </p:nvSpPr>
        <p:spPr>
          <a:xfrm>
            <a:off x="1085000" y="507410"/>
            <a:ext cx="5417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Direction</a:t>
            </a:r>
          </a:p>
        </p:txBody>
      </p:sp>
      <p:sp>
        <p:nvSpPr>
          <p:cNvPr id="14" name="Google Shape;355;p29">
            <a:extLst>
              <a:ext uri="{FF2B5EF4-FFF2-40B4-BE49-F238E27FC236}">
                <a16:creationId xmlns:a16="http://schemas.microsoft.com/office/drawing/2014/main" id="{5AD74295-C77C-D9FD-5929-DE6A753BD191}"/>
              </a:ext>
            </a:extLst>
          </p:cNvPr>
          <p:cNvSpPr/>
          <p:nvPr/>
        </p:nvSpPr>
        <p:spPr>
          <a:xfrm rot="2700000">
            <a:off x="11381004" y="540106"/>
            <a:ext cx="155705" cy="154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55;p29">
            <a:extLst>
              <a:ext uri="{FF2B5EF4-FFF2-40B4-BE49-F238E27FC236}">
                <a16:creationId xmlns:a16="http://schemas.microsoft.com/office/drawing/2014/main" id="{2D6BC891-96CA-D702-EB82-B394BB15C60B}"/>
              </a:ext>
            </a:extLst>
          </p:cNvPr>
          <p:cNvSpPr/>
          <p:nvPr/>
        </p:nvSpPr>
        <p:spPr>
          <a:xfrm rot="2700000">
            <a:off x="545789" y="430605"/>
            <a:ext cx="155705" cy="154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55;p29">
            <a:extLst>
              <a:ext uri="{FF2B5EF4-FFF2-40B4-BE49-F238E27FC236}">
                <a16:creationId xmlns:a16="http://schemas.microsoft.com/office/drawing/2014/main" id="{97CF5EC8-9E82-4DDF-A12E-53ED9BBAB087}"/>
              </a:ext>
            </a:extLst>
          </p:cNvPr>
          <p:cNvSpPr/>
          <p:nvPr/>
        </p:nvSpPr>
        <p:spPr>
          <a:xfrm rot="2700000">
            <a:off x="545790" y="5896415"/>
            <a:ext cx="155705" cy="154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55;p29">
            <a:extLst>
              <a:ext uri="{FF2B5EF4-FFF2-40B4-BE49-F238E27FC236}">
                <a16:creationId xmlns:a16="http://schemas.microsoft.com/office/drawing/2014/main" id="{059CA0E3-97DF-F1B4-C6A6-99182B68D99B}"/>
              </a:ext>
            </a:extLst>
          </p:cNvPr>
          <p:cNvSpPr/>
          <p:nvPr/>
        </p:nvSpPr>
        <p:spPr>
          <a:xfrm rot="2700000">
            <a:off x="11381004" y="5890114"/>
            <a:ext cx="155705" cy="154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29A198-ED19-1F00-C871-13EE852ADE8E}"/>
              </a:ext>
            </a:extLst>
          </p:cNvPr>
          <p:cNvSpPr txBox="1"/>
          <p:nvPr/>
        </p:nvSpPr>
        <p:spPr>
          <a:xfrm>
            <a:off x="1866122" y="1782147"/>
            <a:ext cx="717524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1.Add Bengali/ </a:t>
            </a:r>
            <a:r>
              <a:rPr lang="en-S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Banglish</a:t>
            </a: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emotion detection.</a:t>
            </a: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2.Multimodal: Text + Facial Expression.</a:t>
            </a: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3.Integrate into chatbots &amp; mental health apps.</a:t>
            </a: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4.Real-time deployment using Flask/</a:t>
            </a:r>
            <a:r>
              <a:rPr lang="en-S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FastAPIAdd</a:t>
            </a: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sarcasm &amp; context awareness.</a:t>
            </a: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5.Mobile app integration (Android/iOS).</a:t>
            </a:r>
          </a:p>
        </p:txBody>
      </p:sp>
    </p:spTree>
    <p:extLst>
      <p:ext uri="{BB962C8B-B14F-4D97-AF65-F5344CB8AC3E}">
        <p14:creationId xmlns:p14="http://schemas.microsoft.com/office/powerpoint/2010/main" val="1767797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4F3EE-A3C5-81CA-4ECF-C6C43069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1289"/>
            <a:ext cx="10058400" cy="1450757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Refences:</a:t>
            </a:r>
            <a:br>
              <a:rPr lang="en-US" dirty="0"/>
            </a:br>
            <a:endParaRPr lang="en-S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03601E-D7BB-FA15-4B9C-922B5669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Emotion Detection From Text  using Machine Larning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CCD9C-3EE3-447F-B840-8B52A141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771C44-4DA3-EBCF-931F-DAC8D9EBDDC7}"/>
              </a:ext>
            </a:extLst>
          </p:cNvPr>
          <p:cNvSpPr txBox="1"/>
          <p:nvPr/>
        </p:nvSpPr>
        <p:spPr>
          <a:xfrm>
            <a:off x="2547257" y="1959429"/>
            <a:ext cx="659907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S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GoEmotions</a:t>
            </a: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Dataset for Fine-Grained Emotion Classification</a:t>
            </a: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S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DeepMoji</a:t>
            </a: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Emoji-based Emotion Detection</a:t>
            </a: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"Emotion Detection using TF-IDF and Machine Learning" – Kaggle Notebooks</a:t>
            </a:r>
          </a:p>
          <a:p>
            <a:endParaRPr lang="en-S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Scikit-learn Documentation[5] NLTK &amp; Pandas Official Guides</a:t>
            </a:r>
          </a:p>
        </p:txBody>
      </p:sp>
    </p:spTree>
    <p:extLst>
      <p:ext uri="{BB962C8B-B14F-4D97-AF65-F5344CB8AC3E}">
        <p14:creationId xmlns:p14="http://schemas.microsoft.com/office/powerpoint/2010/main" val="2487494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1693DC-0946-4E6E-A987-ECCF41061D99}"/>
              </a:ext>
            </a:extLst>
          </p:cNvPr>
          <p:cNvSpPr/>
          <p:nvPr/>
        </p:nvSpPr>
        <p:spPr>
          <a:xfrm>
            <a:off x="0" y="-3309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effectLst>
                <a:outerShdw blurRad="50800" dist="38100" dir="2700000" algn="tl" rotWithShape="0">
                  <a:prstClr val="black">
                    <a:alpha val="25000"/>
                  </a:prstClr>
                </a:outerShdw>
              </a:effectLst>
              <a:latin typeface="Avant_G-Bold" panose="020B0500000000000000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0FE76F-84CB-420D-9FF2-9BC350D59052}"/>
              </a:ext>
            </a:extLst>
          </p:cNvPr>
          <p:cNvSpPr txBox="1"/>
          <p:nvPr/>
        </p:nvSpPr>
        <p:spPr>
          <a:xfrm>
            <a:off x="2245360" y="2409367"/>
            <a:ext cx="77012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accent3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Y😀U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FA7036-E142-44E7-97F5-D4E28CA82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Palatino Linotype" panose="02040502050505030304" pitchFamily="18" charset="0"/>
                <a:cs typeface="Times New Roman" panose="02020603050405020304" pitchFamily="18" charset="0"/>
              </a:rPr>
              <a:t>Drivers Real time Drowsiness, Attention Detection and Alarm System using Eye Aspect Ratio(EAR)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E4B0C-0BB8-4D1F-A4C2-7E57AF351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569827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5687</TotalTime>
  <Words>667</Words>
  <Application>Microsoft Office PowerPoint</Application>
  <PresentationFormat>Widescreen</PresentationFormat>
  <Paragraphs>177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Avant_G-Bold</vt:lpstr>
      <vt:lpstr>Calibri</vt:lpstr>
      <vt:lpstr>Calibri Light</vt:lpstr>
      <vt:lpstr>Palatino Linotype</vt:lpstr>
      <vt:lpstr>Times New Roman</vt:lpstr>
      <vt:lpstr>Retrospect</vt:lpstr>
      <vt:lpstr>PowerPoint Presentation</vt:lpstr>
      <vt:lpstr>Introduction</vt:lpstr>
      <vt:lpstr>Objective</vt:lpstr>
      <vt:lpstr>Dataset OverView</vt:lpstr>
      <vt:lpstr>Proposed 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Refences: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Kazi Wakilur Rahman Rumman</dc:creator>
  <cp:lastModifiedBy>Eshrat Jahan Esha</cp:lastModifiedBy>
  <cp:revision>507</cp:revision>
  <dcterms:created xsi:type="dcterms:W3CDTF">2021-06-07T15:41:55Z</dcterms:created>
  <dcterms:modified xsi:type="dcterms:W3CDTF">2025-12-02T14:26:38Z</dcterms:modified>
</cp:coreProperties>
</file>