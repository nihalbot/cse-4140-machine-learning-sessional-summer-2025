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ublic Sans Bold" charset="1" panose="00000000000000000000"/>
      <p:regular r:id="rId15"/>
    </p:embeddedFont>
    <p:embeddedFont>
      <p:font typeface="Public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jpe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10296" y="5450167"/>
            <a:ext cx="11712292" cy="9739632"/>
            <a:chOff x="0" y="0"/>
            <a:chExt cx="676659" cy="562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6659" cy="562692"/>
            </a:xfrm>
            <a:custGeom>
              <a:avLst/>
              <a:gdLst/>
              <a:ahLst/>
              <a:cxnLst/>
              <a:rect r="r" b="b" t="t" l="l"/>
              <a:pathLst>
                <a:path h="562692" w="676659">
                  <a:moveTo>
                    <a:pt x="676659" y="281346"/>
                  </a:moveTo>
                  <a:lnTo>
                    <a:pt x="473459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473459" y="0"/>
                  </a:lnTo>
                  <a:lnTo>
                    <a:pt x="676659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57150"/>
              <a:ext cx="448059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005446" y="-993826"/>
            <a:ext cx="20867030" cy="10516055"/>
            <a:chOff x="0" y="0"/>
            <a:chExt cx="561152" cy="2827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1152" cy="282796"/>
            </a:xfrm>
            <a:custGeom>
              <a:avLst/>
              <a:gdLst/>
              <a:ahLst/>
              <a:cxnLst/>
              <a:rect r="r" b="b" t="t" l="l"/>
              <a:pathLst>
                <a:path h="282796" w="561152">
                  <a:moveTo>
                    <a:pt x="203200" y="282796"/>
                  </a:moveTo>
                  <a:lnTo>
                    <a:pt x="357952" y="282796"/>
                  </a:lnTo>
                  <a:lnTo>
                    <a:pt x="561152" y="0"/>
                  </a:lnTo>
                  <a:lnTo>
                    <a:pt x="0" y="0"/>
                  </a:lnTo>
                  <a:lnTo>
                    <a:pt x="203200" y="282796"/>
                  </a:lnTo>
                  <a:close/>
                </a:path>
              </a:pathLst>
            </a:custGeom>
            <a:solidFill>
              <a:srgbClr val="008E4C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27000" y="-57150"/>
              <a:ext cx="307152" cy="339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16513447" y="929275"/>
            <a:ext cx="2270840" cy="899810"/>
          </a:xfrm>
          <a:custGeom>
            <a:avLst/>
            <a:gdLst/>
            <a:ahLst/>
            <a:cxnLst/>
            <a:rect r="r" b="b" t="t" l="l"/>
            <a:pathLst>
              <a:path h="899810" w="2270840">
                <a:moveTo>
                  <a:pt x="0" y="0"/>
                </a:moveTo>
                <a:lnTo>
                  <a:pt x="2270840" y="0"/>
                </a:lnTo>
                <a:lnTo>
                  <a:pt x="2270840" y="899810"/>
                </a:lnTo>
                <a:lnTo>
                  <a:pt x="0" y="899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0273" r="-2142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90604" y="9448800"/>
            <a:ext cx="1533144" cy="289381"/>
          </a:xfrm>
          <a:custGeom>
            <a:avLst/>
            <a:gdLst/>
            <a:ahLst/>
            <a:cxnLst/>
            <a:rect r="r" b="b" t="t" l="l"/>
            <a:pathLst>
              <a:path h="289381" w="1533144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13704" y="-82986"/>
            <a:ext cx="1097343" cy="548672"/>
          </a:xfrm>
          <a:custGeom>
            <a:avLst/>
            <a:gdLst/>
            <a:ahLst/>
            <a:cxnLst/>
            <a:rect r="r" b="b" t="t" l="l"/>
            <a:pathLst>
              <a:path h="548672" w="1097343">
                <a:moveTo>
                  <a:pt x="0" y="0"/>
                </a:moveTo>
                <a:lnTo>
                  <a:pt x="1097343" y="0"/>
                </a:lnTo>
                <a:lnTo>
                  <a:pt x="1097343" y="548671"/>
                </a:lnTo>
                <a:lnTo>
                  <a:pt x="0" y="5486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845800" y="1476621"/>
            <a:ext cx="6986863" cy="6057408"/>
            <a:chOff x="0" y="0"/>
            <a:chExt cx="727368" cy="630606"/>
          </a:xfrm>
        </p:grpSpPr>
        <p:sp>
          <p:nvSpPr>
            <p:cNvPr name="Freeform 13" id="13"/>
            <p:cNvSpPr/>
            <p:nvPr/>
          </p:nvSpPr>
          <p:spPr>
            <a:xfrm flipH="false" flipV="false" rot="60209">
              <a:off x="56" y="-2762"/>
              <a:ext cx="727256" cy="636131"/>
            </a:xfrm>
            <a:custGeom>
              <a:avLst/>
              <a:gdLst/>
              <a:ahLst/>
              <a:cxnLst/>
              <a:rect r="r" b="b" t="t" l="l"/>
              <a:pathLst>
                <a:path h="636131" w="727256">
                  <a:moveTo>
                    <a:pt x="727256" y="311696"/>
                  </a:moveTo>
                  <a:lnTo>
                    <a:pt x="529609" y="630510"/>
                  </a:lnTo>
                  <a:lnTo>
                    <a:pt x="208691" y="636131"/>
                  </a:lnTo>
                  <a:lnTo>
                    <a:pt x="0" y="324435"/>
                  </a:lnTo>
                  <a:lnTo>
                    <a:pt x="197647" y="5621"/>
                  </a:lnTo>
                  <a:lnTo>
                    <a:pt x="518565" y="0"/>
                  </a:lnTo>
                  <a:lnTo>
                    <a:pt x="727256" y="311696"/>
                  </a:lnTo>
                  <a:close/>
                </a:path>
              </a:pathLst>
            </a:custGeom>
            <a:blipFill>
              <a:blip r:embed="rId9"/>
              <a:stretch>
                <a:fillRect l="-28616" t="-265" r="-3818" b="-13288"/>
              </a:stretch>
            </a:blipFill>
            <a:ln w="1905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-5400000">
            <a:off x="13774878" y="5191268"/>
            <a:ext cx="4650437" cy="5047964"/>
          </a:xfrm>
          <a:custGeom>
            <a:avLst/>
            <a:gdLst/>
            <a:ahLst/>
            <a:cxnLst/>
            <a:rect r="r" b="b" t="t" l="l"/>
            <a:pathLst>
              <a:path h="5047964" w="4650437">
                <a:moveTo>
                  <a:pt x="0" y="0"/>
                </a:moveTo>
                <a:lnTo>
                  <a:pt x="4650436" y="0"/>
                </a:lnTo>
                <a:lnTo>
                  <a:pt x="4650436" y="5047964"/>
                </a:lnTo>
                <a:lnTo>
                  <a:pt x="0" y="50479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754694" y="5663561"/>
            <a:ext cx="4344078" cy="3766189"/>
            <a:chOff x="0" y="0"/>
            <a:chExt cx="727368" cy="6306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7368" cy="630606"/>
            </a:xfrm>
            <a:custGeom>
              <a:avLst/>
              <a:gdLst/>
              <a:ahLst/>
              <a:cxnLst/>
              <a:rect r="r" b="b" t="t" l="l"/>
              <a:pathLst>
                <a:path h="630606" w="727368">
                  <a:moveTo>
                    <a:pt x="727368" y="315303"/>
                  </a:moveTo>
                  <a:lnTo>
                    <a:pt x="524168" y="630606"/>
                  </a:lnTo>
                  <a:lnTo>
                    <a:pt x="203200" y="630606"/>
                  </a:lnTo>
                  <a:lnTo>
                    <a:pt x="0" y="315303"/>
                  </a:lnTo>
                  <a:lnTo>
                    <a:pt x="203200" y="0"/>
                  </a:lnTo>
                  <a:lnTo>
                    <a:pt x="524168" y="0"/>
                  </a:lnTo>
                  <a:lnTo>
                    <a:pt x="727368" y="315303"/>
                  </a:lnTo>
                  <a:close/>
                </a:path>
              </a:pathLst>
            </a:custGeom>
            <a:blipFill>
              <a:blip r:embed="rId12"/>
              <a:stretch>
                <a:fillRect l="-19472" t="-6500" r="-22302" b="-2860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7543907" y="9838093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2785432" y="10082120"/>
            <a:ext cx="12367883" cy="1399522"/>
          </a:xfrm>
          <a:custGeom>
            <a:avLst/>
            <a:gdLst/>
            <a:ahLst/>
            <a:cxnLst/>
            <a:rect r="r" b="b" t="t" l="l"/>
            <a:pathLst>
              <a:path h="1399522" w="12367883">
                <a:moveTo>
                  <a:pt x="0" y="0"/>
                </a:moveTo>
                <a:lnTo>
                  <a:pt x="12367884" y="0"/>
                </a:lnTo>
                <a:lnTo>
                  <a:pt x="12367884" y="1399523"/>
                </a:lnTo>
                <a:lnTo>
                  <a:pt x="0" y="13995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483256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73098">
            <a:off x="-606231" y="8756291"/>
            <a:ext cx="1752990" cy="1509762"/>
          </a:xfrm>
          <a:custGeom>
            <a:avLst/>
            <a:gdLst/>
            <a:ahLst/>
            <a:cxnLst/>
            <a:rect r="r" b="b" t="t" l="l"/>
            <a:pathLst>
              <a:path h="1509762" w="1752990">
                <a:moveTo>
                  <a:pt x="0" y="0"/>
                </a:moveTo>
                <a:lnTo>
                  <a:pt x="1752990" y="0"/>
                </a:lnTo>
                <a:lnTo>
                  <a:pt x="1752990" y="1509762"/>
                </a:lnTo>
                <a:lnTo>
                  <a:pt x="0" y="150976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28700" y="988522"/>
            <a:ext cx="1050746" cy="1225167"/>
          </a:xfrm>
          <a:custGeom>
            <a:avLst/>
            <a:gdLst/>
            <a:ahLst/>
            <a:cxnLst/>
            <a:rect r="r" b="b" t="t" l="l"/>
            <a:pathLst>
              <a:path h="1225167" w="1050746">
                <a:moveTo>
                  <a:pt x="0" y="0"/>
                </a:moveTo>
                <a:lnTo>
                  <a:pt x="1050746" y="0"/>
                </a:lnTo>
                <a:lnTo>
                  <a:pt x="1050746" y="1225167"/>
                </a:lnTo>
                <a:lnTo>
                  <a:pt x="0" y="12251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626" t="0" r="-7973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55089" y="9130524"/>
            <a:ext cx="5122510" cy="529641"/>
            <a:chOff x="0" y="0"/>
            <a:chExt cx="2058156" cy="2128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58156" cy="212803"/>
            </a:xfrm>
            <a:custGeom>
              <a:avLst/>
              <a:gdLst/>
              <a:ahLst/>
              <a:cxnLst/>
              <a:rect r="r" b="b" t="t" l="l"/>
              <a:pathLst>
                <a:path h="212803" w="2058156">
                  <a:moveTo>
                    <a:pt x="1854956" y="0"/>
                  </a:moveTo>
                  <a:lnTo>
                    <a:pt x="0" y="0"/>
                  </a:lnTo>
                  <a:lnTo>
                    <a:pt x="203200" y="212803"/>
                  </a:lnTo>
                  <a:lnTo>
                    <a:pt x="2058156" y="212803"/>
                  </a:lnTo>
                  <a:lnTo>
                    <a:pt x="1854956" y="0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57150"/>
              <a:ext cx="1854956" cy="269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03545" y="9159125"/>
            <a:ext cx="4953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26" u="sng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Date:</a:t>
            </a:r>
            <a:r>
              <a:rPr lang="en-US" sz="2400" spc="26" u="sng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24 September, 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72857" y="1168671"/>
            <a:ext cx="7180105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4"/>
              </a:lnSpc>
            </a:pPr>
            <a:r>
              <a:rPr lang="en-US" sz="3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Bangladesh Army University of Science and Technology (BAUST)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311400"/>
            <a:ext cx="8670784" cy="3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499" b="true">
                <a:solidFill>
                  <a:srgbClr val="00733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Department of Computer Science and Engineering (CSE)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8225" y="6255837"/>
            <a:ext cx="2380707" cy="3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b="true" sz="2499" u="sng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Presented By: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8225" y="6706687"/>
            <a:ext cx="3749627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4"/>
              </a:lnSpc>
            </a:pPr>
            <a:r>
              <a:rPr lang="en-US" b="true" sz="26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Name: </a:t>
            </a:r>
            <a:r>
              <a:rPr lang="en-US" b="true" sz="2699" strike="noStrike" u="non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Swapnil Sett</a:t>
            </a:r>
          </a:p>
          <a:p>
            <a:pPr algn="l" marL="0" indent="0" lvl="0">
              <a:lnSpc>
                <a:spcPts val="3124"/>
              </a:lnSpc>
            </a:pPr>
            <a:r>
              <a:rPr lang="en-US" sz="2499" strike="noStrike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ID: 220201011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76494" y="6257875"/>
            <a:ext cx="2380707" cy="3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499" u="sng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Presented To: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76494" y="6700732"/>
            <a:ext cx="5436572" cy="7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699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Engr. Rohul Amin</a:t>
            </a:r>
          </a:p>
          <a:p>
            <a:pPr algn="l">
              <a:lnSpc>
                <a:spcPts val="2824"/>
              </a:lnSpc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Le</a:t>
            </a: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cturer of CSE, BAUST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76494" y="7629525"/>
            <a:ext cx="4142079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499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Nadim</a:t>
            </a:r>
            <a:r>
              <a:rPr lang="en-US" sz="2499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Reza</a:t>
            </a:r>
          </a:p>
          <a:p>
            <a:pPr algn="l">
              <a:lnSpc>
                <a:spcPts val="2824"/>
              </a:lnSpc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Lecturer </a:t>
            </a: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of CSE, BAUST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3876027"/>
            <a:ext cx="7962900" cy="81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2599" spc="28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Course Code: CSE 4140</a:t>
            </a:r>
          </a:p>
          <a:p>
            <a:pPr algn="l">
              <a:lnSpc>
                <a:spcPts val="3171"/>
              </a:lnSpc>
            </a:pPr>
            <a:r>
              <a:rPr lang="en-US" sz="2599" spc="28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Course Title: Machine Learning Sessional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4868036"/>
            <a:ext cx="10209392" cy="91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4"/>
              </a:lnSpc>
            </a:pPr>
            <a:r>
              <a:rPr lang="en-US" sz="3499" b="true">
                <a:solidFill>
                  <a:srgbClr val="00733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Title</a:t>
            </a:r>
          </a:p>
          <a:p>
            <a:pPr algn="l">
              <a:lnSpc>
                <a:spcPts val="3163"/>
              </a:lnSpc>
            </a:pPr>
            <a:r>
              <a:rPr lang="en-US" sz="2799" b="true">
                <a:solidFill>
                  <a:srgbClr val="00733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Medical Insurance Cost Prediction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3113" y="9251081"/>
            <a:ext cx="5321313" cy="2446670"/>
            <a:chOff x="0" y="0"/>
            <a:chExt cx="1223810" cy="562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3810" cy="562692"/>
            </a:xfrm>
            <a:custGeom>
              <a:avLst/>
              <a:gdLst/>
              <a:ahLst/>
              <a:cxnLst/>
              <a:rect r="r" b="b" t="t" l="l"/>
              <a:pathLst>
                <a:path h="562692" w="1223810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57150"/>
              <a:ext cx="99521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73113" y="8675100"/>
            <a:ext cx="2673102" cy="1151961"/>
            <a:chOff x="0" y="0"/>
            <a:chExt cx="1482931" cy="6390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2931" cy="639062"/>
            </a:xfrm>
            <a:custGeom>
              <a:avLst/>
              <a:gdLst/>
              <a:ahLst/>
              <a:cxnLst/>
              <a:rect r="r" b="b" t="t" l="l"/>
              <a:pathLst>
                <a:path h="639062" w="1482931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57150"/>
              <a:ext cx="1254331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-1086039" y="3863443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9050" y="-505871"/>
            <a:ext cx="7034436" cy="796001"/>
          </a:xfrm>
          <a:custGeom>
            <a:avLst/>
            <a:gdLst/>
            <a:ahLst/>
            <a:cxnLst/>
            <a:rect r="r" b="b" t="t" l="l"/>
            <a:pathLst>
              <a:path h="796001" w="7034436">
                <a:moveTo>
                  <a:pt x="0" y="796002"/>
                </a:moveTo>
                <a:lnTo>
                  <a:pt x="7034436" y="796002"/>
                </a:lnTo>
                <a:lnTo>
                  <a:pt x="7034436" y="0"/>
                </a:lnTo>
                <a:lnTo>
                  <a:pt x="0" y="0"/>
                </a:lnTo>
                <a:lnTo>
                  <a:pt x="0" y="7960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3256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345202" y="-277743"/>
            <a:ext cx="1752990" cy="1509762"/>
          </a:xfrm>
          <a:custGeom>
            <a:avLst/>
            <a:gdLst/>
            <a:ahLst/>
            <a:cxnLst/>
            <a:rect r="r" b="b" t="t" l="l"/>
            <a:pathLst>
              <a:path h="1509762" w="1752990">
                <a:moveTo>
                  <a:pt x="0" y="1509762"/>
                </a:moveTo>
                <a:lnTo>
                  <a:pt x="1752989" y="1509762"/>
                </a:lnTo>
                <a:lnTo>
                  <a:pt x="1752989" y="0"/>
                </a:lnTo>
                <a:lnTo>
                  <a:pt x="0" y="0"/>
                </a:lnTo>
                <a:lnTo>
                  <a:pt x="0" y="150976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5906727" y="9158438"/>
            <a:ext cx="2755050" cy="1071412"/>
            <a:chOff x="0" y="0"/>
            <a:chExt cx="1643297" cy="6390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3297" cy="639062"/>
            </a:xfrm>
            <a:custGeom>
              <a:avLst/>
              <a:gdLst/>
              <a:ahLst/>
              <a:cxnLst/>
              <a:rect r="r" b="b" t="t" l="l"/>
              <a:pathLst>
                <a:path h="639062" w="1643297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9704947"/>
            <a:ext cx="9772019" cy="1198000"/>
            <a:chOff x="0" y="0"/>
            <a:chExt cx="5212796" cy="6390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2797" cy="639062"/>
            </a:xfrm>
            <a:custGeom>
              <a:avLst/>
              <a:gdLst/>
              <a:ahLst/>
              <a:cxnLst/>
              <a:rect r="r" b="b" t="t" l="l"/>
              <a:pathLst>
                <a:path h="639062" w="5212797">
                  <a:moveTo>
                    <a:pt x="5212797" y="319531"/>
                  </a:moveTo>
                  <a:lnTo>
                    <a:pt x="50095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5009597" y="0"/>
                  </a:lnTo>
                  <a:lnTo>
                    <a:pt x="52127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57150"/>
              <a:ext cx="4984196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113824" y="3282668"/>
            <a:ext cx="9489442" cy="38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Medical insurance costs are rising globally</a:t>
            </a:r>
          </a:p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Costs are influenced by key demographic and health factors </a:t>
            </a:r>
          </a:p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Machine Learning can analyze large datasets and uncover patterns that determine medical expenses.</a:t>
            </a:r>
          </a:p>
          <a:p>
            <a:pPr algn="l">
              <a:lnSpc>
                <a:spcPts val="624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327920" y="3429000"/>
            <a:ext cx="659624" cy="659624"/>
            <a:chOff x="0" y="0"/>
            <a:chExt cx="879498" cy="8794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9498" cy="879498"/>
            </a:xfrm>
            <a:custGeom>
              <a:avLst/>
              <a:gdLst/>
              <a:ahLst/>
              <a:cxnLst/>
              <a:rect r="r" b="b" t="t" l="l"/>
              <a:pathLst>
                <a:path h="879498" w="879498">
                  <a:moveTo>
                    <a:pt x="0" y="0"/>
                  </a:moveTo>
                  <a:lnTo>
                    <a:pt x="879498" y="0"/>
                  </a:lnTo>
                  <a:lnTo>
                    <a:pt x="879498" y="879498"/>
                  </a:lnTo>
                  <a:lnTo>
                    <a:pt x="0" y="879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6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158861" y="158861"/>
              <a:ext cx="561776" cy="561776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E4C"/>
              </a:soli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1327920" y="4286250"/>
            <a:ext cx="659624" cy="659624"/>
            <a:chOff x="0" y="0"/>
            <a:chExt cx="879498" cy="8794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9498" cy="879498"/>
            </a:xfrm>
            <a:custGeom>
              <a:avLst/>
              <a:gdLst/>
              <a:ahLst/>
              <a:cxnLst/>
              <a:rect r="r" b="b" t="t" l="l"/>
              <a:pathLst>
                <a:path h="879498" w="879498">
                  <a:moveTo>
                    <a:pt x="0" y="0"/>
                  </a:moveTo>
                  <a:lnTo>
                    <a:pt x="879498" y="0"/>
                  </a:lnTo>
                  <a:lnTo>
                    <a:pt x="879498" y="879498"/>
                  </a:lnTo>
                  <a:lnTo>
                    <a:pt x="0" y="879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6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158861" y="158861"/>
              <a:ext cx="561776" cy="56177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E4C"/>
              </a:soli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-10800000">
            <a:off x="14564053" y="-1477201"/>
            <a:ext cx="5390494" cy="2446670"/>
            <a:chOff x="0" y="0"/>
            <a:chExt cx="1239720" cy="5626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39720" cy="562692"/>
            </a:xfrm>
            <a:custGeom>
              <a:avLst/>
              <a:gdLst/>
              <a:ahLst/>
              <a:cxnLst/>
              <a:rect r="r" b="b" t="t" l="l"/>
              <a:pathLst>
                <a:path h="562692" w="123972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290317" y="2231073"/>
            <a:ext cx="6005058" cy="5554679"/>
          </a:xfrm>
          <a:custGeom>
            <a:avLst/>
            <a:gdLst/>
            <a:ahLst/>
            <a:cxnLst/>
            <a:rect r="r" b="b" t="t" l="l"/>
            <a:pathLst>
              <a:path h="5554679" w="6005058">
                <a:moveTo>
                  <a:pt x="0" y="0"/>
                </a:moveTo>
                <a:lnTo>
                  <a:pt x="6005058" y="0"/>
                </a:lnTo>
                <a:lnTo>
                  <a:pt x="6005058" y="5554678"/>
                </a:lnTo>
                <a:lnTo>
                  <a:pt x="0" y="55546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44600" y="1676400"/>
            <a:ext cx="6197600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Introduction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654760" y="9228973"/>
            <a:ext cx="1281232" cy="4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b="true" sz="242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Page: 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91356" y="9796577"/>
            <a:ext cx="771272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</a:t>
            </a:r>
            <a:r>
              <a:rPr lang="en-US" b="true" sz="21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ical Insurance Cost Prediction Using Machine Learning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44600" y="5112244"/>
            <a:ext cx="659624" cy="659624"/>
            <a:chOff x="0" y="0"/>
            <a:chExt cx="879498" cy="87949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9498" cy="879498"/>
            </a:xfrm>
            <a:custGeom>
              <a:avLst/>
              <a:gdLst/>
              <a:ahLst/>
              <a:cxnLst/>
              <a:rect r="r" b="b" t="t" l="l"/>
              <a:pathLst>
                <a:path h="879498" w="879498">
                  <a:moveTo>
                    <a:pt x="0" y="0"/>
                  </a:moveTo>
                  <a:lnTo>
                    <a:pt x="879498" y="0"/>
                  </a:lnTo>
                  <a:lnTo>
                    <a:pt x="879498" y="879498"/>
                  </a:lnTo>
                  <a:lnTo>
                    <a:pt x="0" y="879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6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8" id="38"/>
            <p:cNvGrpSpPr/>
            <p:nvPr/>
          </p:nvGrpSpPr>
          <p:grpSpPr>
            <a:xfrm rot="0">
              <a:off x="158861" y="158861"/>
              <a:ext cx="561776" cy="561776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E4C"/>
              </a:soli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4564053" y="-1477201"/>
            <a:ext cx="5390494" cy="2446670"/>
            <a:chOff x="0" y="0"/>
            <a:chExt cx="1239720" cy="562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9720" cy="562692"/>
            </a:xfrm>
            <a:custGeom>
              <a:avLst/>
              <a:gdLst/>
              <a:ahLst/>
              <a:cxnLst/>
              <a:rect r="r" b="b" t="t" l="l"/>
              <a:pathLst>
                <a:path h="562692" w="123972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17201961" y="7523947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528080"/>
            <a:ext cx="1533144" cy="289381"/>
          </a:xfrm>
          <a:custGeom>
            <a:avLst/>
            <a:gdLst/>
            <a:ahLst/>
            <a:cxnLst/>
            <a:rect r="r" b="b" t="t" l="l"/>
            <a:pathLst>
              <a:path h="289381" w="1533144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919895" y="9853727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147828" y="3923639"/>
            <a:ext cx="9615445" cy="659624"/>
            <a:chOff x="0" y="0"/>
            <a:chExt cx="12820594" cy="87949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328230" y="-135984"/>
              <a:ext cx="11492364" cy="827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49"/>
                </a:lnSpc>
              </a:pPr>
              <a:r>
                <a:rPr lang="en-US" sz="2499">
                  <a:solidFill>
                    <a:srgbClr val="1D1A1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Analyze key factors affecting medical insurance costs.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9498" cy="879498"/>
            </a:xfrm>
            <a:custGeom>
              <a:avLst/>
              <a:gdLst/>
              <a:ahLst/>
              <a:cxnLst/>
              <a:rect r="r" b="b" t="t" l="l"/>
              <a:pathLst>
                <a:path h="879498" w="879498">
                  <a:moveTo>
                    <a:pt x="0" y="0"/>
                  </a:moveTo>
                  <a:lnTo>
                    <a:pt x="879498" y="0"/>
                  </a:lnTo>
                  <a:lnTo>
                    <a:pt x="879498" y="879498"/>
                  </a:lnTo>
                  <a:lnTo>
                    <a:pt x="0" y="879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6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158861" y="158861"/>
              <a:ext cx="561776" cy="56177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E4C"/>
              </a:soli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9144000" y="4686062"/>
            <a:ext cx="8619273" cy="228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Build a Linear Regression model for cost prediction.</a:t>
            </a: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147828" y="4869012"/>
            <a:ext cx="659624" cy="659624"/>
          </a:xfrm>
          <a:custGeom>
            <a:avLst/>
            <a:gdLst/>
            <a:ahLst/>
            <a:cxnLst/>
            <a:rect r="r" b="b" t="t" l="l"/>
            <a:pathLst>
              <a:path h="659624" w="659624">
                <a:moveTo>
                  <a:pt x="0" y="0"/>
                </a:moveTo>
                <a:lnTo>
                  <a:pt x="659624" y="0"/>
                </a:lnTo>
                <a:lnTo>
                  <a:pt x="659624" y="659624"/>
                </a:lnTo>
                <a:lnTo>
                  <a:pt x="0" y="6596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266974" y="4988158"/>
            <a:ext cx="421332" cy="42133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E4C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47828" y="5814386"/>
            <a:ext cx="9615445" cy="1309300"/>
            <a:chOff x="0" y="0"/>
            <a:chExt cx="12820594" cy="1745733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328230" y="-135984"/>
              <a:ext cx="11492364" cy="188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49"/>
                </a:lnSpc>
              </a:pPr>
              <a:r>
                <a:rPr lang="en-US" sz="2499">
                  <a:solidFill>
                    <a:srgbClr val="1D1A1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Evaluate model performance using accuracy metrics</a:t>
              </a:r>
            </a:p>
            <a:p>
              <a:pPr algn="l">
                <a:lnSpc>
                  <a:spcPts val="6249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9498" cy="879498"/>
            </a:xfrm>
            <a:custGeom>
              <a:avLst/>
              <a:gdLst/>
              <a:ahLst/>
              <a:cxnLst/>
              <a:rect r="r" b="b" t="t" l="l"/>
              <a:pathLst>
                <a:path h="879498" w="879498">
                  <a:moveTo>
                    <a:pt x="0" y="0"/>
                  </a:moveTo>
                  <a:lnTo>
                    <a:pt x="879498" y="0"/>
                  </a:lnTo>
                  <a:lnTo>
                    <a:pt x="879498" y="879498"/>
                  </a:lnTo>
                  <a:lnTo>
                    <a:pt x="0" y="879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6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158861" y="158861"/>
              <a:ext cx="561776" cy="561776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E4C"/>
              </a:soli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sp>
        <p:nvSpPr>
          <p:cNvPr name="TextBox 26" id="26"/>
          <p:cNvSpPr txBox="true"/>
          <p:nvPr/>
        </p:nvSpPr>
        <p:spPr>
          <a:xfrm rot="0">
            <a:off x="8216900" y="2356485"/>
            <a:ext cx="8469768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Objectives</a:t>
            </a:r>
          </a:p>
        </p:txBody>
      </p:sp>
      <p:grpSp>
        <p:nvGrpSpPr>
          <p:cNvPr name="Group 27" id="27"/>
          <p:cNvGrpSpPr/>
          <p:nvPr/>
        </p:nvGrpSpPr>
        <p:grpSpPr>
          <a:xfrm rot="-10800000">
            <a:off x="15906727" y="9158438"/>
            <a:ext cx="2755050" cy="1071412"/>
            <a:chOff x="0" y="0"/>
            <a:chExt cx="1643297" cy="6390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3297" cy="639062"/>
            </a:xfrm>
            <a:custGeom>
              <a:avLst/>
              <a:gdLst/>
              <a:ahLst/>
              <a:cxnLst/>
              <a:rect r="r" b="b" t="t" l="l"/>
              <a:pathLst>
                <a:path h="639062" w="1643297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0" y="9704947"/>
            <a:ext cx="9772019" cy="1198000"/>
            <a:chOff x="0" y="0"/>
            <a:chExt cx="5212796" cy="6390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12797" cy="639062"/>
            </a:xfrm>
            <a:custGeom>
              <a:avLst/>
              <a:gdLst/>
              <a:ahLst/>
              <a:cxnLst/>
              <a:rect r="r" b="b" t="t" l="l"/>
              <a:pathLst>
                <a:path h="639062" w="5212797">
                  <a:moveTo>
                    <a:pt x="5212797" y="319531"/>
                  </a:moveTo>
                  <a:lnTo>
                    <a:pt x="50095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5009597" y="0"/>
                  </a:lnTo>
                  <a:lnTo>
                    <a:pt x="52127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57150"/>
              <a:ext cx="4984196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996172" y="2126472"/>
            <a:ext cx="6446028" cy="6446028"/>
          </a:xfrm>
          <a:custGeom>
            <a:avLst/>
            <a:gdLst/>
            <a:ahLst/>
            <a:cxnLst/>
            <a:rect r="r" b="b" t="t" l="l"/>
            <a:pathLst>
              <a:path h="6446028" w="6446028">
                <a:moveTo>
                  <a:pt x="0" y="0"/>
                </a:moveTo>
                <a:lnTo>
                  <a:pt x="6446028" y="0"/>
                </a:lnTo>
                <a:lnTo>
                  <a:pt x="6446028" y="6446028"/>
                </a:lnTo>
                <a:lnTo>
                  <a:pt x="0" y="64460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6463931" y="9228973"/>
            <a:ext cx="1472060" cy="4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b="true" sz="242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Page: 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91356" y="9796577"/>
            <a:ext cx="771272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</a:t>
            </a:r>
            <a:r>
              <a:rPr lang="en-US" b="true" sz="21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ical Insurance Cost Prediction Using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4564053" y="-1477201"/>
            <a:ext cx="5390494" cy="2446670"/>
            <a:chOff x="0" y="0"/>
            <a:chExt cx="1239720" cy="562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9720" cy="562692"/>
            </a:xfrm>
            <a:custGeom>
              <a:avLst/>
              <a:gdLst/>
              <a:ahLst/>
              <a:cxnLst/>
              <a:rect r="r" b="b" t="t" l="l"/>
              <a:pathLst>
                <a:path h="562692" w="123972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17201961" y="7523947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528080"/>
            <a:ext cx="1533144" cy="289381"/>
          </a:xfrm>
          <a:custGeom>
            <a:avLst/>
            <a:gdLst/>
            <a:ahLst/>
            <a:cxnLst/>
            <a:rect r="r" b="b" t="t" l="l"/>
            <a:pathLst>
              <a:path h="289381" w="1533144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919895" y="9853727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89877" y="4100803"/>
            <a:ext cx="9615445" cy="659624"/>
            <a:chOff x="0" y="0"/>
            <a:chExt cx="12820594" cy="87949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328230" y="-135984"/>
              <a:ext cx="11492364" cy="827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49"/>
                </a:lnSpc>
              </a:pPr>
              <a:r>
                <a:rPr lang="en-US" sz="2499" b="true">
                  <a:solidFill>
                    <a:srgbClr val="1D1A1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Source:</a:t>
              </a:r>
              <a:r>
                <a:rPr lang="en-US" sz="2499">
                  <a:solidFill>
                    <a:srgbClr val="1D1A1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Kaggle – Medical Insurance Cost Dataset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9498" cy="879498"/>
            </a:xfrm>
            <a:custGeom>
              <a:avLst/>
              <a:gdLst/>
              <a:ahLst/>
              <a:cxnLst/>
              <a:rect r="r" b="b" t="t" l="l"/>
              <a:pathLst>
                <a:path h="879498" w="879498">
                  <a:moveTo>
                    <a:pt x="0" y="0"/>
                  </a:moveTo>
                  <a:lnTo>
                    <a:pt x="879498" y="0"/>
                  </a:lnTo>
                  <a:lnTo>
                    <a:pt x="879498" y="879498"/>
                  </a:lnTo>
                  <a:lnTo>
                    <a:pt x="0" y="879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6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158861" y="158861"/>
              <a:ext cx="561776" cy="56177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E4C"/>
              </a:soli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1389877" y="5046177"/>
            <a:ext cx="659624" cy="659624"/>
          </a:xfrm>
          <a:custGeom>
            <a:avLst/>
            <a:gdLst/>
            <a:ahLst/>
            <a:cxnLst/>
            <a:rect r="r" b="b" t="t" l="l"/>
            <a:pathLst>
              <a:path h="659624" w="659624">
                <a:moveTo>
                  <a:pt x="0" y="0"/>
                </a:moveTo>
                <a:lnTo>
                  <a:pt x="659624" y="0"/>
                </a:lnTo>
                <a:lnTo>
                  <a:pt x="659624" y="659624"/>
                </a:lnTo>
                <a:lnTo>
                  <a:pt x="0" y="6596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09023" y="5165323"/>
            <a:ext cx="421332" cy="42133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E4C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89877" y="5991551"/>
            <a:ext cx="9615445" cy="2099875"/>
            <a:chOff x="0" y="0"/>
            <a:chExt cx="12820594" cy="279983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1328230" y="-135984"/>
              <a:ext cx="11492364" cy="2935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49"/>
                </a:lnSpc>
              </a:pPr>
              <a:r>
                <a:rPr lang="en-US" sz="2499" b="true">
                  <a:solidFill>
                    <a:srgbClr val="1D1A1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Features:</a:t>
              </a:r>
              <a:r>
                <a:rPr lang="en-US" sz="2499">
                  <a:solidFill>
                    <a:srgbClr val="1D1A1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7 attributes</a:t>
              </a:r>
            </a:p>
            <a:p>
              <a:pPr algn="l">
                <a:lnSpc>
                  <a:spcPts val="6249"/>
                </a:lnSpc>
              </a:pPr>
            </a:p>
            <a:p>
              <a:pPr algn="l">
                <a:lnSpc>
                  <a:spcPts val="6249"/>
                </a:lnSpc>
              </a:pP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9498" cy="879498"/>
            </a:xfrm>
            <a:custGeom>
              <a:avLst/>
              <a:gdLst/>
              <a:ahLst/>
              <a:cxnLst/>
              <a:rect r="r" b="b" t="t" l="l"/>
              <a:pathLst>
                <a:path h="879498" w="879498">
                  <a:moveTo>
                    <a:pt x="0" y="0"/>
                  </a:moveTo>
                  <a:lnTo>
                    <a:pt x="879498" y="0"/>
                  </a:lnTo>
                  <a:lnTo>
                    <a:pt x="879498" y="879498"/>
                  </a:lnTo>
                  <a:lnTo>
                    <a:pt x="0" y="879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6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158861" y="158861"/>
              <a:ext cx="561776" cy="56177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E4C"/>
              </a:soli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-10800000">
            <a:off x="15906727" y="9158438"/>
            <a:ext cx="2755050" cy="1071412"/>
            <a:chOff x="0" y="0"/>
            <a:chExt cx="1643297" cy="6390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3297" cy="639062"/>
            </a:xfrm>
            <a:custGeom>
              <a:avLst/>
              <a:gdLst/>
              <a:ahLst/>
              <a:cxnLst/>
              <a:rect r="r" b="b" t="t" l="l"/>
              <a:pathLst>
                <a:path h="639062" w="1643297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0" y="9704947"/>
            <a:ext cx="9772019" cy="1198000"/>
            <a:chOff x="0" y="0"/>
            <a:chExt cx="5212796" cy="6390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12797" cy="639062"/>
            </a:xfrm>
            <a:custGeom>
              <a:avLst/>
              <a:gdLst/>
              <a:ahLst/>
              <a:cxnLst/>
              <a:rect r="r" b="b" t="t" l="l"/>
              <a:pathLst>
                <a:path h="639062" w="5212797">
                  <a:moveTo>
                    <a:pt x="5212797" y="319531"/>
                  </a:moveTo>
                  <a:lnTo>
                    <a:pt x="50095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5009597" y="0"/>
                  </a:lnTo>
                  <a:lnTo>
                    <a:pt x="52127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14300" y="-57150"/>
              <a:ext cx="4984196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386050" y="4863226"/>
            <a:ext cx="861927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Total Records:</a:t>
            </a: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 1,338 entries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8950" y="2533650"/>
            <a:ext cx="8469768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63931" y="9228973"/>
            <a:ext cx="1472060" cy="4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b="true" sz="242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Page: 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91356" y="9796577"/>
            <a:ext cx="771272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</a:t>
            </a:r>
            <a:r>
              <a:rPr lang="en-US" b="true" sz="21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ical Insurance Cost Prediction Using 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3113" y="9251081"/>
            <a:ext cx="5321313" cy="2446670"/>
            <a:chOff x="0" y="0"/>
            <a:chExt cx="1223810" cy="562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3810" cy="562692"/>
            </a:xfrm>
            <a:custGeom>
              <a:avLst/>
              <a:gdLst/>
              <a:ahLst/>
              <a:cxnLst/>
              <a:rect r="r" b="b" t="t" l="l"/>
              <a:pathLst>
                <a:path h="562692" w="1223810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57150"/>
              <a:ext cx="99521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73113" y="8675100"/>
            <a:ext cx="2673102" cy="1151961"/>
            <a:chOff x="0" y="0"/>
            <a:chExt cx="1482931" cy="6390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2931" cy="639062"/>
            </a:xfrm>
            <a:custGeom>
              <a:avLst/>
              <a:gdLst/>
              <a:ahLst/>
              <a:cxnLst/>
              <a:rect r="r" b="b" t="t" l="l"/>
              <a:pathLst>
                <a:path h="639062" w="1482931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57150"/>
              <a:ext cx="1254331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-1086039" y="3863443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4564053" y="-1477201"/>
            <a:ext cx="5390494" cy="2446670"/>
            <a:chOff x="0" y="0"/>
            <a:chExt cx="1239720" cy="5626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9720" cy="562692"/>
            </a:xfrm>
            <a:custGeom>
              <a:avLst/>
              <a:gdLst/>
              <a:ahLst/>
              <a:cxnLst/>
              <a:rect r="r" b="b" t="t" l="l"/>
              <a:pathLst>
                <a:path h="562692" w="123972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5400000">
            <a:off x="17201961" y="7533472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9050" y="-505871"/>
            <a:ext cx="7034436" cy="796001"/>
          </a:xfrm>
          <a:custGeom>
            <a:avLst/>
            <a:gdLst/>
            <a:ahLst/>
            <a:cxnLst/>
            <a:rect r="r" b="b" t="t" l="l"/>
            <a:pathLst>
              <a:path h="796001" w="7034436">
                <a:moveTo>
                  <a:pt x="0" y="796002"/>
                </a:moveTo>
                <a:lnTo>
                  <a:pt x="7034436" y="796002"/>
                </a:lnTo>
                <a:lnTo>
                  <a:pt x="7034436" y="0"/>
                </a:lnTo>
                <a:lnTo>
                  <a:pt x="0" y="0"/>
                </a:lnTo>
                <a:lnTo>
                  <a:pt x="0" y="7960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3256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-345202" y="-277743"/>
            <a:ext cx="1752990" cy="1509762"/>
          </a:xfrm>
          <a:custGeom>
            <a:avLst/>
            <a:gdLst/>
            <a:ahLst/>
            <a:cxnLst/>
            <a:rect r="r" b="b" t="t" l="l"/>
            <a:pathLst>
              <a:path h="1509762" w="1752990">
                <a:moveTo>
                  <a:pt x="0" y="1509762"/>
                </a:moveTo>
                <a:lnTo>
                  <a:pt x="1752989" y="1509762"/>
                </a:lnTo>
                <a:lnTo>
                  <a:pt x="1752989" y="0"/>
                </a:lnTo>
                <a:lnTo>
                  <a:pt x="0" y="0"/>
                </a:lnTo>
                <a:lnTo>
                  <a:pt x="0" y="150976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15906727" y="9158438"/>
            <a:ext cx="2755050" cy="1071412"/>
            <a:chOff x="0" y="0"/>
            <a:chExt cx="1643297" cy="6390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3297" cy="639062"/>
            </a:xfrm>
            <a:custGeom>
              <a:avLst/>
              <a:gdLst/>
              <a:ahLst/>
              <a:cxnLst/>
              <a:rect r="r" b="b" t="t" l="l"/>
              <a:pathLst>
                <a:path h="639062" w="1643297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0" y="9704947"/>
            <a:ext cx="9772019" cy="1198000"/>
            <a:chOff x="0" y="0"/>
            <a:chExt cx="5212796" cy="6390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12797" cy="639062"/>
            </a:xfrm>
            <a:custGeom>
              <a:avLst/>
              <a:gdLst/>
              <a:ahLst/>
              <a:cxnLst/>
              <a:rect r="r" b="b" t="t" l="l"/>
              <a:pathLst>
                <a:path h="639062" w="5212797">
                  <a:moveTo>
                    <a:pt x="5212797" y="319531"/>
                  </a:moveTo>
                  <a:lnTo>
                    <a:pt x="50095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5009597" y="0"/>
                  </a:lnTo>
                  <a:lnTo>
                    <a:pt x="52127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57150"/>
              <a:ext cx="4984196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07787" y="3122606"/>
            <a:ext cx="3086100" cy="940795"/>
            <a:chOff x="0" y="0"/>
            <a:chExt cx="635000" cy="193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" cy="193579"/>
            </a:xfrm>
            <a:custGeom>
              <a:avLst/>
              <a:gdLst/>
              <a:ahLst/>
              <a:cxnLst/>
              <a:rect r="r" b="b" t="t" l="l"/>
              <a:pathLst>
                <a:path h="193579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144582"/>
                  </a:lnTo>
                  <a:cubicBezTo>
                    <a:pt x="635000" y="171642"/>
                    <a:pt x="613063" y="193579"/>
                    <a:pt x="586003" y="193579"/>
                  </a:cubicBezTo>
                  <a:lnTo>
                    <a:pt x="48997" y="193579"/>
                  </a:lnTo>
                  <a:cubicBezTo>
                    <a:pt x="36002" y="193579"/>
                    <a:pt x="23540" y="188417"/>
                    <a:pt x="14351" y="179228"/>
                  </a:cubicBezTo>
                  <a:cubicBezTo>
                    <a:pt x="5162" y="170040"/>
                    <a:pt x="0" y="157577"/>
                    <a:pt x="0" y="144582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35000" cy="250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10800000">
            <a:off x="4502533" y="3293963"/>
            <a:ext cx="1231980" cy="656058"/>
            <a:chOff x="0" y="0"/>
            <a:chExt cx="647700" cy="3449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7700" cy="344916"/>
            </a:xfrm>
            <a:custGeom>
              <a:avLst/>
              <a:gdLst/>
              <a:ahLst/>
              <a:cxnLst/>
              <a:rect r="r" b="b" t="t" l="l"/>
              <a:pathLst>
                <a:path h="344916" w="647700">
                  <a:moveTo>
                    <a:pt x="239386" y="165195"/>
                  </a:moveTo>
                  <a:lnTo>
                    <a:pt x="647700" y="165195"/>
                  </a:lnTo>
                  <a:lnTo>
                    <a:pt x="647700" y="179717"/>
                  </a:lnTo>
                  <a:lnTo>
                    <a:pt x="239373" y="179717"/>
                  </a:lnTo>
                  <a:lnTo>
                    <a:pt x="302255" y="344916"/>
                  </a:lnTo>
                  <a:lnTo>
                    <a:pt x="0" y="172458"/>
                  </a:lnTo>
                  <a:lnTo>
                    <a:pt x="302255" y="0"/>
                  </a:lnTo>
                  <a:lnTo>
                    <a:pt x="239386" y="165195"/>
                  </a:lnTo>
                  <a:close/>
                </a:path>
              </a:pathLst>
            </a:custGeom>
            <a:solidFill>
              <a:srgbClr val="00733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0650" y="107950"/>
              <a:ext cx="527050" cy="71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44600" y="1212969"/>
            <a:ext cx="9762558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Methodology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7045" y="3109229"/>
            <a:ext cx="654649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Collection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265244" y="9228973"/>
            <a:ext cx="1676939" cy="4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b="true" sz="242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Page: 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91356" y="9796577"/>
            <a:ext cx="771272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</a:t>
            </a:r>
            <a:r>
              <a:rPr lang="en-US" b="true" sz="21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ical Insurance Cost Prediction Using Machine Learning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50653" y="3408093"/>
            <a:ext cx="253003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Train Test Split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58758" y="5521325"/>
            <a:ext cx="4147969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Selection: 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Linear Regression Model</a:t>
            </a:r>
          </a:p>
          <a:p>
            <a:pPr algn="l">
              <a:lnSpc>
                <a:spcPts val="3499"/>
              </a:lnSpc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5749446" y="3151595"/>
            <a:ext cx="5096354" cy="2897203"/>
            <a:chOff x="0" y="0"/>
            <a:chExt cx="1048633" cy="5961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8633" cy="596132"/>
            </a:xfrm>
            <a:custGeom>
              <a:avLst/>
              <a:gdLst/>
              <a:ahLst/>
              <a:cxnLst/>
              <a:rect r="r" b="b" t="t" l="l"/>
              <a:pathLst>
                <a:path h="596132" w="1048633">
                  <a:moveTo>
                    <a:pt x="29670" y="0"/>
                  </a:moveTo>
                  <a:lnTo>
                    <a:pt x="1018962" y="0"/>
                  </a:lnTo>
                  <a:cubicBezTo>
                    <a:pt x="1026831" y="0"/>
                    <a:pt x="1034378" y="3126"/>
                    <a:pt x="1039942" y="8690"/>
                  </a:cubicBezTo>
                  <a:cubicBezTo>
                    <a:pt x="1045507" y="14254"/>
                    <a:pt x="1048633" y="21801"/>
                    <a:pt x="1048633" y="29670"/>
                  </a:cubicBezTo>
                  <a:lnTo>
                    <a:pt x="1048633" y="566462"/>
                  </a:lnTo>
                  <a:cubicBezTo>
                    <a:pt x="1048633" y="574331"/>
                    <a:pt x="1045507" y="581878"/>
                    <a:pt x="1039942" y="587442"/>
                  </a:cubicBezTo>
                  <a:cubicBezTo>
                    <a:pt x="1034378" y="593006"/>
                    <a:pt x="1026831" y="596132"/>
                    <a:pt x="1018962" y="596132"/>
                  </a:cubicBezTo>
                  <a:lnTo>
                    <a:pt x="29670" y="596132"/>
                  </a:lnTo>
                  <a:cubicBezTo>
                    <a:pt x="21801" y="596132"/>
                    <a:pt x="14254" y="593006"/>
                    <a:pt x="8690" y="587442"/>
                  </a:cubicBezTo>
                  <a:cubicBezTo>
                    <a:pt x="3126" y="581878"/>
                    <a:pt x="0" y="574331"/>
                    <a:pt x="0" y="566462"/>
                  </a:cubicBezTo>
                  <a:lnTo>
                    <a:pt x="0" y="29670"/>
                  </a:lnTo>
                  <a:cubicBezTo>
                    <a:pt x="0" y="21801"/>
                    <a:pt x="3126" y="14254"/>
                    <a:pt x="8690" y="8690"/>
                  </a:cubicBezTo>
                  <a:cubicBezTo>
                    <a:pt x="14254" y="3126"/>
                    <a:pt x="21801" y="0"/>
                    <a:pt x="296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048633" cy="653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10800000">
            <a:off x="10825827" y="3322951"/>
            <a:ext cx="1231980" cy="656058"/>
            <a:chOff x="0" y="0"/>
            <a:chExt cx="647700" cy="3449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7700" cy="344916"/>
            </a:xfrm>
            <a:custGeom>
              <a:avLst/>
              <a:gdLst/>
              <a:ahLst/>
              <a:cxnLst/>
              <a:rect r="r" b="b" t="t" l="l"/>
              <a:pathLst>
                <a:path h="344916" w="647700">
                  <a:moveTo>
                    <a:pt x="239386" y="165195"/>
                  </a:moveTo>
                  <a:lnTo>
                    <a:pt x="647700" y="165195"/>
                  </a:lnTo>
                  <a:lnTo>
                    <a:pt x="647700" y="179717"/>
                  </a:lnTo>
                  <a:lnTo>
                    <a:pt x="239373" y="179717"/>
                  </a:lnTo>
                  <a:lnTo>
                    <a:pt x="302255" y="344916"/>
                  </a:lnTo>
                  <a:lnTo>
                    <a:pt x="0" y="172458"/>
                  </a:lnTo>
                  <a:lnTo>
                    <a:pt x="302255" y="0"/>
                  </a:lnTo>
                  <a:lnTo>
                    <a:pt x="239386" y="165195"/>
                  </a:lnTo>
                  <a:close/>
                </a:path>
              </a:pathLst>
            </a:custGeom>
            <a:solidFill>
              <a:srgbClr val="00733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20650" y="107950"/>
              <a:ext cx="527050" cy="71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848704" y="3138218"/>
            <a:ext cx="314289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Preprocessing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848704" y="4041775"/>
            <a:ext cx="877589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Handling Missing Values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848704" y="4634512"/>
            <a:ext cx="877589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Encoding Categorical Variables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892800" y="5227249"/>
            <a:ext cx="464820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Feature Scaling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057807" y="3180583"/>
            <a:ext cx="2989956" cy="940795"/>
            <a:chOff x="0" y="0"/>
            <a:chExt cx="615217" cy="19357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5217" cy="193579"/>
            </a:xfrm>
            <a:custGeom>
              <a:avLst/>
              <a:gdLst/>
              <a:ahLst/>
              <a:cxnLst/>
              <a:rect r="r" b="b" t="t" l="l"/>
              <a:pathLst>
                <a:path h="193579" w="615217">
                  <a:moveTo>
                    <a:pt x="50572" y="0"/>
                  </a:moveTo>
                  <a:lnTo>
                    <a:pt x="564645" y="0"/>
                  </a:lnTo>
                  <a:cubicBezTo>
                    <a:pt x="592575" y="0"/>
                    <a:pt x="615217" y="22642"/>
                    <a:pt x="615217" y="50572"/>
                  </a:cubicBezTo>
                  <a:lnTo>
                    <a:pt x="615217" y="143007"/>
                  </a:lnTo>
                  <a:cubicBezTo>
                    <a:pt x="615217" y="170937"/>
                    <a:pt x="592575" y="193579"/>
                    <a:pt x="564645" y="193579"/>
                  </a:cubicBezTo>
                  <a:lnTo>
                    <a:pt x="50572" y="193579"/>
                  </a:lnTo>
                  <a:cubicBezTo>
                    <a:pt x="22642" y="193579"/>
                    <a:pt x="0" y="170937"/>
                    <a:pt x="0" y="143007"/>
                  </a:cubicBezTo>
                  <a:lnTo>
                    <a:pt x="0" y="50572"/>
                  </a:lnTo>
                  <a:cubicBezTo>
                    <a:pt x="0" y="22642"/>
                    <a:pt x="22642" y="0"/>
                    <a:pt x="505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15217" cy="250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5400000">
            <a:off x="12984867" y="4409338"/>
            <a:ext cx="1231980" cy="656058"/>
            <a:chOff x="0" y="0"/>
            <a:chExt cx="647700" cy="3449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7700" cy="344916"/>
            </a:xfrm>
            <a:custGeom>
              <a:avLst/>
              <a:gdLst/>
              <a:ahLst/>
              <a:cxnLst/>
              <a:rect r="r" b="b" t="t" l="l"/>
              <a:pathLst>
                <a:path h="344916" w="647700">
                  <a:moveTo>
                    <a:pt x="239386" y="165195"/>
                  </a:moveTo>
                  <a:lnTo>
                    <a:pt x="647700" y="165195"/>
                  </a:lnTo>
                  <a:lnTo>
                    <a:pt x="647700" y="179717"/>
                  </a:lnTo>
                  <a:lnTo>
                    <a:pt x="239373" y="179717"/>
                  </a:lnTo>
                  <a:lnTo>
                    <a:pt x="302255" y="344916"/>
                  </a:lnTo>
                  <a:lnTo>
                    <a:pt x="0" y="172458"/>
                  </a:lnTo>
                  <a:lnTo>
                    <a:pt x="302255" y="0"/>
                  </a:lnTo>
                  <a:lnTo>
                    <a:pt x="239386" y="165195"/>
                  </a:lnTo>
                  <a:close/>
                </a:path>
              </a:pathLst>
            </a:custGeom>
            <a:solidFill>
              <a:srgbClr val="00733D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20650" y="107950"/>
              <a:ext cx="527050" cy="71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441817" y="5391150"/>
            <a:ext cx="4333000" cy="1320911"/>
            <a:chOff x="0" y="0"/>
            <a:chExt cx="635000" cy="19357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5000" cy="193579"/>
            </a:xfrm>
            <a:custGeom>
              <a:avLst/>
              <a:gdLst/>
              <a:ahLst/>
              <a:cxnLst/>
              <a:rect r="r" b="b" t="t" l="l"/>
              <a:pathLst>
                <a:path h="193579" w="635000">
                  <a:moveTo>
                    <a:pt x="34897" y="0"/>
                  </a:moveTo>
                  <a:lnTo>
                    <a:pt x="600103" y="0"/>
                  </a:lnTo>
                  <a:cubicBezTo>
                    <a:pt x="619376" y="0"/>
                    <a:pt x="635000" y="15624"/>
                    <a:pt x="635000" y="34897"/>
                  </a:cubicBezTo>
                  <a:lnTo>
                    <a:pt x="635000" y="158682"/>
                  </a:lnTo>
                  <a:cubicBezTo>
                    <a:pt x="635000" y="177955"/>
                    <a:pt x="619376" y="193579"/>
                    <a:pt x="600103" y="193579"/>
                  </a:cubicBezTo>
                  <a:lnTo>
                    <a:pt x="34897" y="193579"/>
                  </a:lnTo>
                  <a:cubicBezTo>
                    <a:pt x="15624" y="193579"/>
                    <a:pt x="0" y="177955"/>
                    <a:pt x="0" y="158682"/>
                  </a:cubicBezTo>
                  <a:lnTo>
                    <a:pt x="0" y="34897"/>
                  </a:lnTo>
                  <a:cubicBezTo>
                    <a:pt x="0" y="15624"/>
                    <a:pt x="15624" y="0"/>
                    <a:pt x="3489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35000" cy="250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5400000">
            <a:off x="12888723" y="7000021"/>
            <a:ext cx="1231980" cy="656058"/>
            <a:chOff x="0" y="0"/>
            <a:chExt cx="647700" cy="3449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7700" cy="344916"/>
            </a:xfrm>
            <a:custGeom>
              <a:avLst/>
              <a:gdLst/>
              <a:ahLst/>
              <a:cxnLst/>
              <a:rect r="r" b="b" t="t" l="l"/>
              <a:pathLst>
                <a:path h="344916" w="647700">
                  <a:moveTo>
                    <a:pt x="239386" y="165195"/>
                  </a:moveTo>
                  <a:lnTo>
                    <a:pt x="647700" y="165195"/>
                  </a:lnTo>
                  <a:lnTo>
                    <a:pt x="647700" y="179717"/>
                  </a:lnTo>
                  <a:lnTo>
                    <a:pt x="239373" y="179717"/>
                  </a:lnTo>
                  <a:lnTo>
                    <a:pt x="302255" y="344916"/>
                  </a:lnTo>
                  <a:lnTo>
                    <a:pt x="0" y="172458"/>
                  </a:lnTo>
                  <a:lnTo>
                    <a:pt x="302255" y="0"/>
                  </a:lnTo>
                  <a:lnTo>
                    <a:pt x="239386" y="165195"/>
                  </a:lnTo>
                  <a:close/>
                </a:path>
              </a:pathLst>
            </a:custGeom>
            <a:solidFill>
              <a:srgbClr val="00733D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120650" y="107950"/>
              <a:ext cx="527050" cy="71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961663" y="7982140"/>
            <a:ext cx="3086100" cy="940795"/>
            <a:chOff x="0" y="0"/>
            <a:chExt cx="635000" cy="19357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5000" cy="193579"/>
            </a:xfrm>
            <a:custGeom>
              <a:avLst/>
              <a:gdLst/>
              <a:ahLst/>
              <a:cxnLst/>
              <a:rect r="r" b="b" t="t" l="l"/>
              <a:pathLst>
                <a:path h="193579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144582"/>
                  </a:lnTo>
                  <a:cubicBezTo>
                    <a:pt x="635000" y="171642"/>
                    <a:pt x="613063" y="193579"/>
                    <a:pt x="586003" y="193579"/>
                  </a:cubicBezTo>
                  <a:lnTo>
                    <a:pt x="48997" y="193579"/>
                  </a:lnTo>
                  <a:cubicBezTo>
                    <a:pt x="36002" y="193579"/>
                    <a:pt x="23540" y="188417"/>
                    <a:pt x="14351" y="179228"/>
                  </a:cubicBezTo>
                  <a:cubicBezTo>
                    <a:pt x="5162" y="170040"/>
                    <a:pt x="0" y="157577"/>
                    <a:pt x="0" y="144582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635000" cy="250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2239698" y="8210740"/>
            <a:ext cx="253003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Training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0729684" y="8124508"/>
            <a:ext cx="1231980" cy="656058"/>
            <a:chOff x="0" y="0"/>
            <a:chExt cx="647700" cy="3449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7700" cy="344916"/>
            </a:xfrm>
            <a:custGeom>
              <a:avLst/>
              <a:gdLst/>
              <a:ahLst/>
              <a:cxnLst/>
              <a:rect r="r" b="b" t="t" l="l"/>
              <a:pathLst>
                <a:path h="344916" w="647700">
                  <a:moveTo>
                    <a:pt x="239386" y="165195"/>
                  </a:moveTo>
                  <a:lnTo>
                    <a:pt x="647700" y="165195"/>
                  </a:lnTo>
                  <a:lnTo>
                    <a:pt x="647700" y="179717"/>
                  </a:lnTo>
                  <a:lnTo>
                    <a:pt x="239373" y="179717"/>
                  </a:lnTo>
                  <a:lnTo>
                    <a:pt x="302255" y="344916"/>
                  </a:lnTo>
                  <a:lnTo>
                    <a:pt x="0" y="172458"/>
                  </a:lnTo>
                  <a:lnTo>
                    <a:pt x="302255" y="0"/>
                  </a:lnTo>
                  <a:lnTo>
                    <a:pt x="239386" y="165195"/>
                  </a:lnTo>
                  <a:close/>
                </a:path>
              </a:pathLst>
            </a:custGeom>
            <a:solidFill>
              <a:srgbClr val="00733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120650" y="107950"/>
              <a:ext cx="527050" cy="71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197600" y="8023919"/>
            <a:ext cx="4532084" cy="940795"/>
            <a:chOff x="0" y="0"/>
            <a:chExt cx="932528" cy="19357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32527" cy="193579"/>
            </a:xfrm>
            <a:custGeom>
              <a:avLst/>
              <a:gdLst/>
              <a:ahLst/>
              <a:cxnLst/>
              <a:rect r="r" b="b" t="t" l="l"/>
              <a:pathLst>
                <a:path h="193579" w="932527">
                  <a:moveTo>
                    <a:pt x="33364" y="0"/>
                  </a:moveTo>
                  <a:lnTo>
                    <a:pt x="899163" y="0"/>
                  </a:lnTo>
                  <a:cubicBezTo>
                    <a:pt x="917590" y="0"/>
                    <a:pt x="932527" y="14938"/>
                    <a:pt x="932527" y="33364"/>
                  </a:cubicBezTo>
                  <a:lnTo>
                    <a:pt x="932527" y="160215"/>
                  </a:lnTo>
                  <a:cubicBezTo>
                    <a:pt x="932527" y="169064"/>
                    <a:pt x="929012" y="177550"/>
                    <a:pt x="922755" y="183807"/>
                  </a:cubicBezTo>
                  <a:cubicBezTo>
                    <a:pt x="916498" y="190064"/>
                    <a:pt x="908012" y="193579"/>
                    <a:pt x="899163" y="193579"/>
                  </a:cubicBezTo>
                  <a:lnTo>
                    <a:pt x="33364" y="193579"/>
                  </a:lnTo>
                  <a:cubicBezTo>
                    <a:pt x="24515" y="193579"/>
                    <a:pt x="16029" y="190064"/>
                    <a:pt x="9772" y="183807"/>
                  </a:cubicBezTo>
                  <a:cubicBezTo>
                    <a:pt x="3515" y="177550"/>
                    <a:pt x="0" y="169064"/>
                    <a:pt x="0" y="160215"/>
                  </a:cubicBezTo>
                  <a:lnTo>
                    <a:pt x="0" y="33364"/>
                  </a:lnTo>
                  <a:cubicBezTo>
                    <a:pt x="0" y="24515"/>
                    <a:pt x="3515" y="16029"/>
                    <a:pt x="9772" y="9772"/>
                  </a:cubicBezTo>
                  <a:cubicBezTo>
                    <a:pt x="16029" y="3515"/>
                    <a:pt x="24515" y="0"/>
                    <a:pt x="333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932528" cy="250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6661995" y="8249842"/>
            <a:ext cx="360329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performance analysis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3113" y="9251081"/>
            <a:ext cx="5321313" cy="2446670"/>
            <a:chOff x="0" y="0"/>
            <a:chExt cx="1223810" cy="562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3810" cy="562692"/>
            </a:xfrm>
            <a:custGeom>
              <a:avLst/>
              <a:gdLst/>
              <a:ahLst/>
              <a:cxnLst/>
              <a:rect r="r" b="b" t="t" l="l"/>
              <a:pathLst>
                <a:path h="562692" w="1223810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57150"/>
              <a:ext cx="99521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73113" y="8675100"/>
            <a:ext cx="2673102" cy="1151961"/>
            <a:chOff x="0" y="0"/>
            <a:chExt cx="1482931" cy="6390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2931" cy="639062"/>
            </a:xfrm>
            <a:custGeom>
              <a:avLst/>
              <a:gdLst/>
              <a:ahLst/>
              <a:cxnLst/>
              <a:rect r="r" b="b" t="t" l="l"/>
              <a:pathLst>
                <a:path h="639062" w="1482931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57150"/>
              <a:ext cx="1254331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-1086039" y="3863443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4564053" y="-1477201"/>
            <a:ext cx="5390494" cy="2446670"/>
            <a:chOff x="0" y="0"/>
            <a:chExt cx="1239720" cy="5626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9720" cy="562692"/>
            </a:xfrm>
            <a:custGeom>
              <a:avLst/>
              <a:gdLst/>
              <a:ahLst/>
              <a:cxnLst/>
              <a:rect r="r" b="b" t="t" l="l"/>
              <a:pathLst>
                <a:path h="562692" w="123972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5400000">
            <a:off x="17201961" y="7533472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9050" y="-505871"/>
            <a:ext cx="7034436" cy="796001"/>
          </a:xfrm>
          <a:custGeom>
            <a:avLst/>
            <a:gdLst/>
            <a:ahLst/>
            <a:cxnLst/>
            <a:rect r="r" b="b" t="t" l="l"/>
            <a:pathLst>
              <a:path h="796001" w="7034436">
                <a:moveTo>
                  <a:pt x="0" y="796002"/>
                </a:moveTo>
                <a:lnTo>
                  <a:pt x="7034436" y="796002"/>
                </a:lnTo>
                <a:lnTo>
                  <a:pt x="7034436" y="0"/>
                </a:lnTo>
                <a:lnTo>
                  <a:pt x="0" y="0"/>
                </a:lnTo>
                <a:lnTo>
                  <a:pt x="0" y="7960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3256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-345202" y="-277743"/>
            <a:ext cx="1752990" cy="1509762"/>
          </a:xfrm>
          <a:custGeom>
            <a:avLst/>
            <a:gdLst/>
            <a:ahLst/>
            <a:cxnLst/>
            <a:rect r="r" b="b" t="t" l="l"/>
            <a:pathLst>
              <a:path h="1509762" w="1752990">
                <a:moveTo>
                  <a:pt x="0" y="1509762"/>
                </a:moveTo>
                <a:lnTo>
                  <a:pt x="1752989" y="1509762"/>
                </a:lnTo>
                <a:lnTo>
                  <a:pt x="1752989" y="0"/>
                </a:lnTo>
                <a:lnTo>
                  <a:pt x="0" y="0"/>
                </a:lnTo>
                <a:lnTo>
                  <a:pt x="0" y="150976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15906727" y="9158438"/>
            <a:ext cx="2755050" cy="1071412"/>
            <a:chOff x="0" y="0"/>
            <a:chExt cx="1643297" cy="6390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3297" cy="639062"/>
            </a:xfrm>
            <a:custGeom>
              <a:avLst/>
              <a:gdLst/>
              <a:ahLst/>
              <a:cxnLst/>
              <a:rect r="r" b="b" t="t" l="l"/>
              <a:pathLst>
                <a:path h="639062" w="1643297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0" y="9704947"/>
            <a:ext cx="9772019" cy="1198000"/>
            <a:chOff x="0" y="0"/>
            <a:chExt cx="5212796" cy="6390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12797" cy="639062"/>
            </a:xfrm>
            <a:custGeom>
              <a:avLst/>
              <a:gdLst/>
              <a:ahLst/>
              <a:cxnLst/>
              <a:rect r="r" b="b" t="t" l="l"/>
              <a:pathLst>
                <a:path h="639062" w="5212797">
                  <a:moveTo>
                    <a:pt x="5212797" y="319531"/>
                  </a:moveTo>
                  <a:lnTo>
                    <a:pt x="50095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5009597" y="0"/>
                  </a:lnTo>
                  <a:lnTo>
                    <a:pt x="52127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57150"/>
              <a:ext cx="4984196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246507" y="2571750"/>
            <a:ext cx="7292586" cy="6456633"/>
          </a:xfrm>
          <a:custGeom>
            <a:avLst/>
            <a:gdLst/>
            <a:ahLst/>
            <a:cxnLst/>
            <a:rect r="r" b="b" t="t" l="l"/>
            <a:pathLst>
              <a:path h="6456633" w="7292586">
                <a:moveTo>
                  <a:pt x="0" y="0"/>
                </a:moveTo>
                <a:lnTo>
                  <a:pt x="7292586" y="0"/>
                </a:lnTo>
                <a:lnTo>
                  <a:pt x="7292586" y="6456633"/>
                </a:lnTo>
                <a:lnTo>
                  <a:pt x="0" y="64566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44600" y="1212969"/>
            <a:ext cx="9762558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Training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265244" y="9228973"/>
            <a:ext cx="1676939" cy="4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b="true" sz="242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Page: 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1356" y="9796577"/>
            <a:ext cx="771272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</a:t>
            </a:r>
            <a:r>
              <a:rPr lang="en-US" b="true" sz="21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ical Insurance Cost Prediction Using Machine Learning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99154" y="2649721"/>
            <a:ext cx="6881293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Data Preparation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Split dataset into Training (80%) and Testing (20%) sets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Applied encoding for categorical features (sex, smoker, region)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Ensured data quality after preprocessing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162107" y="5742917"/>
            <a:ext cx="6881293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Selection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Cho</a:t>
            </a: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sen algorithm: Linear Regression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Reason: Simple, interpretable, effective for continuous value prediction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3113" y="9251081"/>
            <a:ext cx="5321313" cy="2446670"/>
            <a:chOff x="0" y="0"/>
            <a:chExt cx="1223810" cy="562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3810" cy="562692"/>
            </a:xfrm>
            <a:custGeom>
              <a:avLst/>
              <a:gdLst/>
              <a:ahLst/>
              <a:cxnLst/>
              <a:rect r="r" b="b" t="t" l="l"/>
              <a:pathLst>
                <a:path h="562692" w="1223810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57150"/>
              <a:ext cx="99521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73113" y="8675100"/>
            <a:ext cx="2673102" cy="1151961"/>
            <a:chOff x="0" y="0"/>
            <a:chExt cx="1482931" cy="6390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2931" cy="639062"/>
            </a:xfrm>
            <a:custGeom>
              <a:avLst/>
              <a:gdLst/>
              <a:ahLst/>
              <a:cxnLst/>
              <a:rect r="r" b="b" t="t" l="l"/>
              <a:pathLst>
                <a:path h="639062" w="1482931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57150"/>
              <a:ext cx="1254331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-1086039" y="3863443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4564053" y="-1477201"/>
            <a:ext cx="5390494" cy="2446670"/>
            <a:chOff x="0" y="0"/>
            <a:chExt cx="1239720" cy="5626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9720" cy="562692"/>
            </a:xfrm>
            <a:custGeom>
              <a:avLst/>
              <a:gdLst/>
              <a:ahLst/>
              <a:cxnLst/>
              <a:rect r="r" b="b" t="t" l="l"/>
              <a:pathLst>
                <a:path h="562692" w="123972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5400000">
            <a:off x="17201961" y="7533472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9050" y="-505871"/>
            <a:ext cx="7034436" cy="796001"/>
          </a:xfrm>
          <a:custGeom>
            <a:avLst/>
            <a:gdLst/>
            <a:ahLst/>
            <a:cxnLst/>
            <a:rect r="r" b="b" t="t" l="l"/>
            <a:pathLst>
              <a:path h="796001" w="7034436">
                <a:moveTo>
                  <a:pt x="0" y="796002"/>
                </a:moveTo>
                <a:lnTo>
                  <a:pt x="7034436" y="796002"/>
                </a:lnTo>
                <a:lnTo>
                  <a:pt x="7034436" y="0"/>
                </a:lnTo>
                <a:lnTo>
                  <a:pt x="0" y="0"/>
                </a:lnTo>
                <a:lnTo>
                  <a:pt x="0" y="7960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3256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-345202" y="-277743"/>
            <a:ext cx="1752990" cy="1509762"/>
          </a:xfrm>
          <a:custGeom>
            <a:avLst/>
            <a:gdLst/>
            <a:ahLst/>
            <a:cxnLst/>
            <a:rect r="r" b="b" t="t" l="l"/>
            <a:pathLst>
              <a:path h="1509762" w="1752990">
                <a:moveTo>
                  <a:pt x="0" y="1509762"/>
                </a:moveTo>
                <a:lnTo>
                  <a:pt x="1752989" y="1509762"/>
                </a:lnTo>
                <a:lnTo>
                  <a:pt x="1752989" y="0"/>
                </a:lnTo>
                <a:lnTo>
                  <a:pt x="0" y="0"/>
                </a:lnTo>
                <a:lnTo>
                  <a:pt x="0" y="150976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15906727" y="9158438"/>
            <a:ext cx="2755050" cy="1071412"/>
            <a:chOff x="0" y="0"/>
            <a:chExt cx="1643297" cy="6390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3297" cy="639062"/>
            </a:xfrm>
            <a:custGeom>
              <a:avLst/>
              <a:gdLst/>
              <a:ahLst/>
              <a:cxnLst/>
              <a:rect r="r" b="b" t="t" l="l"/>
              <a:pathLst>
                <a:path h="639062" w="1643297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0" y="9704947"/>
            <a:ext cx="9772019" cy="1198000"/>
            <a:chOff x="0" y="0"/>
            <a:chExt cx="5212796" cy="6390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12797" cy="639062"/>
            </a:xfrm>
            <a:custGeom>
              <a:avLst/>
              <a:gdLst/>
              <a:ahLst/>
              <a:cxnLst/>
              <a:rect r="r" b="b" t="t" l="l"/>
              <a:pathLst>
                <a:path h="639062" w="5212797">
                  <a:moveTo>
                    <a:pt x="5212797" y="319531"/>
                  </a:moveTo>
                  <a:lnTo>
                    <a:pt x="50095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5009597" y="0"/>
                  </a:lnTo>
                  <a:lnTo>
                    <a:pt x="52127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57150"/>
              <a:ext cx="4984196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296400" y="3943350"/>
            <a:ext cx="4412654" cy="4114800"/>
          </a:xfrm>
          <a:custGeom>
            <a:avLst/>
            <a:gdLst/>
            <a:ahLst/>
            <a:cxnLst/>
            <a:rect r="r" b="b" t="t" l="l"/>
            <a:pathLst>
              <a:path h="4114800" w="4412654">
                <a:moveTo>
                  <a:pt x="0" y="0"/>
                </a:moveTo>
                <a:lnTo>
                  <a:pt x="4412654" y="0"/>
                </a:lnTo>
                <a:lnTo>
                  <a:pt x="4412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44600" y="1212969"/>
            <a:ext cx="9762558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Result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265244" y="9228973"/>
            <a:ext cx="1676939" cy="4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b="true" sz="242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Page: 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1356" y="9796577"/>
            <a:ext cx="771272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</a:t>
            </a:r>
            <a:r>
              <a:rPr lang="en-US" b="true" sz="21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ical Insurance Cost Prediction Using Machine Learning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33978" y="2770926"/>
            <a:ext cx="8983802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</a:t>
            </a: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</a:t>
            </a: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 Linear Regression model achieved a 78% R² score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3113" y="9251081"/>
            <a:ext cx="5321313" cy="2446670"/>
            <a:chOff x="0" y="0"/>
            <a:chExt cx="1223810" cy="562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3810" cy="562692"/>
            </a:xfrm>
            <a:custGeom>
              <a:avLst/>
              <a:gdLst/>
              <a:ahLst/>
              <a:cxnLst/>
              <a:rect r="r" b="b" t="t" l="l"/>
              <a:pathLst>
                <a:path h="562692" w="1223810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57150"/>
              <a:ext cx="99521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73113" y="8675100"/>
            <a:ext cx="2673102" cy="1151961"/>
            <a:chOff x="0" y="0"/>
            <a:chExt cx="1482931" cy="6390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2931" cy="639062"/>
            </a:xfrm>
            <a:custGeom>
              <a:avLst/>
              <a:gdLst/>
              <a:ahLst/>
              <a:cxnLst/>
              <a:rect r="r" b="b" t="t" l="l"/>
              <a:pathLst>
                <a:path h="639062" w="1482931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57150"/>
              <a:ext cx="1254331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-1086039" y="3863443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4564053" y="-1477201"/>
            <a:ext cx="5390494" cy="2446670"/>
            <a:chOff x="0" y="0"/>
            <a:chExt cx="1239720" cy="5626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9720" cy="562692"/>
            </a:xfrm>
            <a:custGeom>
              <a:avLst/>
              <a:gdLst/>
              <a:ahLst/>
              <a:cxnLst/>
              <a:rect r="r" b="b" t="t" l="l"/>
              <a:pathLst>
                <a:path h="562692" w="123972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5400000">
            <a:off x="17201961" y="7533472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9050" y="-505871"/>
            <a:ext cx="7034436" cy="796001"/>
          </a:xfrm>
          <a:custGeom>
            <a:avLst/>
            <a:gdLst/>
            <a:ahLst/>
            <a:cxnLst/>
            <a:rect r="r" b="b" t="t" l="l"/>
            <a:pathLst>
              <a:path h="796001" w="7034436">
                <a:moveTo>
                  <a:pt x="0" y="796002"/>
                </a:moveTo>
                <a:lnTo>
                  <a:pt x="7034436" y="796002"/>
                </a:lnTo>
                <a:lnTo>
                  <a:pt x="7034436" y="0"/>
                </a:lnTo>
                <a:lnTo>
                  <a:pt x="0" y="0"/>
                </a:lnTo>
                <a:lnTo>
                  <a:pt x="0" y="7960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3256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-345202" y="-277743"/>
            <a:ext cx="1752990" cy="1509762"/>
          </a:xfrm>
          <a:custGeom>
            <a:avLst/>
            <a:gdLst/>
            <a:ahLst/>
            <a:cxnLst/>
            <a:rect r="r" b="b" t="t" l="l"/>
            <a:pathLst>
              <a:path h="1509762" w="1752990">
                <a:moveTo>
                  <a:pt x="0" y="1509762"/>
                </a:moveTo>
                <a:lnTo>
                  <a:pt x="1752989" y="1509762"/>
                </a:lnTo>
                <a:lnTo>
                  <a:pt x="1752989" y="0"/>
                </a:lnTo>
                <a:lnTo>
                  <a:pt x="0" y="0"/>
                </a:lnTo>
                <a:lnTo>
                  <a:pt x="0" y="150976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15906727" y="9158438"/>
            <a:ext cx="2755050" cy="1071412"/>
            <a:chOff x="0" y="0"/>
            <a:chExt cx="1643297" cy="6390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3297" cy="639062"/>
            </a:xfrm>
            <a:custGeom>
              <a:avLst/>
              <a:gdLst/>
              <a:ahLst/>
              <a:cxnLst/>
              <a:rect r="r" b="b" t="t" l="l"/>
              <a:pathLst>
                <a:path h="639062" w="1643297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0" y="9704947"/>
            <a:ext cx="9772019" cy="1198000"/>
            <a:chOff x="0" y="0"/>
            <a:chExt cx="5212796" cy="6390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12797" cy="639062"/>
            </a:xfrm>
            <a:custGeom>
              <a:avLst/>
              <a:gdLst/>
              <a:ahLst/>
              <a:cxnLst/>
              <a:rect r="r" b="b" t="t" l="l"/>
              <a:pathLst>
                <a:path h="639062" w="5212797">
                  <a:moveTo>
                    <a:pt x="5212797" y="319531"/>
                  </a:moveTo>
                  <a:lnTo>
                    <a:pt x="50095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5009597" y="0"/>
                  </a:lnTo>
                  <a:lnTo>
                    <a:pt x="52127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57150"/>
              <a:ext cx="4984196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296400" y="3943350"/>
            <a:ext cx="4412654" cy="4114800"/>
          </a:xfrm>
          <a:custGeom>
            <a:avLst/>
            <a:gdLst/>
            <a:ahLst/>
            <a:cxnLst/>
            <a:rect r="r" b="b" t="t" l="l"/>
            <a:pathLst>
              <a:path h="4114800" w="4412654">
                <a:moveTo>
                  <a:pt x="0" y="0"/>
                </a:moveTo>
                <a:lnTo>
                  <a:pt x="4412654" y="0"/>
                </a:lnTo>
                <a:lnTo>
                  <a:pt x="4412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44600" y="1212969"/>
            <a:ext cx="9762558" cy="10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Future improvement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265244" y="9228973"/>
            <a:ext cx="1676939" cy="4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b="true" sz="242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Page: 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1356" y="9796577"/>
            <a:ext cx="771272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</a:t>
            </a:r>
            <a:r>
              <a:rPr lang="en-US" b="true" sz="21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ical Insurance Cost Prediction Using Machine Learning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33978" y="2504226"/>
            <a:ext cx="8983802" cy="30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1.Hyperparameter tuning</a:t>
            </a:r>
          </a:p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.Using ensemble methods</a:t>
            </a:r>
          </a:p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r>
              <a:rPr lang="en-US" sz="2499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.Trying non-linear regression models</a:t>
            </a:r>
          </a:p>
          <a:p>
            <a:pPr algn="l">
              <a:lnSpc>
                <a:spcPts val="624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3113" y="9251081"/>
            <a:ext cx="5321313" cy="2446670"/>
            <a:chOff x="0" y="0"/>
            <a:chExt cx="1223810" cy="562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3810" cy="562692"/>
            </a:xfrm>
            <a:custGeom>
              <a:avLst/>
              <a:gdLst/>
              <a:ahLst/>
              <a:cxnLst/>
              <a:rect r="r" b="b" t="t" l="l"/>
              <a:pathLst>
                <a:path h="562692" w="1223810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57150"/>
              <a:ext cx="99521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73113" y="8675100"/>
            <a:ext cx="2673102" cy="1151961"/>
            <a:chOff x="0" y="0"/>
            <a:chExt cx="1482931" cy="6390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2931" cy="639062"/>
            </a:xfrm>
            <a:custGeom>
              <a:avLst/>
              <a:gdLst/>
              <a:ahLst/>
              <a:cxnLst/>
              <a:rect r="r" b="b" t="t" l="l"/>
              <a:pathLst>
                <a:path h="639062" w="1482931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57150"/>
              <a:ext cx="1254331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-1086039" y="3863443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4564053" y="-1477201"/>
            <a:ext cx="5390494" cy="2446670"/>
            <a:chOff x="0" y="0"/>
            <a:chExt cx="1239720" cy="5626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9720" cy="562692"/>
            </a:xfrm>
            <a:custGeom>
              <a:avLst/>
              <a:gdLst/>
              <a:ahLst/>
              <a:cxnLst/>
              <a:rect r="r" b="b" t="t" l="l"/>
              <a:pathLst>
                <a:path h="562692" w="123972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008E4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5400000">
            <a:off x="17201961" y="7533472"/>
            <a:ext cx="2172079" cy="690405"/>
          </a:xfrm>
          <a:custGeom>
            <a:avLst/>
            <a:gdLst/>
            <a:ahLst/>
            <a:cxnLst/>
            <a:rect r="r" b="b" t="t" l="l"/>
            <a:pathLst>
              <a:path h="690405" w="2172079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484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9050" y="-505871"/>
            <a:ext cx="7034436" cy="796001"/>
          </a:xfrm>
          <a:custGeom>
            <a:avLst/>
            <a:gdLst/>
            <a:ahLst/>
            <a:cxnLst/>
            <a:rect r="r" b="b" t="t" l="l"/>
            <a:pathLst>
              <a:path h="796001" w="7034436">
                <a:moveTo>
                  <a:pt x="0" y="796002"/>
                </a:moveTo>
                <a:lnTo>
                  <a:pt x="7034436" y="796002"/>
                </a:lnTo>
                <a:lnTo>
                  <a:pt x="7034436" y="0"/>
                </a:lnTo>
                <a:lnTo>
                  <a:pt x="0" y="0"/>
                </a:lnTo>
                <a:lnTo>
                  <a:pt x="0" y="7960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3256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-345202" y="-277743"/>
            <a:ext cx="1752990" cy="1509762"/>
          </a:xfrm>
          <a:custGeom>
            <a:avLst/>
            <a:gdLst/>
            <a:ahLst/>
            <a:cxnLst/>
            <a:rect r="r" b="b" t="t" l="l"/>
            <a:pathLst>
              <a:path h="1509762" w="1752990">
                <a:moveTo>
                  <a:pt x="0" y="1509762"/>
                </a:moveTo>
                <a:lnTo>
                  <a:pt x="1752989" y="1509762"/>
                </a:lnTo>
                <a:lnTo>
                  <a:pt x="1752989" y="0"/>
                </a:lnTo>
                <a:lnTo>
                  <a:pt x="0" y="0"/>
                </a:lnTo>
                <a:lnTo>
                  <a:pt x="0" y="150976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15906727" y="9158438"/>
            <a:ext cx="2755050" cy="1071412"/>
            <a:chOff x="0" y="0"/>
            <a:chExt cx="1643297" cy="6390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3297" cy="639062"/>
            </a:xfrm>
            <a:custGeom>
              <a:avLst/>
              <a:gdLst/>
              <a:ahLst/>
              <a:cxnLst/>
              <a:rect r="r" b="b" t="t" l="l"/>
              <a:pathLst>
                <a:path h="639062" w="1643297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0" y="9704947"/>
            <a:ext cx="9772019" cy="1198000"/>
            <a:chOff x="0" y="0"/>
            <a:chExt cx="5212796" cy="6390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12797" cy="639062"/>
            </a:xfrm>
            <a:custGeom>
              <a:avLst/>
              <a:gdLst/>
              <a:ahLst/>
              <a:cxnLst/>
              <a:rect r="r" b="b" t="t" l="l"/>
              <a:pathLst>
                <a:path h="639062" w="5212797">
                  <a:moveTo>
                    <a:pt x="5212797" y="319531"/>
                  </a:moveTo>
                  <a:lnTo>
                    <a:pt x="50095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5009597" y="0"/>
                  </a:lnTo>
                  <a:lnTo>
                    <a:pt x="5212797" y="319531"/>
                  </a:lnTo>
                  <a:close/>
                </a:path>
              </a:pathLst>
            </a:custGeom>
            <a:solidFill>
              <a:srgbClr val="008E4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57150"/>
              <a:ext cx="4984196" cy="69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098800" y="3324225"/>
            <a:ext cx="26994159" cy="296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3"/>
              </a:lnSpc>
            </a:pPr>
            <a:r>
              <a:rPr lang="en-US" sz="18802" b="true">
                <a:solidFill>
                  <a:srgbClr val="1D1A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Thank you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265244" y="9228973"/>
            <a:ext cx="1676939" cy="4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b="true" sz="242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Page: 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91356" y="9796577"/>
            <a:ext cx="771272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</a:t>
            </a:r>
            <a:r>
              <a:rPr lang="en-US" b="true" sz="21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ical Insurance Cost Prediction Using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DAGzoe7t43g</dc:identifier>
  <dcterms:modified xsi:type="dcterms:W3CDTF">2011-08-01T06:04:30Z</dcterms:modified>
  <cp:revision>1</cp:revision>
  <dc:title>Red Modern Project Proposal Presentation</dc:title>
</cp:coreProperties>
</file>