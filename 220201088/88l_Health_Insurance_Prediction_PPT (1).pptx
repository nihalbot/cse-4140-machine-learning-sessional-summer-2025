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9" r:id="rId3"/>
    <p:sldId id="256" r:id="rId4"/>
    <p:sldId id="257" r:id="rId5"/>
    <p:sldId id="258" r:id="rId6"/>
    <p:sldId id="278" r:id="rId7"/>
    <p:sldId id="259" r:id="rId8"/>
    <p:sldId id="269" r:id="rId9"/>
    <p:sldId id="262" r:id="rId10"/>
    <p:sldId id="263" r:id="rId11"/>
    <p:sldId id="265" r:id="rId12"/>
    <p:sldId id="266" r:id="rId13"/>
    <p:sldId id="267" r:id="rId14"/>
    <p:sldId id="276" r:id="rId15"/>
    <p:sldId id="268" r:id="rId16"/>
    <p:sldId id="270" r:id="rId17"/>
    <p:sldId id="277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4" d="100"/>
          <a:sy n="64" d="100"/>
        </p:scale>
        <p:origin x="724" y="32"/>
      </p:cViewPr>
      <p:guideLst>
        <p:guide orient="horz" pos="2198"/>
        <p:guide pos="388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99808" y="498333"/>
            <a:ext cx="9068193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Bangladesh Army University of Science and Technology (BAUST)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  <a:p>
            <a:pPr algn="ctr"/>
            <a:r>
              <a:rPr lang="en-US"/>
              <a:t>Department of Computer Science and Engineering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905443" y="2205184"/>
            <a:ext cx="838111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 Using Machine Learning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Comprehensive Comparative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62636" y="4745149"/>
            <a:ext cx="25345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Masuma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Sadia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Sagota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220201088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44900" y="4468150"/>
            <a:ext cx="45711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Engr.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Rohul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Nadim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Reza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09558" y="3244776"/>
            <a:ext cx="45711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Machine Learning Sessional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62492" y="3642270"/>
            <a:ext cx="49428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Code:CSE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4140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7286" y="1031117"/>
            <a:ext cx="1079886" cy="1187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6459" y="548641"/>
            <a:ext cx="297389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latin typeface="Times New Roman" panose="02020603050405020304"/>
              </a:defRPr>
            </a:pPr>
            <a:r>
              <a:rPr sz="4400" dirty="0"/>
              <a:t>Introduction</a:t>
            </a:r>
            <a:endParaRPr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2186884" y="1753710"/>
            <a:ext cx="7679084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companies need accurate cost estimation for fair premium pricing and financial stability.
Medical costs depend on complex, non-linear factors like Age, BMI, and Smoking habits.
So, this project utilizes Machine Learning to build a robust predictive model to predict medical charges accurately.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  <a:defRPr sz="2200">
                <a:latin typeface="Times New Roman" panose="02020603050405020304"/>
              </a:defRPr>
            </a:pPr>
            <a:endParaRPr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9753600" y="6400801"/>
            <a:ext cx="2744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Times New Roman" panose="02020603050405020304"/>
              </a:defRPr>
            </a:pPr>
            <a:r>
              <a:rPr sz="1400"/>
              <a:t>1</a:t>
            </a:r>
            <a:endParaRPr sz="1400"/>
          </a:p>
        </p:txBody>
      </p:sp>
      <p:sp>
        <p:nvSpPr>
          <p:cNvPr id="5" name="TextBox 4"/>
          <p:cNvSpPr txBox="1"/>
          <p:nvPr/>
        </p:nvSpPr>
        <p:spPr>
          <a:xfrm>
            <a:off x="2256459" y="6400801"/>
            <a:ext cx="7278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 Using Machine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082" y="451427"/>
            <a:ext cx="449514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latin typeface="Times New Roman" panose="02020603050405020304"/>
              </a:defRPr>
            </a:pPr>
            <a:r>
              <a:rPr sz="4400" dirty="0"/>
              <a:t>Problem Statement</a:t>
            </a:r>
            <a:endParaRPr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2164081" y="1145888"/>
            <a:ext cx="758952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sz="2400" dirty="0"/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latin typeface="Times New Roman" panose="02020603050405020304"/>
              </a:defRPr>
            </a:pPr>
            <a:r>
              <a:rPr sz="2400" dirty="0"/>
              <a:t>Insurance companies struggle to estimate correct cost.</a:t>
            </a:r>
            <a:endParaRPr sz="2400" dirty="0"/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latin typeface="Times New Roman" panose="02020603050405020304"/>
              </a:defRPr>
            </a:pPr>
            <a:r>
              <a:rPr sz="2400" dirty="0"/>
              <a:t>Overcharging or undercharging creates financial imbalance.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latin typeface="Times New Roman" panose="02020603050405020304"/>
              </a:defRPr>
            </a:pPr>
            <a:r>
              <a:rPr lang="en-US" sz="2400" dirty="0"/>
              <a:t>Accurately forecasting individual medical charges is vital for premium pricing and risk management in the insurance sector.
Medical costs are driven by complex, non-linear factors (Age, BMI, Smoking).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latin typeface="Times New Roman" panose="02020603050405020304"/>
              </a:defRPr>
            </a:pPr>
            <a:endParaRPr sz="2400" dirty="0"/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latin typeface="Times New Roman" panose="02020603050405020304"/>
              </a:defRPr>
            </a:pPr>
            <a:r>
              <a:rPr sz="2400" dirty="0"/>
              <a:t>Goal: Build a reliable ML-based prediction system.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latin typeface="Times New Roman" panose="02020603050405020304"/>
              </a:defRPr>
            </a:pP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latin typeface="Times New Roman" panose="02020603050405020304"/>
              </a:defRPr>
            </a:pP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latin typeface="Times New Roman" panose="02020603050405020304"/>
              </a:defRPr>
            </a:pP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latin typeface="Times New Roman" panose="02020603050405020304"/>
              </a:defRPr>
            </a:pP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latin typeface="Times New Roman" panose="02020603050405020304"/>
              </a:defRPr>
            </a:pP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latin typeface="Times New Roman" panose="02020603050405020304"/>
              </a:defRPr>
            </a:pPr>
            <a:endParaRPr sz="2200" dirty="0"/>
          </a:p>
        </p:txBody>
      </p:sp>
      <p:sp>
        <p:nvSpPr>
          <p:cNvPr id="4" name="TextBox 3"/>
          <p:cNvSpPr txBox="1"/>
          <p:nvPr/>
        </p:nvSpPr>
        <p:spPr>
          <a:xfrm>
            <a:off x="9753600" y="6400801"/>
            <a:ext cx="2744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Times New Roman" panose="02020603050405020304"/>
              </a:defRPr>
            </a:pPr>
            <a:r>
              <a:rPr sz="1400"/>
              <a:t>2</a:t>
            </a:r>
            <a:endParaRPr sz="1400"/>
          </a:p>
        </p:txBody>
      </p:sp>
      <p:sp>
        <p:nvSpPr>
          <p:cNvPr id="5" name="TextBox 4"/>
          <p:cNvSpPr txBox="1"/>
          <p:nvPr/>
        </p:nvSpPr>
        <p:spPr>
          <a:xfrm>
            <a:off x="2164081" y="6400801"/>
            <a:ext cx="6386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 Using Machine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080" y="457201"/>
            <a:ext cx="259718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latin typeface="Times New Roman" panose="02020603050405020304"/>
              </a:defRPr>
            </a:pPr>
            <a:r>
              <a:rPr sz="4400" dirty="0"/>
              <a:t>Objectives</a:t>
            </a:r>
            <a:endParaRPr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2214700" y="1420374"/>
            <a:ext cx="7538900" cy="478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200">
                <a:latin typeface="Times New Roman" panose="02020603050405020304"/>
              </a:defRPr>
            </a:pPr>
            <a:r>
              <a:rPr lang="en-US" sz="2400" dirty="0"/>
              <a:t> To p</a:t>
            </a:r>
            <a:r>
              <a:rPr sz="2400" dirty="0"/>
              <a:t>redict insurance cost using ML models.</a:t>
            </a:r>
            <a:endParaRPr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200">
                <a:latin typeface="Times New Roman" panose="02020603050405020304"/>
              </a:defRPr>
            </a:pPr>
            <a:r>
              <a:rPr lang="en-US" sz="2400" dirty="0"/>
              <a:t>To i</a:t>
            </a:r>
            <a:r>
              <a:rPr sz="2400" dirty="0"/>
              <a:t>dentify most influential features.</a:t>
            </a:r>
            <a:endParaRPr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200">
                <a:latin typeface="Times New Roman" panose="02020603050405020304"/>
              </a:defRPr>
            </a:pPr>
            <a:r>
              <a:rPr lang="en-US" sz="2400" dirty="0"/>
              <a:t>To c</a:t>
            </a:r>
            <a:r>
              <a:rPr sz="2400" dirty="0"/>
              <a:t>ompare models and choose the best.</a:t>
            </a:r>
            <a:endParaRPr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200">
                <a:latin typeface="Times New Roman" panose="02020603050405020304"/>
              </a:defRPr>
            </a:pPr>
            <a:r>
              <a:rPr lang="en-US" sz="2400" dirty="0"/>
              <a:t>To e</a:t>
            </a:r>
            <a:r>
              <a:rPr sz="2400" dirty="0"/>
              <a:t>nhance accuracy using preprocessing and feature engineering.</a:t>
            </a:r>
            <a:endParaRPr lang="en-US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200">
                <a:latin typeface="Times New Roman" panose="02020603050405020304"/>
              </a:defRPr>
            </a:pPr>
            <a:endParaRPr lang="en-US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200">
                <a:latin typeface="Times New Roman" panose="02020603050405020304"/>
              </a:defRPr>
            </a:pPr>
            <a:endParaRPr lang="en-US" sz="22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200">
                <a:latin typeface="Times New Roman" panose="02020603050405020304"/>
              </a:defRPr>
            </a:pPr>
            <a:endParaRPr sz="2200" dirty="0"/>
          </a:p>
        </p:txBody>
      </p:sp>
      <p:sp>
        <p:nvSpPr>
          <p:cNvPr id="4" name="TextBox 3"/>
          <p:cNvSpPr txBox="1"/>
          <p:nvPr/>
        </p:nvSpPr>
        <p:spPr>
          <a:xfrm>
            <a:off x="9753600" y="6400801"/>
            <a:ext cx="2744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Times New Roman" panose="02020603050405020304"/>
              </a:defRPr>
            </a:pPr>
            <a:r>
              <a:rPr sz="1400"/>
              <a:t>3</a:t>
            </a:r>
            <a:endParaRPr sz="1400"/>
          </a:p>
        </p:txBody>
      </p:sp>
      <p:sp>
        <p:nvSpPr>
          <p:cNvPr id="5" name="TextBox 4"/>
          <p:cNvSpPr txBox="1"/>
          <p:nvPr/>
        </p:nvSpPr>
        <p:spPr>
          <a:xfrm>
            <a:off x="2050774" y="6400801"/>
            <a:ext cx="6897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 Using Machine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959" y="91986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Contributions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0" y="2287469"/>
            <a:ext cx="7543801" cy="402336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R^2=0.8703, surpassing previous best result (0.8538).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Domain-Driven Feature: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Engineered the Smoker BMI interaction term to capture high-risk synergy.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Optimization: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tuning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ensemble models.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36589" y="6396682"/>
            <a:ext cx="1679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4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30626" y="6396682"/>
            <a:ext cx="75438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 Using Machine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081" y="365761"/>
            <a:ext cx="775244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latin typeface="Times New Roman" panose="02020603050405020304"/>
              </a:defRPr>
            </a:pPr>
            <a:r>
              <a:rPr lang="en-US" sz="4400" dirty="0"/>
              <a:t>Dataset &amp; Preprocessing Pipeline</a:t>
            </a:r>
            <a:endParaRPr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2164081" y="1135200"/>
            <a:ext cx="758952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​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 1,338 rows and 7 features.
​​Records: 1,338 individual records.
​Features: age, sex,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bmi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children, smoker, region.
​Target Variable: charges (continuous medical costs).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​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Steps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​Missing Values: Imputed using Median (Numeric) and Mode (Categorical).
​Encoding: Used Label Encoding for categorical features (smoker, sex, region).
​Scaling: Applied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all numerical features.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53600" y="6400801"/>
            <a:ext cx="2744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Times New Roman" panose="02020603050405020304"/>
              </a:defRPr>
            </a:pPr>
            <a:r>
              <a:rPr lang="en-US" sz="1400" dirty="0"/>
              <a:t>5</a:t>
            </a:r>
            <a:endParaRPr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2378766" y="6400801"/>
            <a:ext cx="6738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 Using Machine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0"/>
            <a:ext cx="319189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latin typeface="Times New Roman" panose="02020603050405020304"/>
              </a:defRPr>
            </a:pPr>
            <a:r>
              <a:rPr sz="3000"/>
              <a:t>Feature Importance</a:t>
            </a:r>
            <a:endParaRPr sz="3000"/>
          </a:p>
        </p:txBody>
      </p:sp>
      <p:sp>
        <p:nvSpPr>
          <p:cNvPr id="3" name="TextBox 2"/>
          <p:cNvSpPr txBox="1"/>
          <p:nvPr/>
        </p:nvSpPr>
        <p:spPr>
          <a:xfrm>
            <a:off x="2164080" y="1097281"/>
            <a:ext cx="4648324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latin typeface="Times New Roman" panose="02020603050405020304"/>
              </a:defRPr>
            </a:pPr>
            <a:r>
              <a:rPr sz="2200"/>
              <a:t>Smoker_BMI: Most influential.</a:t>
            </a:r>
            <a:endParaRPr sz="2200"/>
          </a:p>
          <a:p>
            <a:pPr>
              <a:defRPr sz="2200">
                <a:latin typeface="Times New Roman" panose="02020603050405020304"/>
              </a:defRPr>
            </a:pPr>
            <a:r>
              <a:rPr sz="2200"/>
              <a:t>Age and BMI strong contributors.</a:t>
            </a:r>
            <a:endParaRPr sz="2200"/>
          </a:p>
          <a:p>
            <a:pPr>
              <a:defRPr sz="2200">
                <a:latin typeface="Times New Roman" panose="02020603050405020304"/>
              </a:defRPr>
            </a:pPr>
            <a:r>
              <a:rPr sz="2200"/>
              <a:t>Interaction features improved accuracy.</a:t>
            </a:r>
            <a:endParaRPr sz="2200"/>
          </a:p>
        </p:txBody>
      </p:sp>
      <p:sp>
        <p:nvSpPr>
          <p:cNvPr id="4" name="TextBox 3"/>
          <p:cNvSpPr txBox="1"/>
          <p:nvPr/>
        </p:nvSpPr>
        <p:spPr>
          <a:xfrm>
            <a:off x="9753600" y="6400801"/>
            <a:ext cx="3606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Times New Roman" panose="02020603050405020304"/>
              </a:defRPr>
            </a:pPr>
            <a:r>
              <a:rPr lang="en-US" sz="1400" dirty="0"/>
              <a:t>06</a:t>
            </a:r>
            <a:endParaRPr lang="en-US" sz="1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5491" y="2610392"/>
            <a:ext cx="6635862" cy="34246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64080" y="6400801"/>
            <a:ext cx="6744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 Using Machine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0"/>
            <a:ext cx="332014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latin typeface="Times New Roman" panose="02020603050405020304"/>
              </a:defRPr>
            </a:pPr>
            <a:r>
              <a:rPr sz="3000"/>
              <a:t>Feature Engineering</a:t>
            </a:r>
            <a:endParaRPr sz="3000"/>
          </a:p>
        </p:txBody>
      </p:sp>
      <p:sp>
        <p:nvSpPr>
          <p:cNvPr id="3" name="TextBox 2"/>
          <p:cNvSpPr txBox="1"/>
          <p:nvPr/>
        </p:nvSpPr>
        <p:spPr>
          <a:xfrm>
            <a:off x="2164080" y="1074480"/>
            <a:ext cx="797999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latin typeface="Times New Roman" panose="02020603050405020304"/>
              </a:defRPr>
            </a:pPr>
            <a:r>
              <a:rPr lang="en-US" sz="2200" dirty="0"/>
              <a:t>1. Based on a</a:t>
            </a:r>
            <a:r>
              <a:rPr sz="2200"/>
              <a:t>ge group</a:t>
            </a:r>
            <a:r>
              <a:rPr lang="en-US" sz="2200"/>
              <a:t> .</a:t>
            </a:r>
            <a:endParaRPr lang="en-US" sz="2200" dirty="0"/>
          </a:p>
          <a:p>
            <a:pPr>
              <a:defRPr sz="2200">
                <a:latin typeface="Times New Roman" panose="02020603050405020304"/>
              </a:defRPr>
            </a:pPr>
            <a:endParaRPr lang="en-US" sz="2200" dirty="0"/>
          </a:p>
          <a:p>
            <a:pPr>
              <a:defRPr sz="2200">
                <a:latin typeface="Times New Roman" panose="02020603050405020304"/>
              </a:defRPr>
            </a:pPr>
            <a:endParaRPr lang="en-US" sz="2200" dirty="0"/>
          </a:p>
          <a:p>
            <a:pPr>
              <a:defRPr sz="2200">
                <a:latin typeface="Times New Roman" panose="02020603050405020304"/>
              </a:defRPr>
            </a:pPr>
            <a:endParaRPr lang="en-US" sz="2200" dirty="0"/>
          </a:p>
          <a:p>
            <a:pPr>
              <a:defRPr sz="2200">
                <a:latin typeface="Times New Roman" panose="02020603050405020304"/>
              </a:defRPr>
            </a:pPr>
            <a:endParaRPr sz="2200" dirty="0"/>
          </a:p>
          <a:p>
            <a:pPr>
              <a:defRPr sz="2200">
                <a:latin typeface="Times New Roman" panose="02020603050405020304"/>
              </a:defRPr>
            </a:pPr>
            <a:r>
              <a:rPr lang="en-US" sz="2200" dirty="0"/>
              <a:t>2. Based on </a:t>
            </a:r>
            <a:r>
              <a:rPr sz="2200" dirty="0"/>
              <a:t>BMI categories</a:t>
            </a:r>
            <a:r>
              <a:rPr lang="en-US" sz="2200" dirty="0"/>
              <a:t> .</a:t>
            </a:r>
            <a:endParaRPr lang="en-US" sz="2200" dirty="0"/>
          </a:p>
          <a:p>
            <a:pPr>
              <a:defRPr sz="2200">
                <a:latin typeface="Times New Roman" panose="02020603050405020304"/>
              </a:defRPr>
            </a:pPr>
            <a:endParaRPr lang="en-US" sz="2200" dirty="0"/>
          </a:p>
          <a:p>
            <a:pPr>
              <a:defRPr sz="2200">
                <a:latin typeface="Times New Roman" panose="02020603050405020304"/>
              </a:defRPr>
            </a:pPr>
            <a:endParaRPr lang="en-US" sz="2200" dirty="0"/>
          </a:p>
          <a:p>
            <a:pPr>
              <a:defRPr sz="2200">
                <a:latin typeface="Times New Roman" panose="02020603050405020304"/>
              </a:defRPr>
            </a:pPr>
            <a:endParaRPr lang="en-US" sz="2200" dirty="0"/>
          </a:p>
          <a:p>
            <a:pPr>
              <a:defRPr sz="2200">
                <a:latin typeface="Times New Roman" panose="02020603050405020304"/>
              </a:defRPr>
            </a:pPr>
            <a:endParaRPr sz="2200" dirty="0"/>
          </a:p>
          <a:p>
            <a:pPr>
              <a:defRPr sz="2200">
                <a:latin typeface="Times New Roman" panose="02020603050405020304"/>
              </a:defRPr>
            </a:pPr>
            <a:r>
              <a:rPr lang="en-US" sz="2200" dirty="0"/>
              <a:t>3. </a:t>
            </a:r>
            <a:r>
              <a:rPr lang="en-US" sz="2200" dirty="0" err="1"/>
              <a:t>S</a:t>
            </a:r>
            <a:r>
              <a:rPr sz="2200" dirty="0" err="1"/>
              <a:t>moker_BMI</a:t>
            </a:r>
            <a:r>
              <a:rPr sz="2200" dirty="0"/>
              <a:t> interaction feature</a:t>
            </a:r>
            <a:r>
              <a:rPr lang="en-US" sz="2200" dirty="0"/>
              <a:t> .</a:t>
            </a:r>
            <a:endParaRPr sz="2200" dirty="0"/>
          </a:p>
          <a:p>
            <a:pPr>
              <a:defRPr sz="2200">
                <a:latin typeface="Times New Roman" panose="02020603050405020304"/>
              </a:defRPr>
            </a:pPr>
            <a:endParaRPr lang="en-US" sz="2200" dirty="0"/>
          </a:p>
          <a:p>
            <a:pPr>
              <a:defRPr sz="2200">
                <a:latin typeface="Times New Roman" panose="02020603050405020304"/>
              </a:defRPr>
            </a:pPr>
            <a:endParaRPr lang="en-US" sz="2200" dirty="0"/>
          </a:p>
          <a:p>
            <a:pPr>
              <a:defRPr sz="2200">
                <a:latin typeface="Times New Roman" panose="02020603050405020304"/>
              </a:defRPr>
            </a:pPr>
            <a:r>
              <a:rPr lang="en-US" sz="2200" dirty="0"/>
              <a:t>4. </a:t>
            </a:r>
            <a:r>
              <a:rPr lang="en-US" sz="2200" dirty="0" err="1"/>
              <a:t>A</a:t>
            </a:r>
            <a:r>
              <a:rPr sz="2200" dirty="0" err="1"/>
              <a:t>ge_BMI</a:t>
            </a:r>
            <a:r>
              <a:rPr sz="2200" dirty="0"/>
              <a:t> interaction added.</a:t>
            </a:r>
            <a:endParaRPr lang="en-US" sz="2200" dirty="0"/>
          </a:p>
        </p:txBody>
      </p:sp>
      <p:sp>
        <p:nvSpPr>
          <p:cNvPr id="4" name="TextBox 3"/>
          <p:cNvSpPr txBox="1"/>
          <p:nvPr/>
        </p:nvSpPr>
        <p:spPr>
          <a:xfrm>
            <a:off x="9757023" y="6422708"/>
            <a:ext cx="2717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Times New Roman" panose="02020603050405020304"/>
              </a:defRPr>
            </a:pPr>
            <a:r>
              <a:rPr lang="en-US" sz="1400" dirty="0"/>
              <a:t>7</a:t>
            </a:r>
            <a:endParaRPr sz="1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9581" y="1526154"/>
            <a:ext cx="3536924" cy="12069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750" y="3203220"/>
            <a:ext cx="4998578" cy="12408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t="9602" b="25954"/>
          <a:stretch>
            <a:fillRect/>
          </a:stretch>
        </p:blipFill>
        <p:spPr>
          <a:xfrm>
            <a:off x="2250607" y="4959236"/>
            <a:ext cx="4515899" cy="3935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 t="26372"/>
          <a:stretch>
            <a:fillRect/>
          </a:stretch>
        </p:blipFill>
        <p:spPr>
          <a:xfrm>
            <a:off x="2798425" y="5867991"/>
            <a:ext cx="3626988" cy="4204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58887" y="6422708"/>
            <a:ext cx="6351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 Using Machine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0"/>
            <a:ext cx="85090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latin typeface="Times New Roman" panose="02020603050405020304"/>
              </a:defRPr>
            </a:pPr>
            <a:r>
              <a:rPr lang="en-US" sz="4000" dirty="0"/>
              <a:t>Insurance Cost Prediction Methodology </a:t>
            </a:r>
            <a:endParaRPr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2209801" y="1143000"/>
            <a:ext cx="18473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>
                <a:latin typeface="Times New Roman" panose="02020603050405020304"/>
              </a:defRPr>
            </a:pPr>
            <a:endParaRPr sz="2200" dirty="0"/>
          </a:p>
        </p:txBody>
      </p:sp>
      <p:sp>
        <p:nvSpPr>
          <p:cNvPr id="4" name="TextBox 3"/>
          <p:cNvSpPr txBox="1"/>
          <p:nvPr/>
        </p:nvSpPr>
        <p:spPr>
          <a:xfrm>
            <a:off x="9753600" y="6400801"/>
            <a:ext cx="2717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Times New Roman" panose="02020603050405020304"/>
              </a:defRPr>
            </a:pPr>
            <a:r>
              <a:rPr lang="en-US" sz="1400" dirty="0"/>
              <a:t>8</a:t>
            </a:r>
            <a:endParaRPr sz="1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8351" y="982206"/>
            <a:ext cx="5495298" cy="5209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07975" y="6400801"/>
            <a:ext cx="6271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 Using Machine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06894" y="608349"/>
            <a:ext cx="317747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latin typeface="Times New Roman" panose="02020603050405020304"/>
              </a:defRPr>
            </a:pPr>
            <a:r>
              <a:rPr sz="4400" dirty="0"/>
              <a:t>Models Used</a:t>
            </a:r>
            <a:endParaRPr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2470970" y="1371600"/>
            <a:ext cx="7282631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endParaRPr lang="en-US" sz="2400" dirty="0"/>
          </a:p>
          <a:p>
            <a:pPr rtl="0"/>
            <a:r>
              <a:rPr lang="en-US" sz="2400" b="1" dirty="0"/>
              <a:t>Liner:</a:t>
            </a:r>
            <a:r>
              <a:rPr lang="en-US" sz="2400" dirty="0"/>
              <a:t> Linear Regression.</a:t>
            </a:r>
            <a:endParaRPr lang="en-US" sz="2400" dirty="0"/>
          </a:p>
          <a:p>
            <a:pPr rtl="0"/>
            <a:r>
              <a:rPr lang="en-US" sz="2400" dirty="0"/>
              <a:t>​</a:t>
            </a:r>
            <a:r>
              <a:rPr lang="en-US" sz="2400" b="1" dirty="0"/>
              <a:t>Non-Linear:</a:t>
            </a:r>
            <a:r>
              <a:rPr lang="en-US" sz="2400" dirty="0"/>
              <a:t> Decision Tree </a:t>
            </a:r>
            <a:r>
              <a:rPr lang="en-US" sz="2400" dirty="0" err="1"/>
              <a:t>Regressor</a:t>
            </a:r>
            <a:r>
              <a:rPr lang="en-US" sz="2400" dirty="0"/>
              <a:t>.</a:t>
            </a:r>
            <a:endParaRPr lang="en-US" sz="2400" dirty="0"/>
          </a:p>
          <a:p>
            <a:pPr rtl="0"/>
            <a:r>
              <a:rPr lang="en-US" sz="2400" dirty="0"/>
              <a:t>​</a:t>
            </a:r>
            <a:r>
              <a:rPr lang="en-US" sz="2400" b="1" dirty="0"/>
              <a:t>Ensemble (Focus Area):</a:t>
            </a:r>
            <a:r>
              <a:rPr lang="en-US" sz="2400" dirty="0"/>
              <a:t> </a:t>
            </a:r>
            <a:endParaRPr lang="en-US" sz="2400" dirty="0"/>
          </a:p>
          <a:p>
            <a:pPr lvl="1" rtl="0"/>
            <a:r>
              <a:rPr lang="en-US" sz="2400" dirty="0"/>
              <a:t>​Random Forest </a:t>
            </a:r>
            <a:r>
              <a:rPr lang="en-US" sz="2400" dirty="0" err="1"/>
              <a:t>Regressor</a:t>
            </a:r>
            <a:r>
              <a:rPr lang="en-US" sz="2400" dirty="0"/>
              <a:t> (RFR)</a:t>
            </a:r>
            <a:endParaRPr lang="en-US" sz="2400" dirty="0"/>
          </a:p>
          <a:p>
            <a:pPr lvl="1" rtl="0"/>
            <a:r>
              <a:rPr lang="en-US" sz="2400" dirty="0"/>
              <a:t>​</a:t>
            </a:r>
            <a:r>
              <a:rPr lang="en-US" sz="2400" dirty="0" err="1"/>
              <a:t>XGBoost</a:t>
            </a:r>
            <a:r>
              <a:rPr lang="en-US" sz="2400" dirty="0"/>
              <a:t> </a:t>
            </a:r>
            <a:r>
              <a:rPr lang="en-US" sz="2400" dirty="0" err="1"/>
              <a:t>Regressor</a:t>
            </a:r>
            <a:r>
              <a:rPr lang="en-US" sz="2400" dirty="0"/>
              <a:t> (XGB)</a:t>
            </a:r>
            <a:endParaRPr lang="en-US" sz="2400" dirty="0"/>
          </a:p>
          <a:p>
            <a:pPr lvl="1" rtl="0"/>
            <a:r>
              <a:rPr lang="en-US" sz="2400" dirty="0"/>
              <a:t>​Gradient Boosting </a:t>
            </a:r>
            <a:r>
              <a:rPr lang="en-US" sz="2400" dirty="0" err="1"/>
              <a:t>Regressor</a:t>
            </a:r>
            <a:r>
              <a:rPr lang="en-US" sz="2400" dirty="0"/>
              <a:t> (GBR)</a:t>
            </a:r>
            <a:endParaRPr lang="en-US" sz="2400" dirty="0"/>
          </a:p>
          <a:p>
            <a:pPr rtl="0"/>
            <a:r>
              <a:rPr lang="en-US" sz="2400" b="1" dirty="0"/>
              <a:t>​Optimization Technique</a:t>
            </a:r>
            <a:endParaRPr lang="en-US" sz="2400" b="1" dirty="0"/>
          </a:p>
          <a:p>
            <a:pPr rtl="0"/>
            <a:r>
              <a:rPr lang="en-US" sz="2400" dirty="0"/>
              <a:t>​</a:t>
            </a:r>
            <a:r>
              <a:rPr lang="en-US" sz="2400" b="1" dirty="0"/>
              <a:t>Method:</a:t>
            </a:r>
            <a:r>
              <a:rPr lang="en-US" sz="2400" dirty="0"/>
              <a:t> </a:t>
            </a:r>
            <a:r>
              <a:rPr lang="en-US" sz="2400" dirty="0" err="1"/>
              <a:t>GridSearchCV</a:t>
            </a:r>
            <a:r>
              <a:rPr lang="en-US" sz="2400" dirty="0"/>
              <a:t> with 5-Fold Cross-Validation.</a:t>
            </a:r>
            <a:endParaRPr lang="en-US" sz="2400" dirty="0"/>
          </a:p>
          <a:p>
            <a:pPr rtl="0"/>
            <a:r>
              <a:rPr lang="en-US" sz="2400" dirty="0"/>
              <a:t>​</a:t>
            </a:r>
            <a:r>
              <a:rPr lang="en-US" sz="2400" b="1" dirty="0"/>
              <a:t>Goal:</a:t>
            </a:r>
            <a:r>
              <a:rPr lang="en-US" sz="2400" dirty="0"/>
              <a:t> Fine-tune the </a:t>
            </a:r>
            <a:r>
              <a:rPr lang="en-US" sz="2400" dirty="0" err="1"/>
              <a:t>hyperparameters</a:t>
            </a:r>
            <a:r>
              <a:rPr lang="en-US" sz="2400" dirty="0"/>
              <a:t> of the ensemble models (RFR, XGB, GBR) to minimize overfitting and maximize R^2 score.</a:t>
            </a:r>
            <a:endParaRPr lang="en-US" sz="2400" dirty="0"/>
          </a:p>
          <a:p>
            <a:pPr>
              <a:defRPr sz="2200">
                <a:latin typeface="Times New Roman" panose="02020603050405020304"/>
              </a:defRPr>
            </a:pPr>
            <a:endParaRPr lang="en-US" sz="2200" dirty="0"/>
          </a:p>
          <a:p>
            <a:pPr>
              <a:defRPr sz="2200">
                <a:latin typeface="Times New Roman" panose="02020603050405020304"/>
              </a:defRPr>
            </a:pPr>
            <a:endParaRPr lang="en-US" sz="2200" dirty="0"/>
          </a:p>
          <a:p>
            <a:pPr>
              <a:defRPr sz="2200">
                <a:latin typeface="Times New Roman" panose="02020603050405020304"/>
              </a:defRPr>
            </a:pPr>
            <a:endParaRPr lang="en-US" sz="2200" dirty="0"/>
          </a:p>
          <a:p>
            <a:pPr>
              <a:defRPr sz="2200">
                <a:latin typeface="Times New Roman" panose="02020603050405020304"/>
              </a:defRPr>
            </a:pPr>
            <a:endParaRPr sz="2200" dirty="0"/>
          </a:p>
        </p:txBody>
      </p:sp>
      <p:sp>
        <p:nvSpPr>
          <p:cNvPr id="4" name="TextBox 3"/>
          <p:cNvSpPr txBox="1"/>
          <p:nvPr/>
        </p:nvSpPr>
        <p:spPr>
          <a:xfrm>
            <a:off x="9753600" y="6409691"/>
            <a:ext cx="2717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Times New Roman" panose="02020603050405020304"/>
              </a:defRPr>
            </a:pPr>
            <a:r>
              <a:rPr lang="en-US" sz="1400" dirty="0"/>
              <a:t>9</a:t>
            </a:r>
            <a:endParaRPr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2607365" y="6409691"/>
            <a:ext cx="67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 Using Machine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079" y="492371"/>
            <a:ext cx="449353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latin typeface="Times New Roman" panose="02020603050405020304"/>
              </a:defRPr>
            </a:pPr>
            <a:r>
              <a:rPr sz="4400" dirty="0"/>
              <a:t>Evaluation Metrics</a:t>
            </a:r>
            <a:endParaRPr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2164080" y="1097280"/>
            <a:ext cx="8130443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200">
                <a:latin typeface="Times New Roman" panose="02020603050405020304"/>
              </a:defRPr>
            </a:pPr>
            <a:r>
              <a:rPr sz="2200" dirty="0"/>
              <a:t>R² Score – Accuracy measure.</a:t>
            </a:r>
            <a:endParaRPr lang="en-US" sz="2200" dirty="0"/>
          </a:p>
          <a:p>
            <a:pPr>
              <a:defRPr sz="2200">
                <a:latin typeface="Times New Roman" panose="02020603050405020304"/>
              </a:defRPr>
            </a:pPr>
            <a:endParaRPr lang="en-US" sz="2200" dirty="0"/>
          </a:p>
          <a:p>
            <a:pPr>
              <a:defRPr sz="2200">
                <a:latin typeface="Times New Roman" panose="02020603050405020304"/>
              </a:defRPr>
            </a:pPr>
            <a:endParaRPr lang="en-US" sz="2200" dirty="0"/>
          </a:p>
          <a:p>
            <a:pPr>
              <a:defRPr sz="2200">
                <a:latin typeface="Times New Roman" panose="02020603050405020304"/>
              </a:defRPr>
            </a:pPr>
            <a:endParaRPr sz="2200" dirty="0"/>
          </a:p>
          <a:p>
            <a:pPr>
              <a:defRPr sz="2200">
                <a:latin typeface="Times New Roman" panose="02020603050405020304"/>
              </a:defRPr>
            </a:pPr>
            <a:r>
              <a:rPr sz="2200" dirty="0"/>
              <a:t>RMSE – Root mean squared error.</a:t>
            </a:r>
            <a:endParaRPr lang="en-US" sz="2200" dirty="0"/>
          </a:p>
          <a:p>
            <a:pPr>
              <a:defRPr sz="2200">
                <a:latin typeface="Times New Roman" panose="02020603050405020304"/>
              </a:defRPr>
            </a:pPr>
            <a:endParaRPr lang="en-US" sz="2200" dirty="0"/>
          </a:p>
          <a:p>
            <a:pPr>
              <a:defRPr sz="2200">
                <a:latin typeface="Times New Roman" panose="02020603050405020304"/>
              </a:defRPr>
            </a:pPr>
            <a:endParaRPr lang="en-US" sz="2200" dirty="0"/>
          </a:p>
          <a:p>
            <a:pPr>
              <a:defRPr sz="2200">
                <a:latin typeface="Times New Roman" panose="02020603050405020304"/>
              </a:defRPr>
            </a:pPr>
            <a:endParaRPr sz="2200" dirty="0"/>
          </a:p>
          <a:p>
            <a:pPr>
              <a:defRPr sz="2200">
                <a:latin typeface="Times New Roman" panose="02020603050405020304"/>
              </a:defRPr>
            </a:pPr>
            <a:endParaRPr lang="en-US" sz="2200" dirty="0"/>
          </a:p>
          <a:p>
            <a:pPr>
              <a:defRPr sz="2200">
                <a:latin typeface="Times New Roman" panose="02020603050405020304"/>
              </a:defRPr>
            </a:pPr>
            <a:r>
              <a:rPr sz="2200" dirty="0"/>
              <a:t>MAE – Mean absolute error.</a:t>
            </a:r>
            <a:endParaRPr sz="2200" dirty="0"/>
          </a:p>
        </p:txBody>
      </p:sp>
      <p:sp>
        <p:nvSpPr>
          <p:cNvPr id="4" name="TextBox 3"/>
          <p:cNvSpPr txBox="1"/>
          <p:nvPr/>
        </p:nvSpPr>
        <p:spPr>
          <a:xfrm>
            <a:off x="9753600" y="6400801"/>
            <a:ext cx="3606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Times New Roman" panose="02020603050405020304"/>
              </a:defRPr>
            </a:pPr>
            <a:r>
              <a:rPr lang="en-US" sz="1400" dirty="0"/>
              <a:t>10</a:t>
            </a:r>
            <a:endParaRPr sz="1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5162" y="1785938"/>
            <a:ext cx="3409950" cy="8572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062" y="4859866"/>
            <a:ext cx="3448050" cy="9144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349" y="3075670"/>
            <a:ext cx="4572000" cy="1171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47730" y="6400801"/>
            <a:ext cx="5655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 Using Machine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0"/>
            <a:ext cx="169629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latin typeface="Times New Roman" panose="02020603050405020304"/>
              </a:defRPr>
            </a:pPr>
            <a:r>
              <a:rPr sz="4000" dirty="0"/>
              <a:t>Results</a:t>
            </a:r>
            <a:endParaRPr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2164081" y="1097281"/>
            <a:ext cx="5537093" cy="17235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latin typeface="Times New Roman" panose="02020603050405020304"/>
              </a:defRPr>
            </a:pPr>
            <a:r>
              <a:rPr sz="2200"/>
              <a:t>Random Forest performed best.</a:t>
            </a:r>
            <a:endParaRPr sz="2200"/>
          </a:p>
          <a:p>
            <a:pPr>
              <a:defRPr sz="2200">
                <a:latin typeface="Times New Roman" panose="02020603050405020304"/>
              </a:defRPr>
            </a:pPr>
            <a:r>
              <a:rPr sz="2200"/>
              <a:t>XGBoost close.</a:t>
            </a:r>
            <a:endParaRPr sz="2200"/>
          </a:p>
          <a:p>
            <a:pPr>
              <a:defRPr sz="2200">
                <a:latin typeface="Times New Roman" panose="02020603050405020304"/>
              </a:defRPr>
            </a:pPr>
            <a:r>
              <a:rPr sz="2200"/>
              <a:t>Decision Tree showed overfitting.</a:t>
            </a:r>
            <a:endParaRPr sz="2200"/>
          </a:p>
          <a:p>
            <a:pPr>
              <a:defRPr sz="2200">
                <a:latin typeface="Times New Roman" panose="02020603050405020304"/>
              </a:defRPr>
            </a:pPr>
            <a:r>
              <a:rPr sz="2200"/>
              <a:t>Linear Regression performed surprisingly well.</a:t>
            </a:r>
            <a:endParaRPr sz="2200"/>
          </a:p>
        </p:txBody>
      </p:sp>
      <p:sp>
        <p:nvSpPr>
          <p:cNvPr id="4" name="TextBox 3"/>
          <p:cNvSpPr txBox="1"/>
          <p:nvPr/>
        </p:nvSpPr>
        <p:spPr>
          <a:xfrm>
            <a:off x="9753600" y="6400801"/>
            <a:ext cx="3606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Times New Roman" panose="02020603050405020304"/>
              </a:defRPr>
            </a:pPr>
            <a:r>
              <a:rPr sz="1400" dirty="0"/>
              <a:t>1</a:t>
            </a:r>
            <a:r>
              <a:rPr lang="en-US" sz="1400" dirty="0"/>
              <a:t>1</a:t>
            </a:r>
            <a:endParaRPr lang="en-US" sz="1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3729" y="3097530"/>
            <a:ext cx="6292977" cy="2846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57671" y="6400801"/>
            <a:ext cx="6292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 Using Machine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 3 models: Actual vs Predicted Residuals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34937" y="1846264"/>
            <a:ext cx="4966576" cy="40227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33279" y="6438270"/>
            <a:ext cx="3122518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dirty="0"/>
              <a:t>12</a:t>
            </a:r>
            <a:endParaRPr lang="en-US" sz="1100" dirty="0"/>
          </a:p>
        </p:txBody>
      </p:sp>
      <p:sp>
        <p:nvSpPr>
          <p:cNvPr id="5" name="TextBox 4"/>
          <p:cNvSpPr txBox="1"/>
          <p:nvPr/>
        </p:nvSpPr>
        <p:spPr>
          <a:xfrm>
            <a:off x="2438400" y="6438271"/>
            <a:ext cx="6579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 Using Machine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0"/>
            <a:ext cx="626004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latin typeface="Times New Roman" panose="02020603050405020304"/>
              </a:defRPr>
            </a:pPr>
            <a:r>
              <a:rPr sz="3000"/>
              <a:t>Best Model: Optimized Random Forest</a:t>
            </a:r>
            <a:endParaRPr sz="3000"/>
          </a:p>
        </p:txBody>
      </p:sp>
      <p:sp>
        <p:nvSpPr>
          <p:cNvPr id="3" name="TextBox 2"/>
          <p:cNvSpPr txBox="1"/>
          <p:nvPr/>
        </p:nvSpPr>
        <p:spPr>
          <a:xfrm>
            <a:off x="2164081" y="1097281"/>
            <a:ext cx="4737835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latin typeface="Times New Roman" panose="02020603050405020304"/>
              </a:defRPr>
            </a:pPr>
            <a:r>
              <a:rPr sz="2200"/>
              <a:t>Achieved R² ≈ 0.8703.</a:t>
            </a:r>
            <a:endParaRPr sz="2200"/>
          </a:p>
          <a:p>
            <a:pPr>
              <a:defRPr sz="2200">
                <a:latin typeface="Times New Roman" panose="02020603050405020304"/>
              </a:defRPr>
            </a:pPr>
            <a:r>
              <a:rPr sz="2200"/>
              <a:t>Lowest MAE and RMSE.</a:t>
            </a:r>
            <a:endParaRPr sz="2200"/>
          </a:p>
          <a:p>
            <a:pPr>
              <a:defRPr sz="2200">
                <a:latin typeface="Times New Roman" panose="02020603050405020304"/>
              </a:defRPr>
            </a:pPr>
            <a:r>
              <a:rPr sz="2200"/>
              <a:t>Captured non-linear patterns effectively.</a:t>
            </a:r>
            <a:endParaRPr sz="2200"/>
          </a:p>
        </p:txBody>
      </p:sp>
      <p:sp>
        <p:nvSpPr>
          <p:cNvPr id="4" name="TextBox 3"/>
          <p:cNvSpPr txBox="1"/>
          <p:nvPr/>
        </p:nvSpPr>
        <p:spPr>
          <a:xfrm>
            <a:off x="9753600" y="6400801"/>
            <a:ext cx="3606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Times New Roman" panose="02020603050405020304"/>
              </a:defRPr>
            </a:pPr>
            <a:r>
              <a:rPr lang="en-US" sz="1400" dirty="0"/>
              <a:t>13</a:t>
            </a:r>
            <a:endParaRPr lang="en-US" sz="1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5143" y="2644329"/>
            <a:ext cx="6096000" cy="346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39618" y="6400801"/>
            <a:ext cx="6281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 Using Machine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0"/>
            <a:ext cx="527028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latin typeface="Times New Roman" panose="02020603050405020304"/>
              </a:defRPr>
            </a:pPr>
            <a:r>
              <a:rPr sz="3000" dirty="0"/>
              <a:t>Comparison With Related Works</a:t>
            </a:r>
            <a:endParaRPr sz="3000" dirty="0"/>
          </a:p>
        </p:txBody>
      </p:sp>
      <p:sp>
        <p:nvSpPr>
          <p:cNvPr id="3" name="TextBox 2"/>
          <p:cNvSpPr txBox="1"/>
          <p:nvPr/>
        </p:nvSpPr>
        <p:spPr>
          <a:xfrm>
            <a:off x="1742660" y="5633077"/>
            <a:ext cx="91837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latin typeface="Times New Roman" panose="02020603050405020304"/>
              </a:defRPr>
            </a:pPr>
            <a:r>
              <a:rPr sz="2000" dirty="0"/>
              <a:t>Outperformed previous academic benchmarks.</a:t>
            </a:r>
            <a:endParaRPr sz="2000" dirty="0"/>
          </a:p>
          <a:p>
            <a:pPr>
              <a:defRPr sz="2200">
                <a:latin typeface="Times New Roman" panose="02020603050405020304"/>
              </a:defRPr>
            </a:pPr>
            <a:r>
              <a:rPr sz="2000" dirty="0"/>
              <a:t>Achieved +1.65% better R² than best published score.</a:t>
            </a:r>
            <a:endParaRPr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9753600" y="6400801"/>
            <a:ext cx="36420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Times New Roman" panose="02020603050405020304"/>
              </a:defRPr>
            </a:pPr>
            <a:r>
              <a:rPr sz="1400" dirty="0"/>
              <a:t>1</a:t>
            </a:r>
            <a:r>
              <a:rPr lang="en-US" sz="1400" dirty="0"/>
              <a:t>4</a:t>
            </a:r>
            <a:endParaRPr sz="1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71870" y="1005075"/>
          <a:ext cx="8517835" cy="46280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03567"/>
                <a:gridCol w="2043485"/>
                <a:gridCol w="1769165"/>
                <a:gridCol w="884583"/>
                <a:gridCol w="2117035"/>
              </a:tblGrid>
              <a:tr h="309440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1600" b="1" dirty="0">
                          <a:effectLst/>
                        </a:rPr>
                        <a:t>Author</a:t>
                      </a:r>
                      <a:endParaRPr lang="en-US" sz="1600" b="1" dirty="0">
                        <a:effectLst/>
                      </a:endParaRPr>
                    </a:p>
                  </a:txBody>
                  <a:tcPr marL="30944" marR="30944" marT="15472" marB="15472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1600" b="1" dirty="0">
                          <a:effectLst/>
                        </a:rPr>
                        <a:t>Paper Name</a:t>
                      </a:r>
                      <a:endParaRPr lang="en-US" sz="1600" b="0" dirty="0">
                        <a:effectLst/>
                      </a:endParaRPr>
                    </a:p>
                  </a:txBody>
                  <a:tcPr marL="30944" marR="30944" marT="15472" marB="15472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1600" b="1" dirty="0">
                          <a:effectLst/>
                        </a:rPr>
                        <a:t>Model Used</a:t>
                      </a:r>
                      <a:endParaRPr lang="en-US" sz="1600" b="1" dirty="0">
                        <a:effectLst/>
                      </a:endParaRPr>
                    </a:p>
                  </a:txBody>
                  <a:tcPr marL="30944" marR="30944" marT="15472" marB="15472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1600" b="1" dirty="0">
                          <a:effectLst/>
                        </a:rPr>
                        <a:t>R²</a:t>
                      </a:r>
                      <a:endParaRPr lang="en-US" sz="1600" b="1" dirty="0">
                        <a:effectLst/>
                      </a:endParaRPr>
                    </a:p>
                  </a:txBody>
                  <a:tcPr marL="30944" marR="30944" marT="15472" marB="15472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1600" b="1" dirty="0">
                          <a:effectLst/>
                        </a:rPr>
                        <a:t>Limitations</a:t>
                      </a:r>
                      <a:r>
                        <a:rPr lang="en-US" sz="1600" b="0" dirty="0">
                          <a:effectLst/>
                        </a:rPr>
                        <a:t> </a:t>
                      </a:r>
                      <a:endParaRPr lang="en-US" sz="1600" b="0" dirty="0">
                        <a:effectLst/>
                      </a:endParaRPr>
                    </a:p>
                  </a:txBody>
                  <a:tcPr marL="30944" marR="30944" marT="15472" marB="15472"/>
                </a:tc>
              </a:tr>
              <a:tr h="680769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600" dirty="0">
                          <a:effectLst/>
                        </a:rPr>
                        <a:t>Kumar et al.</a:t>
                      </a:r>
                      <a:endParaRPr lang="en-US" sz="1600" dirty="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600" dirty="0">
                          <a:effectLst/>
                        </a:rPr>
                        <a:t>Predict Health Insurance Cost using ML and DNN</a:t>
                      </a:r>
                      <a:endParaRPr lang="en-US" sz="1600" dirty="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1600" dirty="0">
                          <a:effectLst/>
                        </a:rPr>
                        <a:t>Linear Reg.</a:t>
                      </a:r>
                      <a:endParaRPr lang="en-US" sz="1600" dirty="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1600">
                          <a:effectLst/>
                        </a:rPr>
                        <a:t>0.7699</a:t>
                      </a:r>
                      <a:endParaRPr lang="en-US" sz="160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600">
                          <a:effectLst/>
                        </a:rPr>
                        <a:t>No standardization, limited features</a:t>
                      </a:r>
                      <a:endParaRPr lang="en-US" sz="1600">
                        <a:effectLst/>
                      </a:endParaRPr>
                    </a:p>
                  </a:txBody>
                  <a:tcPr marL="30944" marR="30944" marT="15472" marB="15472" anchor="ctr"/>
                </a:tc>
              </a:tr>
              <a:tr h="680769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600" dirty="0">
                          <a:effectLst/>
                        </a:rPr>
                        <a:t>Kumar et al. </a:t>
                      </a:r>
                      <a:endParaRPr lang="en-US" sz="1600" dirty="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600">
                          <a:effectLst/>
                        </a:rPr>
                        <a:t>Predict Health Insurance Cost using ML and DNN</a:t>
                      </a:r>
                      <a:endParaRPr lang="en-US" sz="160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1600">
                          <a:effectLst/>
                        </a:rPr>
                        <a:t>Random Forest</a:t>
                      </a:r>
                      <a:endParaRPr lang="en-US" sz="160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1600">
                          <a:effectLst/>
                        </a:rPr>
                        <a:t>0.8538</a:t>
                      </a:r>
                      <a:endParaRPr lang="en-US" sz="160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600">
                          <a:effectLst/>
                        </a:rPr>
                        <a:t>Poor preprocessing, overfitting risk</a:t>
                      </a:r>
                      <a:endParaRPr lang="en-US" sz="1600">
                        <a:effectLst/>
                      </a:endParaRPr>
                    </a:p>
                  </a:txBody>
                  <a:tcPr marL="30944" marR="30944" marT="15472" marB="15472" anchor="ctr"/>
                </a:tc>
              </a:tr>
              <a:tr h="495105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600" dirty="0">
                          <a:effectLst/>
                        </a:rPr>
                        <a:t>Aishwarya et al.</a:t>
                      </a:r>
                      <a:endParaRPr lang="en-US" sz="1600" dirty="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600">
                          <a:effectLst/>
                        </a:rPr>
                        <a:t>Health Insurance Cost Prediction App</a:t>
                      </a:r>
                      <a:endParaRPr lang="en-US" sz="160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1600">
                          <a:effectLst/>
                        </a:rPr>
                        <a:t>Random Forest</a:t>
                      </a:r>
                      <a:endParaRPr lang="en-US" sz="160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1600" dirty="0">
                          <a:effectLst/>
                        </a:rPr>
                        <a:t>0.8557</a:t>
                      </a:r>
                      <a:endParaRPr lang="en-US" sz="1600" dirty="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600">
                          <a:effectLst/>
                        </a:rPr>
                        <a:t>Random features, not robust</a:t>
                      </a:r>
                      <a:endParaRPr lang="en-US" sz="1600">
                        <a:effectLst/>
                      </a:endParaRPr>
                    </a:p>
                  </a:txBody>
                  <a:tcPr marL="30944" marR="30944" marT="15472" marB="15472" anchor="ctr"/>
                </a:tc>
              </a:tr>
              <a:tr h="587937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600" dirty="0">
                          <a:effectLst/>
                        </a:rPr>
                        <a:t>Sharma et al.</a:t>
                      </a:r>
                      <a:endParaRPr lang="en-US" sz="1600" dirty="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600">
                          <a:effectLst/>
                        </a:rPr>
                        <a:t>Prediction Of Medical Insurance Cost</a:t>
                      </a:r>
                      <a:endParaRPr lang="en-US" sz="160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1600">
                          <a:effectLst/>
                        </a:rPr>
                        <a:t>Linear Reg.</a:t>
                      </a:r>
                      <a:endParaRPr lang="en-US" sz="160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1600">
                          <a:effectLst/>
                        </a:rPr>
                        <a:t>0.7489</a:t>
                      </a:r>
                      <a:endParaRPr lang="en-US" sz="160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600">
                          <a:effectLst/>
                        </a:rPr>
                        <a:t>No encoding, low data diversity</a:t>
                      </a:r>
                      <a:endParaRPr lang="en-US" sz="1600">
                        <a:effectLst/>
                      </a:endParaRPr>
                    </a:p>
                  </a:txBody>
                  <a:tcPr marL="30944" marR="30944" marT="15472" marB="15472" anchor="ctr"/>
                </a:tc>
              </a:tr>
              <a:tr h="680769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600">
                          <a:effectLst/>
                        </a:rPr>
                        <a:t>J. Paul et al.</a:t>
                      </a:r>
                      <a:endParaRPr lang="en-US" sz="160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600">
                          <a:effectLst/>
                        </a:rPr>
                        <a:t>Analysis &amp; Prediction w/ KNN</a:t>
                      </a:r>
                      <a:endParaRPr lang="en-US" sz="160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1600" dirty="0">
                          <a:effectLst/>
                        </a:rPr>
                        <a:t>KNN </a:t>
                      </a:r>
                      <a:r>
                        <a:rPr lang="en-US" sz="1600" dirty="0" err="1">
                          <a:effectLst/>
                        </a:rPr>
                        <a:t>Regr</a:t>
                      </a:r>
                      <a:r>
                        <a:rPr lang="en-US" sz="1600" dirty="0">
                          <a:effectLst/>
                        </a:rPr>
                        <a:t>.</a:t>
                      </a:r>
                      <a:endParaRPr lang="en-US" sz="1600" dirty="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1600">
                          <a:effectLst/>
                        </a:rPr>
                        <a:t>0.5521</a:t>
                      </a:r>
                      <a:endParaRPr lang="en-US" sz="160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600" dirty="0">
                          <a:effectLst/>
                        </a:rPr>
                        <a:t>No standardization, non-linear relationships</a:t>
                      </a:r>
                      <a:endParaRPr lang="en-US" sz="1600" dirty="0">
                        <a:effectLst/>
                      </a:endParaRPr>
                    </a:p>
                  </a:txBody>
                  <a:tcPr marL="30944" marR="30944" marT="15472" marB="15472" anchor="ctr"/>
                </a:tc>
              </a:tr>
              <a:tr h="51945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600" dirty="0">
                          <a:effectLst/>
                        </a:rPr>
                        <a:t>This Study</a:t>
                      </a:r>
                      <a:endParaRPr lang="en-US" sz="1600" dirty="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/>
                        <a:t>Health Insurance Cost Prediction Using Machine Learning</a:t>
                      </a:r>
                      <a:endParaRPr lang="en-US" sz="1600" dirty="0"/>
                    </a:p>
                    <a:p>
                      <a:pPr fontAlgn="base" latinLnBrk="0"/>
                      <a:endParaRPr lang="en-US" sz="1600" dirty="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1600" dirty="0">
                          <a:effectLst/>
                        </a:rPr>
                        <a:t>Opt. RF</a:t>
                      </a:r>
                      <a:endParaRPr lang="en-US" sz="1600" dirty="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sz="1600" dirty="0">
                          <a:effectLst/>
                        </a:rPr>
                        <a:t>0.8703</a:t>
                      </a:r>
                      <a:endParaRPr lang="en-US" sz="1600" dirty="0">
                        <a:effectLst/>
                      </a:endParaRPr>
                    </a:p>
                  </a:txBody>
                  <a:tcPr marL="30944" marR="30944" marT="15472" marB="15472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/>
                        <a:t>No medical history data, trained on single-region dataset.</a:t>
                      </a:r>
                      <a:endParaRPr lang="en-US" sz="1600" dirty="0"/>
                    </a:p>
                    <a:p>
                      <a:pPr fontAlgn="base" latinLnBrk="0"/>
                      <a:r>
                        <a:rPr lang="en-US" sz="1600" dirty="0">
                          <a:effectLst/>
                        </a:rPr>
                        <a:t> </a:t>
                      </a:r>
                      <a:endParaRPr lang="en-US" sz="1600" dirty="0">
                        <a:effectLst/>
                      </a:endParaRPr>
                    </a:p>
                  </a:txBody>
                  <a:tcPr marL="30944" marR="30944" marT="15472" marB="15472"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607365" y="6383241"/>
            <a:ext cx="6231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 Using Machine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Kumar et al., “Predict Health Insurance Cost using ML and DNN Regression Models,” International Journal of Creative Research Thoughts (IJCRT), vol. 10, no. 3, Mar. 2022.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Aishwarya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“Health Insurance Cost Prediction App,” International Journal for Research in Applied Science and Engineering Technology (IJRASET), vol. 11, no. 4, 2023.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Sharma et al., “Prediction Of Medical Insurance Cost Through Linear Regression Model,”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ResearchGate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Paul et al., “An Analysis &amp; Prediction of Health Insurance Costs using KNN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R,” Journal of Advanced Research in Engineering and Technology, 2024.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Hunter et al., “The Impact of Smoking and Obesity on Healthcare Costs: An Interaction Model,” Journal of Actuarial Science, 2021.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566260" y="6452557"/>
            <a:ext cx="16445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dirty="0"/>
              <a:t>                               15</a:t>
            </a:r>
            <a:endParaRPr lang="en-US" sz="1100" dirty="0"/>
          </a:p>
        </p:txBody>
      </p:sp>
      <p:sp>
        <p:nvSpPr>
          <p:cNvPr id="5" name="TextBox 4"/>
          <p:cNvSpPr txBox="1"/>
          <p:nvPr/>
        </p:nvSpPr>
        <p:spPr>
          <a:xfrm>
            <a:off x="2478157" y="6452558"/>
            <a:ext cx="6088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 Using Machine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080" y="548641"/>
            <a:ext cx="473078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latin typeface="Times New Roman" panose="02020603050405020304"/>
              </a:defRPr>
            </a:pPr>
            <a:r>
              <a:rPr sz="4400" dirty="0"/>
              <a:t>Strengths of System</a:t>
            </a:r>
            <a:endParaRPr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2314533" y="1318081"/>
            <a:ext cx="4001416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400" dirty="0"/>
          </a:p>
          <a:p>
            <a:pPr marL="457200" indent="-457200">
              <a:buFont typeface="+mj-lt"/>
              <a:buAutoNum type="arabicPeriod"/>
              <a:defRPr sz="2200">
                <a:latin typeface="Times New Roman" panose="02020603050405020304"/>
              </a:defRPr>
            </a:pPr>
            <a:r>
              <a:rPr sz="2400" dirty="0"/>
              <a:t>Proper preprocessing.</a:t>
            </a:r>
            <a:endParaRPr sz="2400" dirty="0"/>
          </a:p>
          <a:p>
            <a:pPr marL="457200" indent="-457200">
              <a:buFont typeface="+mj-lt"/>
              <a:buAutoNum type="arabicPeriod"/>
              <a:defRPr sz="2200">
                <a:latin typeface="Times New Roman" panose="02020603050405020304"/>
              </a:defRPr>
            </a:pPr>
            <a:r>
              <a:rPr sz="2400" dirty="0"/>
              <a:t>Strong feature engineering.</a:t>
            </a:r>
            <a:endParaRPr sz="2400" dirty="0"/>
          </a:p>
          <a:p>
            <a:pPr marL="457200" indent="-457200">
              <a:buFont typeface="+mj-lt"/>
              <a:buAutoNum type="arabicPeriod"/>
              <a:defRPr sz="2200">
                <a:latin typeface="Times New Roman" panose="02020603050405020304"/>
              </a:defRPr>
            </a:pPr>
            <a:r>
              <a:rPr sz="2400" dirty="0"/>
              <a:t>Model optimization.</a:t>
            </a:r>
            <a:endParaRPr sz="2400" dirty="0"/>
          </a:p>
          <a:p>
            <a:pPr marL="457200" indent="-457200">
              <a:buFont typeface="+mj-lt"/>
              <a:buAutoNum type="arabicPeriod"/>
              <a:defRPr sz="2200">
                <a:latin typeface="Times New Roman" panose="02020603050405020304"/>
              </a:defRPr>
            </a:pPr>
            <a:r>
              <a:rPr sz="2400" dirty="0"/>
              <a:t>High prediction accuracy.</a:t>
            </a:r>
            <a:endParaRPr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9753600" y="6400801"/>
            <a:ext cx="36420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Times New Roman" panose="02020603050405020304"/>
              </a:defRPr>
            </a:pPr>
            <a:r>
              <a:rPr sz="1400"/>
              <a:t>16</a:t>
            </a:r>
            <a:endParaRPr sz="1400"/>
          </a:p>
        </p:txBody>
      </p:sp>
      <p:sp>
        <p:nvSpPr>
          <p:cNvPr id="5" name="TextBox 4"/>
          <p:cNvSpPr txBox="1"/>
          <p:nvPr/>
        </p:nvSpPr>
        <p:spPr>
          <a:xfrm>
            <a:off x="2557671" y="6400801"/>
            <a:ext cx="6430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 Using Machine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29006" y="548641"/>
            <a:ext cx="278794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latin typeface="Times New Roman" panose="02020603050405020304"/>
              </a:defRPr>
            </a:pPr>
            <a:r>
              <a:rPr sz="4400" dirty="0"/>
              <a:t>Limitations</a:t>
            </a:r>
            <a:endParaRPr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2217285" y="1477837"/>
            <a:ext cx="5469767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457200" indent="-457200">
              <a:buFont typeface="+mj-lt"/>
              <a:buAutoNum type="arabicPeriod"/>
              <a:defRPr sz="2200">
                <a:latin typeface="Times New Roman" panose="02020603050405020304"/>
              </a:defRPr>
            </a:pPr>
            <a:r>
              <a:rPr sz="2400" dirty="0"/>
              <a:t>Dataset</a:t>
            </a:r>
            <a:r>
              <a:rPr lang="en-US" sz="2400" dirty="0"/>
              <a:t> is not too large.</a:t>
            </a:r>
            <a:endParaRPr sz="2400" dirty="0"/>
          </a:p>
          <a:p>
            <a:pPr marL="457200" indent="-457200">
              <a:buFont typeface="+mj-lt"/>
              <a:buAutoNum type="arabicPeriod"/>
              <a:defRPr sz="2200">
                <a:latin typeface="Times New Roman" panose="02020603050405020304"/>
              </a:defRPr>
            </a:pPr>
            <a:r>
              <a:rPr sz="2400" dirty="0"/>
              <a:t>No medical history data.</a:t>
            </a:r>
            <a:endParaRPr sz="2400" dirty="0"/>
          </a:p>
          <a:p>
            <a:pPr marL="457200" indent="-457200">
              <a:buFont typeface="+mj-lt"/>
              <a:buAutoNum type="arabicPeriod"/>
              <a:defRPr sz="2200">
                <a:latin typeface="Times New Roman" panose="02020603050405020304"/>
              </a:defRPr>
            </a:pPr>
            <a:r>
              <a:rPr sz="2400" dirty="0"/>
              <a:t>Model trained on single-region dataset.</a:t>
            </a:r>
            <a:endParaRPr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9753600" y="6400801"/>
            <a:ext cx="36420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Times New Roman" panose="02020603050405020304"/>
              </a:defRPr>
            </a:pPr>
            <a:r>
              <a:rPr sz="1400"/>
              <a:t>17</a:t>
            </a:r>
            <a:endParaRPr sz="1400"/>
          </a:p>
        </p:txBody>
      </p:sp>
      <p:sp>
        <p:nvSpPr>
          <p:cNvPr id="5" name="TextBox 4"/>
          <p:cNvSpPr txBox="1"/>
          <p:nvPr/>
        </p:nvSpPr>
        <p:spPr>
          <a:xfrm>
            <a:off x="2627243" y="6400801"/>
            <a:ext cx="6470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 Using Machine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1" y="548641"/>
            <a:ext cx="505779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latin typeface="Times New Roman" panose="02020603050405020304"/>
              </a:defRPr>
            </a:pPr>
            <a:r>
              <a:rPr sz="4400" dirty="0"/>
              <a:t>Future Improvements</a:t>
            </a:r>
            <a:endParaRPr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2464242" y="1639957"/>
            <a:ext cx="6196054" cy="2103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200">
                <a:latin typeface="Times New Roman" panose="02020603050405020304"/>
              </a:defRPr>
            </a:pPr>
            <a:r>
              <a:rPr sz="2400" dirty="0"/>
              <a:t>Add neural networks.</a:t>
            </a:r>
            <a:endParaRPr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200">
                <a:latin typeface="Times New Roman" panose="02020603050405020304"/>
              </a:defRPr>
            </a:pPr>
            <a:r>
              <a:rPr sz="2400" dirty="0"/>
              <a:t>Use larger datasets.</a:t>
            </a:r>
            <a:endParaRPr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200">
                <a:latin typeface="Times New Roman" panose="02020603050405020304"/>
              </a:defRPr>
            </a:pPr>
            <a:r>
              <a:rPr sz="2400" dirty="0"/>
              <a:t>Deploy system as web app.</a:t>
            </a:r>
            <a:endParaRPr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9753600" y="6400801"/>
            <a:ext cx="36420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Times New Roman" panose="02020603050405020304"/>
              </a:defRPr>
            </a:pPr>
            <a:r>
              <a:rPr sz="1400"/>
              <a:t>18</a:t>
            </a:r>
            <a:endParaRPr sz="1400"/>
          </a:p>
        </p:txBody>
      </p:sp>
      <p:sp>
        <p:nvSpPr>
          <p:cNvPr id="5" name="TextBox 4"/>
          <p:cNvSpPr txBox="1"/>
          <p:nvPr/>
        </p:nvSpPr>
        <p:spPr>
          <a:xfrm>
            <a:off x="2378766" y="6400801"/>
            <a:ext cx="6937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 Using Machine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1" y="548641"/>
            <a:ext cx="27558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latin typeface="Times New Roman" panose="02020603050405020304"/>
              </a:defRPr>
            </a:pPr>
            <a:r>
              <a:rPr sz="4400" dirty="0"/>
              <a:t>Conclusion</a:t>
            </a:r>
            <a:endParaRPr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2438400" y="1463040"/>
            <a:ext cx="5516062" cy="224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  <a:defRPr sz="2200">
                <a:latin typeface="Times New Roman" panose="02020603050405020304"/>
              </a:defRPr>
            </a:pPr>
            <a:r>
              <a:rPr sz="2400" dirty="0"/>
              <a:t>ML successfully predicts insurance cost.</a:t>
            </a:r>
            <a:endParaRPr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  <a:defRPr sz="2200">
                <a:latin typeface="Times New Roman" panose="02020603050405020304"/>
              </a:defRPr>
            </a:pPr>
            <a:r>
              <a:rPr sz="2400" dirty="0"/>
              <a:t>Optimized Random Forest best.</a:t>
            </a:r>
            <a:endParaRPr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  <a:defRPr sz="2200">
                <a:latin typeface="Times New Roman" panose="02020603050405020304"/>
              </a:defRPr>
            </a:pPr>
            <a:r>
              <a:rPr sz="2400" dirty="0"/>
              <a:t>Useful for insurance companies.</a:t>
            </a:r>
            <a:endParaRPr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9753600" y="6400801"/>
            <a:ext cx="36420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Times New Roman" panose="02020603050405020304"/>
              </a:defRPr>
            </a:pPr>
            <a:r>
              <a:rPr sz="1400"/>
              <a:t>19</a:t>
            </a:r>
            <a:endParaRPr sz="1400"/>
          </a:p>
        </p:txBody>
      </p:sp>
      <p:sp>
        <p:nvSpPr>
          <p:cNvPr id="5" name="TextBox 4"/>
          <p:cNvSpPr txBox="1"/>
          <p:nvPr/>
        </p:nvSpPr>
        <p:spPr>
          <a:xfrm>
            <a:off x="2438401" y="6400801"/>
            <a:ext cx="6987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 Using Machine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9128" y="-1941670"/>
            <a:ext cx="7222811" cy="56323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2" algn="ctr">
              <a:defRPr sz="3000">
                <a:latin typeface="Times New Roman" panose="02020603050405020304"/>
              </a:defRPr>
            </a:pPr>
            <a:endParaRPr lang="en-US" sz="7200" dirty="0"/>
          </a:p>
          <a:p>
            <a:pPr lvl="2" algn="ctr">
              <a:defRPr sz="3000">
                <a:latin typeface="Times New Roman" panose="02020603050405020304"/>
              </a:defRPr>
            </a:pPr>
            <a:endParaRPr lang="en-US" sz="7200" dirty="0"/>
          </a:p>
          <a:p>
            <a:pPr lvl="2" algn="ctr">
              <a:defRPr sz="3000">
                <a:latin typeface="Times New Roman" panose="02020603050405020304"/>
              </a:defRPr>
            </a:pPr>
            <a:endParaRPr lang="en-US" sz="7200" dirty="0"/>
          </a:p>
          <a:p>
            <a:pPr lvl="2" algn="ctr">
              <a:defRPr sz="3000">
                <a:latin typeface="Times New Roman" panose="02020603050405020304"/>
              </a:defRPr>
            </a:pPr>
            <a:endParaRPr lang="en-US" sz="7200" dirty="0"/>
          </a:p>
          <a:p>
            <a:pPr lvl="2" algn="ctr">
              <a:defRPr sz="3000">
                <a:latin typeface="Times New Roman" panose="02020603050405020304"/>
              </a:defRPr>
            </a:pPr>
            <a:r>
              <a:rPr lang="en-US" sz="7200" dirty="0"/>
              <a:t>         </a:t>
            </a:r>
            <a:r>
              <a:rPr sz="7200" dirty="0"/>
              <a:t>Thank You</a:t>
            </a:r>
            <a:endParaRPr sz="7200" dirty="0"/>
          </a:p>
        </p:txBody>
      </p:sp>
      <p:sp>
        <p:nvSpPr>
          <p:cNvPr id="4" name="TextBox 3"/>
          <p:cNvSpPr txBox="1"/>
          <p:nvPr/>
        </p:nvSpPr>
        <p:spPr>
          <a:xfrm>
            <a:off x="9753600" y="6400801"/>
            <a:ext cx="36420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Times New Roman" panose="02020603050405020304"/>
              </a:defRPr>
            </a:pPr>
            <a:r>
              <a:rPr sz="1400"/>
              <a:t>20</a:t>
            </a:r>
            <a:endParaRPr sz="1400"/>
          </a:p>
        </p:txBody>
      </p:sp>
      <p:sp>
        <p:nvSpPr>
          <p:cNvPr id="3" name="TextBox 2"/>
          <p:cNvSpPr txBox="1"/>
          <p:nvPr/>
        </p:nvSpPr>
        <p:spPr>
          <a:xfrm>
            <a:off x="1341783" y="6400801"/>
            <a:ext cx="7305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 Using Machine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6215</Words>
  <Application>WPS Presentation</Application>
  <PresentationFormat>Widescreen</PresentationFormat>
  <Paragraphs>351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Times New Roman</vt:lpstr>
      <vt:lpstr>Times New Roman</vt:lpstr>
      <vt:lpstr>Microsoft YaHei</vt:lpstr>
      <vt:lpstr>Arial Unicode MS</vt:lpstr>
      <vt:lpstr>Retrospect</vt:lpstr>
      <vt:lpstr>PowerPoint 演示文稿</vt:lpstr>
      <vt:lpstr>PowerPoint 演示文稿</vt:lpstr>
      <vt:lpstr>PowerPoint 演示文稿</vt:lpstr>
      <vt:lpstr>PowerPoint 演示文稿</vt:lpstr>
      <vt:lpstr>Key Contributions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Top 3 models: Actual vs Predicted Residuals</vt:lpstr>
      <vt:lpstr>PowerPoint 演示文稿</vt:lpstr>
      <vt:lpstr>PowerPoint 演示文稿</vt:lpstr>
      <vt:lpstr>References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dc:description>generated using python-pptx</dc:description>
  <cp:lastModifiedBy>Masuma Sadia</cp:lastModifiedBy>
  <cp:revision>21</cp:revision>
  <dcterms:created xsi:type="dcterms:W3CDTF">2013-01-27T09:14:00Z</dcterms:created>
  <dcterms:modified xsi:type="dcterms:W3CDTF">2025-12-02T12:54:08Z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49B8E2E43C664D6886183CE0E954727D_13</vt:lpwstr>
  </property>
  <property fmtid="{D5CDD505-2E9C-101B-9397-08002B2CF9AE}" pid="3" name="KSOProductBuildVer">
    <vt:lpwstr>1033-12.2.0.23155</vt:lpwstr>
  </property>
</Properties>
</file>