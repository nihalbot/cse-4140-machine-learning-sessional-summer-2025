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KmirU0Mh5jf2AlTSnoQUHypaq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A1ECE2-93AE-4265-A41A-9BFC9078A40F}">
  <a:tblStyle styleId="{42A1ECE2-93AE-4265-A41A-9BFC9078A4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1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223" name="Google Shape;223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537882" y="2705725"/>
            <a:ext cx="8534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CPU Performance Prediction Using Machine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A Comprehensive Comparative Analysis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103684" y="5179223"/>
            <a:ext cx="300806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Presented To: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Engr. Rohul Amin, Lecturer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Nadim Reza, Lecturer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4470" y="5179223"/>
            <a:ext cx="457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Nahid Hasan Arif (220201075)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87082" y="3561080"/>
            <a:ext cx="83371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87082" y="296761"/>
            <a:ext cx="833717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Bangladesh Army University of Science and Technology (BAUST)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6108" y="1172067"/>
            <a:ext cx="1491783" cy="153365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2636257" y="4019805"/>
            <a:ext cx="3802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CSE 4140: Machine Learning Sessional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4546601" y="5179223"/>
            <a:ext cx="45719" cy="1321056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0" type="dt"/>
          </p:nvPr>
        </p:nvSpPr>
        <p:spPr>
          <a:xfrm>
            <a:off x="2794001" y="4385225"/>
            <a:ext cx="35153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030A0"/>
                </a:solidFill>
              </a:rPr>
              <a:t>Date: 02-Dec-25</a:t>
            </a:r>
            <a:endParaRPr b="1" sz="1800">
              <a:solidFill>
                <a:srgbClr val="7030A0"/>
              </a:solidFill>
            </a:endParaRPr>
          </a:p>
        </p:txBody>
      </p:sp>
      <p:sp>
        <p:nvSpPr>
          <p:cNvPr id="97" name="Google Shape;97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457200" y="1168400"/>
            <a:ext cx="8337177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Problem Context: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performance prediction is critical for system designers, manufacturers, and consumers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benchmarking is time-consuming and resource-intensive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CPUs have complex heterogeneous architectures (P-cores + E-cores)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8060"/>
                </a:solidFill>
                <a:latin typeface="Calibri"/>
                <a:ea typeface="Calibri"/>
                <a:cs typeface="Calibri"/>
                <a:sym typeface="Calibri"/>
              </a:rPr>
              <a:t>Challenges: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Non-linear interactions between hardware components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specifications in real-world datasets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accurate generalization across CPU families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8060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machine learning to predict performance from hardware specifications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multiple algorithms and identify optimal approach</a:t>
            </a:r>
            <a:endParaRPr/>
          </a:p>
        </p:txBody>
      </p:sp>
      <p:sp>
        <p:nvSpPr>
          <p:cNvPr id="104" name="Google Shape;10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105" name="Google Shape;10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106" name="Google Shape;10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745524" y="1022590"/>
            <a:ext cx="8229599" cy="54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Evaluate 6 Machine Learning Algorithms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Linear Regression, Decision Tree, Random Forest, Gradient Boosting, XGBoost, LightGBM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Analyze Comprehensive Dataset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96 CPUs from Intel &amp; AMD with 27 hardware 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Implement Robust Preprocessing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 Feature scaling, categorical encoding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Identify Key Performance Drivers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 Feature importance analysis and correlation study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Achieve Superior Accuracy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 Target R² &gt; 0.95 with minimal overfitting &lt; 0.10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Compare with Prior Research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 Benchmark against Liu (2024), Islam &amp; Sandborn (2023), Eyerman (2011)</a:t>
            </a:r>
            <a:endParaRPr/>
          </a:p>
        </p:txBody>
      </p:sp>
      <p:sp>
        <p:nvSpPr>
          <p:cNvPr id="113" name="Google Shape;11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114" name="Google Shape;114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115" name="Google Shape;11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731520" y="1188720"/>
            <a:ext cx="7680960" cy="155448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Liu et al. (2024)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Power consumption &amp; performance prediction using  Random Forest, XGBoost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Dataset: 100+ CPUs | Result: R² = 0.91 | Limitation: Limited to power-performance tradeoff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31520" y="2926080"/>
            <a:ext cx="7680960" cy="128016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Islam et al. (2023)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CPU benchmark score prediction using ensemble learning techniques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Dataset: 85 CPUs | Result: R² = 0.885 | Limitation: Single benchmark metric (Cinebench)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731520" y="4479738"/>
            <a:ext cx="7680960" cy="1280160"/>
          </a:xfrm>
          <a:prstGeom prst="rect">
            <a:avLst/>
          </a:prstGeom>
          <a:solidFill>
            <a:srgbClr val="F0F8FF"/>
          </a:solidFill>
          <a:ln cap="flat" cmpd="sng" w="254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Eyerman &amp; Eeckhout (2011)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3C3C3C"/>
                </a:solidFill>
                <a:latin typeface="Calibri"/>
                <a:ea typeface="Calibri"/>
                <a:cs typeface="Calibri"/>
                <a:sym typeface="Calibri"/>
              </a:rPr>
              <a:t>Mechanistic model for interval-based CPU performance prediction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Dataset: SPEC CPU workloads | Result: R² = 0.82 | Limitation: Workload-specific, not hardware-based</a:t>
            </a:r>
            <a:endParaRPr/>
          </a:p>
        </p:txBody>
      </p:sp>
      <p:sp>
        <p:nvSpPr>
          <p:cNvPr id="124" name="Google Shape;1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125" name="Google Shape;1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126" name="Google Shape;1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Our Proposed System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68960" y="2011680"/>
            <a:ext cx="2194560" cy="3474720"/>
          </a:xfrm>
          <a:prstGeom prst="rect">
            <a:avLst/>
          </a:prstGeom>
          <a:solidFill>
            <a:srgbClr val="0066CC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Collection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 CPUs (Intel &amp; AMD)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 Hardware Features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Benchmarks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525520" y="2011680"/>
            <a:ext cx="2194560" cy="3474720"/>
          </a:xfrm>
          <a:prstGeom prst="rect">
            <a:avLst/>
          </a:prstGeom>
          <a:solidFill>
            <a:srgbClr val="00806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KNN Imputation (k=5)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RobustScaler Normalization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Categorical Encoding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502400" y="2011680"/>
            <a:ext cx="2194560" cy="3474720"/>
          </a:xfrm>
          <a:prstGeom prst="rect">
            <a:avLst/>
          </a:prstGeom>
          <a:solidFill>
            <a:srgbClr val="FF8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 Training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Algorithms Evaluated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80-20 Train-Test Split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/>
          </a:p>
        </p:txBody>
      </p:sp>
      <p:sp>
        <p:nvSpPr>
          <p:cNvPr id="135" name="Google Shape;1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136" name="Google Shape;1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137" name="Google Shape;1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2946400" y="3596640"/>
            <a:ext cx="365760" cy="19812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A0C94A"/>
              </a:gs>
              <a:gs pos="100000">
                <a:srgbClr val="DBFF9C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933440" y="3596640"/>
            <a:ext cx="365760" cy="19812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A0C94A"/>
              </a:gs>
              <a:gs pos="100000">
                <a:srgbClr val="DBFF9C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Outline of Methodology</a:t>
            </a:r>
            <a:endParaRPr/>
          </a:p>
        </p:txBody>
      </p:sp>
      <p:grpSp>
        <p:nvGrpSpPr>
          <p:cNvPr id="145" name="Google Shape;145;p6"/>
          <p:cNvGrpSpPr/>
          <p:nvPr/>
        </p:nvGrpSpPr>
        <p:grpSpPr>
          <a:xfrm>
            <a:off x="1656357" y="1097001"/>
            <a:ext cx="5152370" cy="1703397"/>
            <a:chOff x="1" y="-1"/>
            <a:chExt cx="5152370" cy="1703397"/>
          </a:xfrm>
        </p:grpSpPr>
        <p:sp>
          <p:nvSpPr>
            <p:cNvPr id="146" name="Google Shape;146;p6"/>
            <p:cNvSpPr/>
            <p:nvPr/>
          </p:nvSpPr>
          <p:spPr>
            <a:xfrm rot="5400000">
              <a:off x="-255509" y="255509"/>
              <a:ext cx="1703397" cy="1192377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 txBox="1"/>
            <p:nvPr/>
          </p:nvSpPr>
          <p:spPr>
            <a:xfrm>
              <a:off x="2" y="596188"/>
              <a:ext cx="1192377" cy="51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1"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Preparation</a:t>
              </a:r>
              <a:endParaRPr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 rot="5400000">
              <a:off x="2618770" y="-1426392"/>
              <a:ext cx="1107208" cy="3959993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1192378" y="54049"/>
              <a:ext cx="3905944" cy="999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50" lIns="135125" spcFirstLastPara="1" rIns="12050" wrap="square" tIns="120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CPU dataset collection (96 samples)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Feature extraction (27 attributes)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value analysis</a:t>
              </a:r>
              <a:endParaRPr/>
            </a:p>
          </p:txBody>
        </p:sp>
      </p:grpSp>
      <p:grpSp>
        <p:nvGrpSpPr>
          <p:cNvPr id="150" name="Google Shape;150;p6"/>
          <p:cNvGrpSpPr/>
          <p:nvPr/>
        </p:nvGrpSpPr>
        <p:grpSpPr>
          <a:xfrm>
            <a:off x="1658531" y="2333182"/>
            <a:ext cx="4207749" cy="1703397"/>
            <a:chOff x="2175" y="-1"/>
            <a:chExt cx="4207749" cy="1703397"/>
          </a:xfrm>
        </p:grpSpPr>
        <p:sp>
          <p:nvSpPr>
            <p:cNvPr id="151" name="Google Shape;151;p6"/>
            <p:cNvSpPr/>
            <p:nvPr/>
          </p:nvSpPr>
          <p:spPr>
            <a:xfrm rot="5400000">
              <a:off x="-253335" y="255509"/>
              <a:ext cx="1703397" cy="1192377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2176" y="596188"/>
              <a:ext cx="1192377" cy="51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" lIns="9525" spcFirstLastPara="1" rIns="9525" wrap="square" tIns="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Preprocessing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 rot="5400000">
              <a:off x="2150808" y="-951908"/>
              <a:ext cx="1107208" cy="301102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1198901" y="54048"/>
              <a:ext cx="2956975" cy="999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50" lIns="135125" spcFirstLastPara="1" rIns="12050" wrap="square" tIns="120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KNN imputation (k=5)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Scaler normalization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Train-test split (80-20)</a:t>
              </a:r>
              <a:endParaRPr/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1656357" y="4758084"/>
            <a:ext cx="4531358" cy="1703397"/>
            <a:chOff x="1" y="-1"/>
            <a:chExt cx="4531358" cy="1703397"/>
          </a:xfrm>
        </p:grpSpPr>
        <p:sp>
          <p:nvSpPr>
            <p:cNvPr id="156" name="Google Shape;156;p6"/>
            <p:cNvSpPr/>
            <p:nvPr/>
          </p:nvSpPr>
          <p:spPr>
            <a:xfrm rot="5400000">
              <a:off x="-255509" y="255509"/>
              <a:ext cx="1703397" cy="1192377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2" y="596188"/>
              <a:ext cx="1192377" cy="51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1"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Training</a:t>
              </a:r>
              <a:endParaRPr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 rot="5400000">
              <a:off x="2308264" y="-922834"/>
              <a:ext cx="1107208" cy="333898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1192378" y="247101"/>
              <a:ext cx="3284933" cy="999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50" lIns="135125" spcFirstLastPara="1" rIns="12050" wrap="square" tIns="120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 ML algorithms implemented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Hyperparameter optimization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Cross-validation applied</a:t>
              </a:r>
              <a:endParaRPr/>
            </a:p>
          </p:txBody>
        </p:sp>
      </p:grpSp>
      <p:grpSp>
        <p:nvGrpSpPr>
          <p:cNvPr id="160" name="Google Shape;160;p6"/>
          <p:cNvGrpSpPr/>
          <p:nvPr/>
        </p:nvGrpSpPr>
        <p:grpSpPr>
          <a:xfrm>
            <a:off x="1656357" y="3545633"/>
            <a:ext cx="5403534" cy="1703397"/>
            <a:chOff x="1" y="-1"/>
            <a:chExt cx="5403534" cy="1703397"/>
          </a:xfrm>
        </p:grpSpPr>
        <p:sp>
          <p:nvSpPr>
            <p:cNvPr id="161" name="Google Shape;161;p6"/>
            <p:cNvSpPr/>
            <p:nvPr/>
          </p:nvSpPr>
          <p:spPr>
            <a:xfrm rot="5400000">
              <a:off x="-255509" y="255509"/>
              <a:ext cx="1703397" cy="1192377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6"/>
            <p:cNvSpPr txBox="1"/>
            <p:nvPr/>
          </p:nvSpPr>
          <p:spPr>
            <a:xfrm>
              <a:off x="2" y="596188"/>
              <a:ext cx="1192377" cy="51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75" lIns="10775" spcFirstLastPara="1" rIns="10775" wrap="square" tIns="1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1"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 Evaluation</a:t>
              </a:r>
              <a:endParaRPr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 rot="5400000">
              <a:off x="2744352" y="-1551974"/>
              <a:ext cx="1107208" cy="4211157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6"/>
            <p:cNvSpPr txBox="1"/>
            <p:nvPr/>
          </p:nvSpPr>
          <p:spPr>
            <a:xfrm>
              <a:off x="1192378" y="54049"/>
              <a:ext cx="4157108" cy="999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50" lIns="135125" spcFirstLastPara="1" rIns="12050" wrap="square" tIns="120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Performance metrics (R², RMSE, MAE)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ROC curve analysis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Feature importance ranking</a:t>
              </a:r>
              <a:endParaRPr/>
            </a:p>
          </p:txBody>
        </p:sp>
      </p:grpSp>
      <p:sp>
        <p:nvSpPr>
          <p:cNvPr id="165" name="Google Shape;16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166" name="Google Shape;16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167" name="Google Shape;16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/>
          </a:p>
        </p:txBody>
      </p:sp>
      <p:pic>
        <p:nvPicPr>
          <p:cNvPr descr="fig1_missing_values.png"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480" y="3707497"/>
            <a:ext cx="8450320" cy="27834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457200" y="1610497"/>
            <a:ext cx="3196901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Specifications: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96 CPU samples (Intel &amp; AMD)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27 hardware features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Types: Desktop &amp; Laptop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Years: 2020-2023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Missing values: 1.0%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4823254" y="1630566"/>
            <a:ext cx="457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8060"/>
                </a:solidFill>
                <a:latin typeface="Calibri"/>
                <a:ea typeface="Calibri"/>
                <a:cs typeface="Calibri"/>
                <a:sym typeface="Calibri"/>
              </a:rPr>
              <a:t>Train-Test Split: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Training: 77 samples (80%)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Testing: 19 samples (20%)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Random state: 42</a:t>
            </a:r>
            <a:endParaRPr/>
          </a:p>
        </p:txBody>
      </p:sp>
      <p:sp>
        <p:nvSpPr>
          <p:cNvPr id="176" name="Google Shape;17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177" name="Google Shape;17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Feature Importance Analysis</a:t>
            </a:r>
            <a:endParaRPr/>
          </a:p>
        </p:txBody>
      </p:sp>
      <p:pic>
        <p:nvPicPr>
          <p:cNvPr descr="fig7_feature_importance.png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097280"/>
            <a:ext cx="690449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186" name="Google Shape;18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187" name="Google Shape;18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Learning Curves</a:t>
            </a: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1309460" y="5046627"/>
            <a:ext cx="6300123" cy="1444675"/>
            <a:chOff x="0" y="937"/>
            <a:chExt cx="6300123" cy="1444675"/>
          </a:xfrm>
        </p:grpSpPr>
        <p:sp>
          <p:nvSpPr>
            <p:cNvPr id="194" name="Google Shape;194;p9"/>
            <p:cNvSpPr/>
            <p:nvPr/>
          </p:nvSpPr>
          <p:spPr>
            <a:xfrm>
              <a:off x="0" y="937"/>
              <a:ext cx="6300123" cy="353216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 txBox="1"/>
            <p:nvPr/>
          </p:nvSpPr>
          <p:spPr>
            <a:xfrm>
              <a:off x="17243" y="18180"/>
              <a:ext cx="6265637" cy="31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Linear Regression shows best convergence</a:t>
              </a: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0" y="364756"/>
              <a:ext cx="6300123" cy="353216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 txBox="1"/>
            <p:nvPr/>
          </p:nvSpPr>
          <p:spPr>
            <a:xfrm>
              <a:off x="17243" y="381999"/>
              <a:ext cx="6265637" cy="31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Minimal gap between training and testing curves</a:t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0" y="728576"/>
              <a:ext cx="6300123" cy="353216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 txBox="1"/>
            <p:nvPr/>
          </p:nvSpPr>
          <p:spPr>
            <a:xfrm>
              <a:off x="17243" y="745819"/>
              <a:ext cx="6265637" cy="31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Consistent performance across all training sizes</a:t>
              </a: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0" y="1092396"/>
              <a:ext cx="6300123" cy="353216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9"/>
            <p:cNvSpPr txBox="1"/>
            <p:nvPr/>
          </p:nvSpPr>
          <p:spPr>
            <a:xfrm>
              <a:off x="17243" y="1109639"/>
              <a:ext cx="6265637" cy="31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Low overfitting indicates good generalization</a:t>
              </a:r>
              <a:endParaRPr/>
            </a:p>
          </p:txBody>
        </p:sp>
      </p:grpSp>
      <p:pic>
        <p:nvPicPr>
          <p:cNvPr descr="fig9_learning_curves.png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5870" y="1014394"/>
            <a:ext cx="6067305" cy="403129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204" name="Google Shape;20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205" name="Google Shape;20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ROC Curve Analysis - Top Models</a:t>
            </a:r>
            <a:endParaRPr/>
          </a:p>
        </p:txBody>
      </p:sp>
      <p:pic>
        <p:nvPicPr>
          <p:cNvPr descr="fig16_roc_linear_regression.png" id="211" name="Google Shape;2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914400"/>
            <a:ext cx="3749389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 txBox="1"/>
          <p:nvPr/>
        </p:nvSpPr>
        <p:spPr>
          <a:xfrm>
            <a:off x="731520" y="484632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b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AUC = 1.00</a:t>
            </a:r>
            <a:endParaRPr/>
          </a:p>
        </p:txBody>
      </p:sp>
      <p:pic>
        <p:nvPicPr>
          <p:cNvPr descr="fig16_roc_xgboost.png" id="213" name="Google Shape;2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914400"/>
            <a:ext cx="3749389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 txBox="1"/>
          <p:nvPr/>
        </p:nvSpPr>
        <p:spPr>
          <a:xfrm>
            <a:off x="4846320" y="484632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b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AUC = 0.99</a:t>
            </a:r>
            <a:endParaRPr/>
          </a:p>
        </p:txBody>
      </p:sp>
      <p:sp>
        <p:nvSpPr>
          <p:cNvPr id="215" name="Google Shape;21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216" name="Google Shape;21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217" name="Google Shape;21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Model Performance Comparison</a:t>
            </a:r>
            <a:endParaRPr/>
          </a:p>
        </p:txBody>
      </p:sp>
      <p:graphicFrame>
        <p:nvGraphicFramePr>
          <p:cNvPr id="226" name="Google Shape;226;p11"/>
          <p:cNvGraphicFramePr/>
          <p:nvPr/>
        </p:nvGraphicFramePr>
        <p:xfrm>
          <a:off x="539578" y="19383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{42A1ECE2-93AE-4265-A41A-9BFC9078A40F}</a:tableStyleId>
              </a:tblPr>
              <a:tblGrid>
                <a:gridCol w="1828800"/>
                <a:gridCol w="1280150"/>
                <a:gridCol w="1280150"/>
                <a:gridCol w="1280150"/>
                <a:gridCol w="1280150"/>
                <a:gridCol w="12801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Test R²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RMSE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MAE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Overfit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Time (s)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Linear Reg.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0.9618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1814.75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1550.40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0.0157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99CC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Decision Tree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0.8330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3796.85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2345.05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0.1670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Random Forest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0.9273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2505.88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1726.17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0.0668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0.95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Gradient Boost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0.9095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2795.74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1931.00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0.0905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2.34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XGBoost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0.9261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2526.45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1813.18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0.0739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0.78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LightGBM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0.8938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3027.17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2232.01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0.0780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0.45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7" name="Google Shape;22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228" name="Google Shape;22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229" name="Google Shape;22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Comparison with Related Works</a:t>
            </a:r>
            <a:endParaRPr/>
          </a:p>
        </p:txBody>
      </p:sp>
      <p:graphicFrame>
        <p:nvGraphicFramePr>
          <p:cNvPr id="235" name="Google Shape;235;p12"/>
          <p:cNvGraphicFramePr/>
          <p:nvPr/>
        </p:nvGraphicFramePr>
        <p:xfrm>
          <a:off x="91440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{42A1ECE2-93AE-4265-A41A-9BFC9078A40F}</a:tableStyleId>
              </a:tblPr>
              <a:tblGrid>
                <a:gridCol w="1463050"/>
                <a:gridCol w="1463050"/>
                <a:gridCol w="1463050"/>
                <a:gridCol w="1463050"/>
                <a:gridCol w="1463050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Study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Dataset Size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Best 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R2 Score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Improvement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(on Previous)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Eyerman (2011)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SPEC CPU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Mechanistic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0.820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Islam (2023)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85 CPUs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Ensemble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0.885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+6.5%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Liu (2024)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100+ CPUs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XGBoost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0.910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+9.0%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Our Work (2025)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96 CPUs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Linear Reg.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0.9618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+5.7%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12"/>
          <p:cNvSpPr txBox="1"/>
          <p:nvPr/>
        </p:nvSpPr>
        <p:spPr>
          <a:xfrm>
            <a:off x="1371600" y="60350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8060"/>
                </a:solidFill>
                <a:latin typeface="Calibri"/>
                <a:ea typeface="Calibri"/>
                <a:cs typeface="Calibri"/>
                <a:sym typeface="Calibri"/>
              </a:rPr>
              <a:t>Our model achieves state-of-the-art performance with R2 = 0.9618</a:t>
            </a:r>
            <a:endParaRPr/>
          </a:p>
        </p:txBody>
      </p:sp>
      <p:sp>
        <p:nvSpPr>
          <p:cNvPr id="237" name="Google Shape;2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238" name="Google Shape;2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239" name="Google Shape;2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 txBox="1"/>
          <p:nvPr/>
        </p:nvSpPr>
        <p:spPr>
          <a:xfrm>
            <a:off x="2000433" y="272587"/>
            <a:ext cx="51431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Future Research Direction</a:t>
            </a:r>
            <a:endParaRPr/>
          </a:p>
        </p:txBody>
      </p:sp>
      <p:grpSp>
        <p:nvGrpSpPr>
          <p:cNvPr id="245" name="Google Shape;245;p13"/>
          <p:cNvGrpSpPr/>
          <p:nvPr/>
        </p:nvGrpSpPr>
        <p:grpSpPr>
          <a:xfrm>
            <a:off x="1100353" y="1085027"/>
            <a:ext cx="2090881" cy="4965843"/>
            <a:chOff x="1695997" y="2577"/>
            <a:chExt cx="2090881" cy="4965843"/>
          </a:xfrm>
        </p:grpSpPr>
        <p:sp>
          <p:nvSpPr>
            <p:cNvPr id="246" name="Google Shape;246;p13"/>
            <p:cNvSpPr/>
            <p:nvPr/>
          </p:nvSpPr>
          <p:spPr>
            <a:xfrm>
              <a:off x="1695997" y="2577"/>
              <a:ext cx="2090881" cy="104544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3"/>
            <p:cNvSpPr txBox="1"/>
            <p:nvPr/>
          </p:nvSpPr>
          <p:spPr>
            <a:xfrm>
              <a:off x="1726617" y="33197"/>
              <a:ext cx="2029641" cy="9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60950" spcFirstLastPara="1" rIns="60950" wrap="square" tIns="40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Dataset Expansion</a:t>
              </a:r>
              <a:endPara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1905085" y="1048018"/>
              <a:ext cx="209088" cy="78408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9" name="Google Shape;249;p13"/>
            <p:cNvSpPr/>
            <p:nvPr/>
          </p:nvSpPr>
          <p:spPr>
            <a:xfrm>
              <a:off x="2114173" y="1309378"/>
              <a:ext cx="1672705" cy="10454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3"/>
            <p:cNvSpPr txBox="1"/>
            <p:nvPr/>
          </p:nvSpPr>
          <p:spPr>
            <a:xfrm>
              <a:off x="2144793" y="1339998"/>
              <a:ext cx="1611465" cy="9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30475" spcFirstLastPara="1" rIns="30475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Include ARM and RISC-V architectures</a:t>
              </a:r>
              <a:endParaRPr/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1905085" y="1048018"/>
              <a:ext cx="209088" cy="2090881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2" name="Google Shape;252;p13"/>
            <p:cNvSpPr/>
            <p:nvPr/>
          </p:nvSpPr>
          <p:spPr>
            <a:xfrm>
              <a:off x="2114173" y="2616179"/>
              <a:ext cx="1672705" cy="10454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3"/>
            <p:cNvSpPr txBox="1"/>
            <p:nvPr/>
          </p:nvSpPr>
          <p:spPr>
            <a:xfrm>
              <a:off x="2144793" y="2646799"/>
              <a:ext cx="1611465" cy="9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30475" spcFirstLastPara="1" rIns="30475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Add mobile and embedded processors</a:t>
              </a: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1905085" y="1048018"/>
              <a:ext cx="209088" cy="339768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55" name="Google Shape;255;p13"/>
            <p:cNvSpPr/>
            <p:nvPr/>
          </p:nvSpPr>
          <p:spPr>
            <a:xfrm>
              <a:off x="2114173" y="3922980"/>
              <a:ext cx="1672705" cy="10454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 txBox="1"/>
            <p:nvPr/>
          </p:nvSpPr>
          <p:spPr>
            <a:xfrm>
              <a:off x="2144793" y="3953600"/>
              <a:ext cx="1611465" cy="9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30475" spcFirstLastPara="1" rIns="30475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Collect real-time power consumption data</a:t>
              </a:r>
              <a:endParaRPr/>
            </a:p>
          </p:txBody>
        </p:sp>
      </p:grpSp>
      <p:grpSp>
        <p:nvGrpSpPr>
          <p:cNvPr id="257" name="Google Shape;257;p13"/>
          <p:cNvGrpSpPr/>
          <p:nvPr/>
        </p:nvGrpSpPr>
        <p:grpSpPr>
          <a:xfrm>
            <a:off x="3488580" y="1083763"/>
            <a:ext cx="2091944" cy="4968369"/>
            <a:chOff x="1144366" y="1314"/>
            <a:chExt cx="2091944" cy="4968369"/>
          </a:xfrm>
        </p:grpSpPr>
        <p:sp>
          <p:nvSpPr>
            <p:cNvPr id="258" name="Google Shape;258;p13"/>
            <p:cNvSpPr/>
            <p:nvPr/>
          </p:nvSpPr>
          <p:spPr>
            <a:xfrm>
              <a:off x="1144366" y="1314"/>
              <a:ext cx="2091944" cy="1045972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 txBox="1"/>
            <p:nvPr/>
          </p:nvSpPr>
          <p:spPr>
            <a:xfrm>
              <a:off x="1175001" y="31949"/>
              <a:ext cx="2030674" cy="98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41900" spcFirstLastPara="1" rIns="41900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1" lang="en-U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Workload-Aware Prediction</a:t>
              </a:r>
              <a:endPara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1353561" y="1047287"/>
              <a:ext cx="209194" cy="78447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1" name="Google Shape;261;p13"/>
            <p:cNvSpPr/>
            <p:nvPr/>
          </p:nvSpPr>
          <p:spPr>
            <a:xfrm>
              <a:off x="1562755" y="1308780"/>
              <a:ext cx="1673555" cy="1045972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 txBox="1"/>
            <p:nvPr/>
          </p:nvSpPr>
          <p:spPr>
            <a:xfrm>
              <a:off x="1593390" y="1339415"/>
              <a:ext cx="1612285" cy="98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30475" spcFirstLastPara="1" rIns="30475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Integrate application-specific benchmarks</a:t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1353561" y="1047287"/>
              <a:ext cx="209194" cy="209194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4" name="Google Shape;264;p13"/>
            <p:cNvSpPr/>
            <p:nvPr/>
          </p:nvSpPr>
          <p:spPr>
            <a:xfrm>
              <a:off x="1562755" y="2616246"/>
              <a:ext cx="1673555" cy="1045972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3"/>
            <p:cNvSpPr txBox="1"/>
            <p:nvPr/>
          </p:nvSpPr>
          <p:spPr>
            <a:xfrm>
              <a:off x="1593390" y="2646881"/>
              <a:ext cx="1612285" cy="98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30475" spcFirstLastPara="1" rIns="30475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Consider cache behavior patterns</a:t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1353561" y="1047287"/>
              <a:ext cx="209194" cy="339941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7" name="Google Shape;267;p13"/>
            <p:cNvSpPr/>
            <p:nvPr/>
          </p:nvSpPr>
          <p:spPr>
            <a:xfrm>
              <a:off x="1562755" y="3923711"/>
              <a:ext cx="1673555" cy="1045972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3"/>
            <p:cNvSpPr txBox="1"/>
            <p:nvPr/>
          </p:nvSpPr>
          <p:spPr>
            <a:xfrm>
              <a:off x="1593390" y="3954346"/>
              <a:ext cx="1612285" cy="98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30475" spcFirstLastPara="1" rIns="30475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 multi-threaded workload scenarios</a:t>
              </a:r>
              <a:endParaRPr/>
            </a:p>
          </p:txBody>
        </p:sp>
      </p:grpSp>
      <p:grpSp>
        <p:nvGrpSpPr>
          <p:cNvPr id="269" name="Google Shape;269;p13"/>
          <p:cNvGrpSpPr/>
          <p:nvPr/>
        </p:nvGrpSpPr>
        <p:grpSpPr>
          <a:xfrm>
            <a:off x="5837652" y="1085666"/>
            <a:ext cx="2090343" cy="4964566"/>
            <a:chOff x="663247" y="3215"/>
            <a:chExt cx="2090343" cy="4964566"/>
          </a:xfrm>
        </p:grpSpPr>
        <p:sp>
          <p:nvSpPr>
            <p:cNvPr id="270" name="Google Shape;270;p13"/>
            <p:cNvSpPr/>
            <p:nvPr/>
          </p:nvSpPr>
          <p:spPr>
            <a:xfrm>
              <a:off x="663247" y="3215"/>
              <a:ext cx="2090343" cy="104517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3"/>
            <p:cNvSpPr txBox="1"/>
            <p:nvPr/>
          </p:nvSpPr>
          <p:spPr>
            <a:xfrm>
              <a:off x="693859" y="33827"/>
              <a:ext cx="2029119" cy="983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41900" spcFirstLastPara="1" rIns="41900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1" lang="en-U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Energy Efficiency Optimization</a:t>
              </a:r>
              <a:endPara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872281" y="1048387"/>
              <a:ext cx="188716" cy="783878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3" name="Google Shape;273;p13"/>
            <p:cNvSpPr/>
            <p:nvPr/>
          </p:nvSpPr>
          <p:spPr>
            <a:xfrm>
              <a:off x="1060997" y="1309680"/>
              <a:ext cx="1672275" cy="104517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3"/>
            <p:cNvSpPr txBox="1"/>
            <p:nvPr/>
          </p:nvSpPr>
          <p:spPr>
            <a:xfrm>
              <a:off x="1091609" y="1340292"/>
              <a:ext cx="1611051" cy="983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Predict performance-per-watt metrics</a:t>
              </a:r>
              <a:endParaRPr/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872281" y="1048387"/>
              <a:ext cx="188716" cy="209034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6" name="Google Shape;276;p13"/>
            <p:cNvSpPr/>
            <p:nvPr/>
          </p:nvSpPr>
          <p:spPr>
            <a:xfrm>
              <a:off x="1060997" y="2616145"/>
              <a:ext cx="1672275" cy="104517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3"/>
            <p:cNvSpPr txBox="1"/>
            <p:nvPr/>
          </p:nvSpPr>
          <p:spPr>
            <a:xfrm>
              <a:off x="1091609" y="2646757"/>
              <a:ext cx="1611051" cy="983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Optimize for thermal constraints</a:t>
              </a:r>
              <a:endParaRPr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872281" y="1048387"/>
              <a:ext cx="188716" cy="3396808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9" name="Google Shape;279;p13"/>
            <p:cNvSpPr/>
            <p:nvPr/>
          </p:nvSpPr>
          <p:spPr>
            <a:xfrm>
              <a:off x="1060997" y="3922610"/>
              <a:ext cx="1672275" cy="104517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3"/>
            <p:cNvSpPr txBox="1"/>
            <p:nvPr/>
          </p:nvSpPr>
          <p:spPr>
            <a:xfrm>
              <a:off x="1091609" y="3953222"/>
              <a:ext cx="1611051" cy="983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Balance speed vs. power consumption</a:t>
              </a:r>
              <a:endParaRPr/>
            </a:p>
          </p:txBody>
        </p:sp>
      </p:grpSp>
      <p:sp>
        <p:nvSpPr>
          <p:cNvPr id="281" name="Google Shape;281;p13"/>
          <p:cNvSpPr/>
          <p:nvPr/>
        </p:nvSpPr>
        <p:spPr>
          <a:xfrm>
            <a:off x="3221690" y="1464951"/>
            <a:ext cx="254000" cy="2779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586729" y="1464951"/>
            <a:ext cx="254000" cy="2779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284" name="Google Shape;28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 txBox="1"/>
          <p:nvPr/>
        </p:nvSpPr>
        <p:spPr>
          <a:xfrm>
            <a:off x="1078447" y="272587"/>
            <a:ext cx="69871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Future Research Direction Continue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>
            <a:off x="1969521" y="1085578"/>
            <a:ext cx="2122900" cy="5041889"/>
            <a:chOff x="409355" y="3127"/>
            <a:chExt cx="2122900" cy="5041889"/>
          </a:xfrm>
        </p:grpSpPr>
        <p:sp>
          <p:nvSpPr>
            <p:cNvPr id="292" name="Google Shape;292;p14"/>
            <p:cNvSpPr/>
            <p:nvPr/>
          </p:nvSpPr>
          <p:spPr>
            <a:xfrm>
              <a:off x="409355" y="3127"/>
              <a:ext cx="2122900" cy="106145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 txBox="1"/>
            <p:nvPr/>
          </p:nvSpPr>
          <p:spPr>
            <a:xfrm>
              <a:off x="440444" y="34216"/>
              <a:ext cx="2060722" cy="999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45700" spcFirstLastPara="1" rIns="4570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4. Deployment and Integration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621645" y="1064578"/>
              <a:ext cx="212290" cy="79608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95" name="Google Shape;295;p14"/>
            <p:cNvSpPr/>
            <p:nvPr/>
          </p:nvSpPr>
          <p:spPr>
            <a:xfrm>
              <a:off x="833935" y="1329940"/>
              <a:ext cx="1698320" cy="106145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 txBox="1"/>
            <p:nvPr/>
          </p:nvSpPr>
          <p:spPr>
            <a:xfrm>
              <a:off x="865024" y="1361029"/>
              <a:ext cx="1636142" cy="999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38100" spcFirstLastPara="1" rIns="381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 web-based prediction tool</a:t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621645" y="1064578"/>
              <a:ext cx="212290" cy="2122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98" name="Google Shape;298;p14"/>
            <p:cNvSpPr/>
            <p:nvPr/>
          </p:nvSpPr>
          <p:spPr>
            <a:xfrm>
              <a:off x="833935" y="2656753"/>
              <a:ext cx="1698320" cy="106145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 txBox="1"/>
            <p:nvPr/>
          </p:nvSpPr>
          <p:spPr>
            <a:xfrm>
              <a:off x="865024" y="2687842"/>
              <a:ext cx="1636142" cy="999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38100" spcFirstLastPara="1" rIns="381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Create API for hardware vendors</a:t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621645" y="1064578"/>
              <a:ext cx="212290" cy="344971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1" name="Google Shape;301;p14"/>
            <p:cNvSpPr/>
            <p:nvPr/>
          </p:nvSpPr>
          <p:spPr>
            <a:xfrm>
              <a:off x="833935" y="3983566"/>
              <a:ext cx="1698320" cy="106145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 txBox="1"/>
            <p:nvPr/>
          </p:nvSpPr>
          <p:spPr>
            <a:xfrm>
              <a:off x="865024" y="4014655"/>
              <a:ext cx="1636142" cy="999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38100" spcFirstLastPara="1" rIns="381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 real-time monitoring system</a:t>
              </a:r>
              <a:endParaRPr/>
            </a:p>
          </p:txBody>
        </p:sp>
      </p:grpSp>
      <p:grpSp>
        <p:nvGrpSpPr>
          <p:cNvPr id="303" name="Google Shape;303;p14"/>
          <p:cNvGrpSpPr/>
          <p:nvPr/>
        </p:nvGrpSpPr>
        <p:grpSpPr>
          <a:xfrm>
            <a:off x="4851004" y="1085337"/>
            <a:ext cx="2123104" cy="5042371"/>
            <a:chOff x="879571" y="2886"/>
            <a:chExt cx="2123104" cy="5042371"/>
          </a:xfrm>
        </p:grpSpPr>
        <p:sp>
          <p:nvSpPr>
            <p:cNvPr id="304" name="Google Shape;304;p14"/>
            <p:cNvSpPr/>
            <p:nvPr/>
          </p:nvSpPr>
          <p:spPr>
            <a:xfrm>
              <a:off x="879571" y="2886"/>
              <a:ext cx="2123103" cy="106155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 txBox="1"/>
            <p:nvPr/>
          </p:nvSpPr>
          <p:spPr>
            <a:xfrm>
              <a:off x="910663" y="33978"/>
              <a:ext cx="2060919" cy="99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57150" spcFirstLastPara="1" rIns="5715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5. Advanced Techniques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1091881" y="1064438"/>
              <a:ext cx="212310" cy="79616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7" name="Google Shape;307;p14"/>
            <p:cNvSpPr/>
            <p:nvPr/>
          </p:nvSpPr>
          <p:spPr>
            <a:xfrm>
              <a:off x="1304192" y="1329826"/>
              <a:ext cx="1698483" cy="106155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 txBox="1"/>
            <p:nvPr/>
          </p:nvSpPr>
          <p:spPr>
            <a:xfrm>
              <a:off x="1335284" y="1360918"/>
              <a:ext cx="1636299" cy="99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Apply deep learning (LSTM, Transformer)</a:t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1091881" y="1064438"/>
              <a:ext cx="212310" cy="212310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0" name="Google Shape;310;p14"/>
            <p:cNvSpPr/>
            <p:nvPr/>
          </p:nvSpPr>
          <p:spPr>
            <a:xfrm>
              <a:off x="1304192" y="2656766"/>
              <a:ext cx="1698483" cy="106155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 txBox="1"/>
            <p:nvPr/>
          </p:nvSpPr>
          <p:spPr>
            <a:xfrm>
              <a:off x="1335284" y="2687858"/>
              <a:ext cx="1636299" cy="99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Implement transfer learning</a:t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1091881" y="1064438"/>
              <a:ext cx="212310" cy="345004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3" name="Google Shape;313;p14"/>
            <p:cNvSpPr/>
            <p:nvPr/>
          </p:nvSpPr>
          <p:spPr>
            <a:xfrm>
              <a:off x="1304192" y="3983706"/>
              <a:ext cx="1698483" cy="106155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 txBox="1"/>
            <p:nvPr/>
          </p:nvSpPr>
          <p:spPr>
            <a:xfrm>
              <a:off x="1335284" y="4014798"/>
              <a:ext cx="1636299" cy="99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32375" spcFirstLastPara="1" rIns="323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Explore federated learning approaches</a:t>
              </a:r>
              <a:endParaRPr/>
            </a:p>
          </p:txBody>
        </p:sp>
      </p:grpSp>
      <p:sp>
        <p:nvSpPr>
          <p:cNvPr id="315" name="Google Shape;31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316" name="Google Shape;31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317" name="Google Shape;31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4390090" y="1464951"/>
            <a:ext cx="254000" cy="2779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770965" y="1645920"/>
            <a:ext cx="7732955" cy="3200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[1] Liu, Y., Chen, X., and Wang, Z. (2024). Power consumption and performance prediction of CPUs using machine learning. Journal of Computer Architecture, 45(3), 234-249.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[2] Islam, M. R., Rahman, A., and Hossain, S. (2023). CPU benchmark score prediction using ensemble learning techniques. IEEE Transactions on Computers, 72(8), 1456-1467.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[3] Eyerman, S., and Eeckhout, L. (2011). Mechanistic-empirical processor performance modeling for constructing CPI stacks on real hardware. IEEE Micro, 31(3), 62-73.</a:t>
            </a:r>
            <a:endParaRPr/>
          </a:p>
        </p:txBody>
      </p:sp>
      <p:sp>
        <p:nvSpPr>
          <p:cNvPr id="325" name="Google Shape;32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326" name="Google Shape;32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327" name="Google Shape;32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"/>
          <p:cNvSpPr txBox="1"/>
          <p:nvPr/>
        </p:nvSpPr>
        <p:spPr>
          <a:xfrm>
            <a:off x="1828800" y="18288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3657600" y="3474720"/>
            <a:ext cx="1828800" cy="1828800"/>
          </a:xfrm>
          <a:prstGeom prst="ellipse">
            <a:avLst/>
          </a:prstGeom>
          <a:solidFill>
            <a:srgbClr val="008060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2286000" y="3951331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/>
          </a:p>
        </p:txBody>
      </p:sp>
      <p:sp>
        <p:nvSpPr>
          <p:cNvPr id="335" name="Google Shape;33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02-Dec-25</a:t>
            </a:r>
            <a:endParaRPr/>
          </a:p>
        </p:txBody>
      </p:sp>
      <p:sp>
        <p:nvSpPr>
          <p:cNvPr id="336" name="Google Shape;33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Performance Prediction</a:t>
            </a:r>
            <a:endParaRPr/>
          </a:p>
        </p:txBody>
      </p:sp>
      <p:sp>
        <p:nvSpPr>
          <p:cNvPr id="337" name="Google Shape;33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